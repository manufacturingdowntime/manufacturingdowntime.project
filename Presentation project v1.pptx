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7" r:id="rId2"/>
    <p:sldId id="285" r:id="rId3"/>
    <p:sldId id="281" r:id="rId4"/>
    <p:sldId id="272" r:id="rId5"/>
    <p:sldId id="270" r:id="rId6"/>
    <p:sldId id="273" r:id="rId7"/>
    <p:sldId id="282" r:id="rId8"/>
    <p:sldId id="284" r:id="rId9"/>
    <p:sldId id="271" r:id="rId10"/>
    <p:sldId id="278" r:id="rId11"/>
    <p:sldId id="279" r:id="rId12"/>
    <p:sldId id="280" r:id="rId13"/>
    <p:sldId id="286" r:id="rId14"/>
    <p:sldId id="287" r:id="rId15"/>
    <p:sldId id="275" r:id="rId16"/>
    <p:sldId id="276" r:id="rId17"/>
    <p:sldId id="277" r:id="rId18"/>
  </p:sldIdLst>
  <p:sldSz cx="12192000" cy="6858000"/>
  <p:notesSz cx="6858000" cy="9144000"/>
  <p:embeddedFontLst>
    <p:embeddedFont>
      <p:font typeface="Abadi" panose="020F0502020204030204" pitchFamily="34" charset="0"/>
      <p:regular r:id="rId20"/>
    </p:embeddedFont>
    <p:embeddedFont>
      <p:font typeface="Arial Rounded MT Bold" panose="020F0704030504030204" pitchFamily="34" charset="0"/>
      <p:regular r:id="rId21"/>
    </p:embeddedFont>
    <p:embeddedFont>
      <p:font typeface="Caveat SemiBold" panose="020B0604020202020204" charset="0"/>
      <p:regular r:id="rId22"/>
      <p:bold r:id="rId23"/>
    </p:embeddedFont>
    <p:embeddedFont>
      <p:font typeface="Constantia" panose="02030602050306030303" pitchFamily="18"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j+pFHUbAQgkysDrKIyvjBG1gnm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79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256" autoAdjust="0"/>
  </p:normalViewPr>
  <p:slideViewPr>
    <p:cSldViewPr snapToGrid="0">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4df671e9f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g34df671e9f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82AAAC7B-A08F-3780-02F9-2E84FAB9DDD3}"/>
            </a:ext>
          </a:extLst>
        </p:cNvPr>
        <p:cNvGrpSpPr/>
        <p:nvPr/>
      </p:nvGrpSpPr>
      <p:grpSpPr>
        <a:xfrm>
          <a:off x="0" y="0"/>
          <a:ext cx="0" cy="0"/>
          <a:chOff x="0" y="0"/>
          <a:chExt cx="0" cy="0"/>
        </a:xfrm>
      </p:grpSpPr>
      <p:sp>
        <p:nvSpPr>
          <p:cNvPr id="186" name="Google Shape;186;p6:notes">
            <a:extLst>
              <a:ext uri="{FF2B5EF4-FFF2-40B4-BE49-F238E27FC236}">
                <a16:creationId xmlns:a16="http://schemas.microsoft.com/office/drawing/2014/main" id="{3E5D5531-ED65-1D28-671E-BAB462873D1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6:notes">
            <a:extLst>
              <a:ext uri="{FF2B5EF4-FFF2-40B4-BE49-F238E27FC236}">
                <a16:creationId xmlns:a16="http://schemas.microsoft.com/office/drawing/2014/main" id="{DA951AB1-CCAD-20FD-09B1-4FAA487F61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4289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D95E2C72-9C20-ACE8-61EF-97531022A840}"/>
            </a:ext>
          </a:extLst>
        </p:cNvPr>
        <p:cNvGrpSpPr/>
        <p:nvPr/>
      </p:nvGrpSpPr>
      <p:grpSpPr>
        <a:xfrm>
          <a:off x="0" y="0"/>
          <a:ext cx="0" cy="0"/>
          <a:chOff x="0" y="0"/>
          <a:chExt cx="0" cy="0"/>
        </a:xfrm>
      </p:grpSpPr>
      <p:sp>
        <p:nvSpPr>
          <p:cNvPr id="186" name="Google Shape;186;p6:notes">
            <a:extLst>
              <a:ext uri="{FF2B5EF4-FFF2-40B4-BE49-F238E27FC236}">
                <a16:creationId xmlns:a16="http://schemas.microsoft.com/office/drawing/2014/main" id="{0E602DCC-6103-55DB-2FD5-35F9FD3BB95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6:notes">
            <a:extLst>
              <a:ext uri="{FF2B5EF4-FFF2-40B4-BE49-F238E27FC236}">
                <a16:creationId xmlns:a16="http://schemas.microsoft.com/office/drawing/2014/main" id="{CB70A7F8-78B6-7EB5-8306-42E8C185DD0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1153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3193E18F-8204-7F61-0954-D01975F47331}"/>
            </a:ext>
          </a:extLst>
        </p:cNvPr>
        <p:cNvGrpSpPr/>
        <p:nvPr/>
      </p:nvGrpSpPr>
      <p:grpSpPr>
        <a:xfrm>
          <a:off x="0" y="0"/>
          <a:ext cx="0" cy="0"/>
          <a:chOff x="0" y="0"/>
          <a:chExt cx="0" cy="0"/>
        </a:xfrm>
      </p:grpSpPr>
      <p:sp>
        <p:nvSpPr>
          <p:cNvPr id="186" name="Google Shape;186;p6:notes">
            <a:extLst>
              <a:ext uri="{FF2B5EF4-FFF2-40B4-BE49-F238E27FC236}">
                <a16:creationId xmlns:a16="http://schemas.microsoft.com/office/drawing/2014/main" id="{8704196A-51A2-46A2-3FE4-C3785245A1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87" name="Google Shape;187;p6:notes">
            <a:extLst>
              <a:ext uri="{FF2B5EF4-FFF2-40B4-BE49-F238E27FC236}">
                <a16:creationId xmlns:a16="http://schemas.microsoft.com/office/drawing/2014/main" id="{407D27F3-D5D9-6C34-2968-E0807FF8851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35289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47563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pic>
        <p:nvPicPr>
          <p:cNvPr id="44" name="Google Shape;44;p18"/>
          <p:cNvPicPr preferRelativeResize="0"/>
          <p:nvPr/>
        </p:nvPicPr>
        <p:blipFill rotWithShape="1">
          <a:blip r:embed="rId2">
            <a:alphaModFix/>
          </a:blip>
          <a:srcRect/>
          <a:stretch/>
        </p:blipFill>
        <p:spPr>
          <a:xfrm>
            <a:off x="-6350" y="0"/>
            <a:ext cx="12192000" cy="6858000"/>
          </a:xfrm>
          <a:prstGeom prst="rect">
            <a:avLst/>
          </a:prstGeom>
          <a:noFill/>
          <a:ln>
            <a:noFill/>
          </a:ln>
        </p:spPr>
      </p:pic>
      <p:pic>
        <p:nvPicPr>
          <p:cNvPr id="45" name="Google Shape;45;p18"/>
          <p:cNvPicPr preferRelativeResize="0"/>
          <p:nvPr/>
        </p:nvPicPr>
        <p:blipFill rotWithShape="1">
          <a:blip r:embed="rId3">
            <a:alphaModFix/>
          </a:blip>
          <a:srcRect/>
          <a:stretch/>
        </p:blipFill>
        <p:spPr>
          <a:xfrm>
            <a:off x="10711512" y="330213"/>
            <a:ext cx="1284576" cy="637759"/>
          </a:xfrm>
          <a:prstGeom prst="rect">
            <a:avLst/>
          </a:prstGeom>
          <a:noFill/>
          <a:ln>
            <a:noFill/>
          </a:ln>
        </p:spPr>
      </p:pic>
      <p:sp>
        <p:nvSpPr>
          <p:cNvPr id="46" name="Google Shape;46;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8" name="Google Shape;4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8"/>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 name="Google Shape;50;p1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1" name="Google Shape;51;p18"/>
          <p:cNvPicPr preferRelativeResize="0"/>
          <p:nvPr/>
        </p:nvPicPr>
        <p:blipFill rotWithShape="1">
          <a:blip r:embed="rId4">
            <a:alphaModFix/>
          </a:blip>
          <a:srcRect/>
          <a:stretch/>
        </p:blipFill>
        <p:spPr>
          <a:xfrm>
            <a:off x="93317" y="0"/>
            <a:ext cx="1489765" cy="1386637"/>
          </a:xfrm>
          <a:prstGeom prst="rect">
            <a:avLst/>
          </a:prstGeom>
          <a:noFill/>
          <a:ln>
            <a:noFill/>
          </a:ln>
        </p:spPr>
      </p:pic>
      <p:sp>
        <p:nvSpPr>
          <p:cNvPr id="52" name="Google Shape;52;p18"/>
          <p:cNvSpPr/>
          <p:nvPr/>
        </p:nvSpPr>
        <p:spPr>
          <a:xfrm>
            <a:off x="10933155"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
        <p:cNvGrpSpPr/>
        <p:nvPr/>
      </p:nvGrpSpPr>
      <p:grpSpPr>
        <a:xfrm>
          <a:off x="0" y="0"/>
          <a:ext cx="0" cy="0"/>
          <a:chOff x="0" y="0"/>
          <a:chExt cx="0" cy="0"/>
        </a:xfrm>
      </p:grpSpPr>
      <p:sp>
        <p:nvSpPr>
          <p:cNvPr id="78" name="Google Shape;78;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2"/>
          <p:cNvSpPr>
            <a:spLocks noGrp="1"/>
          </p:cNvSpPr>
          <p:nvPr>
            <p:ph type="pic" idx="2"/>
          </p:nvPr>
        </p:nvSpPr>
        <p:spPr>
          <a:xfrm>
            <a:off x="5183188" y="987425"/>
            <a:ext cx="6172200" cy="4873625"/>
          </a:xfrm>
          <a:prstGeom prst="rect">
            <a:avLst/>
          </a:prstGeom>
          <a:noFill/>
          <a:ln>
            <a:noFill/>
          </a:ln>
        </p:spPr>
      </p:sp>
      <p:sp>
        <p:nvSpPr>
          <p:cNvPr id="80" name="Google Shape;80;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
        <p:cNvGrpSpPr/>
        <p:nvPr/>
      </p:nvGrpSpPr>
      <p:grpSpPr>
        <a:xfrm>
          <a:off x="0" y="0"/>
          <a:ext cx="0" cy="0"/>
          <a:chOff x="0" y="0"/>
          <a:chExt cx="0" cy="0"/>
        </a:xfrm>
      </p:grpSpPr>
      <p:sp>
        <p:nvSpPr>
          <p:cNvPr id="91" name="Google Shape;91;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2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6"/>
        <p:cNvGrpSpPr/>
        <p:nvPr/>
      </p:nvGrpSpPr>
      <p:grpSpPr>
        <a:xfrm>
          <a:off x="0" y="0"/>
          <a:ext cx="0" cy="0"/>
          <a:chOff x="0" y="0"/>
          <a:chExt cx="0" cy="0"/>
        </a:xfrm>
      </p:grpSpPr>
      <p:sp>
        <p:nvSpPr>
          <p:cNvPr id="97" name="Google Shape;9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3"/>
          <p:cNvPicPr preferRelativeResize="0"/>
          <p:nvPr/>
        </p:nvPicPr>
        <p:blipFill rotWithShape="1">
          <a:blip r:embed="rId12">
            <a:alphaModFix/>
          </a:blip>
          <a:srcRect/>
          <a:stretch/>
        </p:blipFill>
        <p:spPr>
          <a:xfrm>
            <a:off x="0" y="0"/>
            <a:ext cx="12192000" cy="6858000"/>
          </a:xfrm>
          <a:prstGeom prst="rect">
            <a:avLst/>
          </a:prstGeom>
          <a:noFill/>
          <a:ln>
            <a:noFill/>
          </a:ln>
        </p:spPr>
      </p:pic>
      <p:pic>
        <p:nvPicPr>
          <p:cNvPr id="11" name="Google Shape;11;p13"/>
          <p:cNvPicPr preferRelativeResize="0"/>
          <p:nvPr/>
        </p:nvPicPr>
        <p:blipFill rotWithShape="1">
          <a:blip r:embed="rId13">
            <a:alphaModFix/>
          </a:blip>
          <a:srcRect/>
          <a:stretch/>
        </p:blipFill>
        <p:spPr>
          <a:xfrm>
            <a:off x="10711512" y="330213"/>
            <a:ext cx="1284576" cy="637759"/>
          </a:xfrm>
          <a:prstGeom prst="rect">
            <a:avLst/>
          </a:prstGeom>
          <a:noFill/>
          <a:ln>
            <a:noFill/>
          </a:ln>
        </p:spPr>
      </p:pic>
      <p:sp>
        <p:nvSpPr>
          <p:cNvPr id="12" name="Google Shape;12;p13"/>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pic>
        <p:nvPicPr>
          <p:cNvPr id="13" name="Google Shape;13;p13"/>
          <p:cNvPicPr preferRelativeResize="0"/>
          <p:nvPr/>
        </p:nvPicPr>
        <p:blipFill rotWithShape="1">
          <a:blip r:embed="rId14">
            <a:alphaModFix/>
          </a:blip>
          <a:srcRect/>
          <a:stretch/>
        </p:blipFill>
        <p:spPr>
          <a:xfrm>
            <a:off x="93317" y="0"/>
            <a:ext cx="1489765" cy="1386637"/>
          </a:xfrm>
          <a:prstGeom prst="rect">
            <a:avLst/>
          </a:prstGeom>
          <a:noFill/>
          <a:ln>
            <a:noFill/>
          </a:ln>
        </p:spPr>
      </p:pic>
      <p:sp>
        <p:nvSpPr>
          <p:cNvPr id="14" name="Google Shape;14;p13"/>
          <p:cNvSpPr/>
          <p:nvPr/>
        </p:nvSpPr>
        <p:spPr>
          <a:xfrm>
            <a:off x="10974189"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sp>
        <p:nvSpPr>
          <p:cNvPr id="15" name="Google Shape;1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 name="Google Shape;1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tmp"/><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tmp"/><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4"/>
        <p:cNvGrpSpPr/>
        <p:nvPr/>
      </p:nvGrpSpPr>
      <p:grpSpPr>
        <a:xfrm>
          <a:off x="0" y="0"/>
          <a:ext cx="0" cy="0"/>
          <a:chOff x="0" y="0"/>
          <a:chExt cx="0" cy="0"/>
        </a:xfrm>
      </p:grpSpPr>
      <p:sp>
        <p:nvSpPr>
          <p:cNvPr id="115" name="Google Shape;115;g34df671e9f6_0_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endParaRPr lang="en-US" sz="1600" dirty="0">
              <a:solidFill>
                <a:schemeClr val="bg1"/>
              </a:solidFill>
              <a:latin typeface="Constantia" panose="02030602050306030303" pitchFamily="18" charset="0"/>
            </a:endParaRPr>
          </a:p>
        </p:txBody>
      </p:sp>
      <p:sp>
        <p:nvSpPr>
          <p:cNvPr id="117" name="Google Shape;117;g34df671e9f6_0_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
        <p:nvSpPr>
          <p:cNvPr id="118" name="Google Shape;118;g34df671e9f6_0_0"/>
          <p:cNvSpPr txBox="1"/>
          <p:nvPr/>
        </p:nvSpPr>
        <p:spPr>
          <a:xfrm>
            <a:off x="3725400" y="825731"/>
            <a:ext cx="4741200" cy="2763700"/>
          </a:xfrm>
          <a:prstGeom prst="rect">
            <a:avLst/>
          </a:prstGeom>
          <a:noFill/>
          <a:ln>
            <a:noFill/>
          </a:ln>
          <a:effectLst>
            <a:outerShdw blurRad="50800" dist="50800" dir="5400000" algn="ctr" rotWithShape="0">
              <a:schemeClr val="accent6">
                <a:lumMod val="40000"/>
                <a:lumOff val="60000"/>
              </a:schemeClr>
            </a:outerShdw>
          </a:effectLst>
        </p:spPr>
        <p:txBody>
          <a:bodyPr spcFirstLastPara="1" wrap="square" lIns="91425" tIns="45700" rIns="91425" bIns="45700" anchor="ctr" anchorCtr="0">
            <a:noAutofit/>
            <a:scene3d>
              <a:camera prst="orthographicFront"/>
              <a:lightRig rig="threePt" dir="t"/>
            </a:scene3d>
            <a:sp3d prstMaterial="clear"/>
          </a:bodyPr>
          <a:lstStyle/>
          <a:p>
            <a:pPr marL="0" marR="0" lvl="0" indent="0" algn="ctr" rtl="0">
              <a:lnSpc>
                <a:spcPct val="90000"/>
              </a:lnSpc>
              <a:spcBef>
                <a:spcPts val="0"/>
              </a:spcBef>
              <a:spcAft>
                <a:spcPts val="0"/>
              </a:spcAft>
              <a:buClr>
                <a:srgbClr val="0D0D0D"/>
              </a:buClr>
              <a:buSzPts val="2000"/>
              <a:buFont typeface="Arial"/>
              <a:buNone/>
            </a:pPr>
            <a:r>
              <a:rPr lang="en-US" sz="3800" b="1">
                <a:solidFill>
                  <a:srgbClr val="0D0D0D"/>
                </a:solidFill>
              </a:rPr>
              <a:t>                </a:t>
            </a:r>
            <a:r>
              <a:rPr lang="en-US" sz="4400" b="1">
                <a:solidFill>
                  <a:schemeClr val="accent6">
                    <a:lumMod val="50000"/>
                  </a:schemeClr>
                </a:solidFill>
                <a:effectLst>
                  <a:glow rad="101600">
                    <a:schemeClr val="accent6">
                      <a:lumMod val="50000"/>
                      <a:alpha val="29000"/>
                    </a:schemeClr>
                  </a:glow>
                  <a:outerShdw blurRad="50800" dist="50800" dir="5400000" sx="1000" sy="1000" algn="ctr" rotWithShape="0">
                    <a:srgbClr val="000000">
                      <a:alpha val="98000"/>
                    </a:srgbClr>
                  </a:outerShdw>
                </a:effectLst>
                <a:latin typeface="Arial" panose="020B0604020202020204" pitchFamily="34" charset="0"/>
                <a:ea typeface="Times New Roman"/>
                <a:cs typeface="Arial" panose="020B0604020202020204" pitchFamily="34" charset="0"/>
                <a:sym typeface="Times New Roman"/>
              </a:rPr>
              <a:t>Manufacturing Downtime  </a:t>
            </a:r>
          </a:p>
          <a:p>
            <a:pPr marL="0" marR="0" lvl="0" indent="0" algn="ctr" rtl="0">
              <a:lnSpc>
                <a:spcPct val="90000"/>
              </a:lnSpc>
              <a:spcBef>
                <a:spcPts val="0"/>
              </a:spcBef>
              <a:spcAft>
                <a:spcPts val="0"/>
              </a:spcAft>
              <a:buClr>
                <a:srgbClr val="0D0D0D"/>
              </a:buClr>
              <a:buSzPts val="2000"/>
              <a:buFont typeface="Arial"/>
              <a:buNone/>
            </a:pPr>
            <a:r>
              <a:rPr lang="en-US" sz="4400" b="1">
                <a:solidFill>
                  <a:schemeClr val="accent6">
                    <a:lumMod val="50000"/>
                  </a:schemeClr>
                </a:solidFill>
                <a:effectLst>
                  <a:glow rad="101600">
                    <a:schemeClr val="accent6">
                      <a:lumMod val="50000"/>
                      <a:alpha val="29000"/>
                    </a:schemeClr>
                  </a:glow>
                  <a:outerShdw blurRad="50800" dist="50800" dir="5400000" sx="1000" sy="1000" algn="ctr" rotWithShape="0">
                    <a:srgbClr val="000000">
                      <a:alpha val="98000"/>
                    </a:srgbClr>
                  </a:outerShdw>
                </a:effectLst>
                <a:latin typeface="Arial" panose="020B0604020202020204" pitchFamily="34" charset="0"/>
                <a:ea typeface="Times New Roman"/>
                <a:cs typeface="Arial" panose="020B0604020202020204" pitchFamily="34" charset="0"/>
                <a:sym typeface="Times New Roman"/>
              </a:rPr>
              <a:t>Project</a:t>
            </a:r>
            <a:r>
              <a:rPr lang="en-US" sz="3300" b="1">
                <a:solidFill>
                  <a:schemeClr val="accent6">
                    <a:lumMod val="50000"/>
                  </a:schemeClr>
                </a:solidFill>
                <a:effectLst>
                  <a:glow rad="101600">
                    <a:schemeClr val="accent6">
                      <a:lumMod val="50000"/>
                      <a:alpha val="29000"/>
                    </a:schemeClr>
                  </a:glow>
                  <a:outerShdw blurRad="50800" dist="50800" dir="5400000" sx="1000" sy="1000" algn="ctr" rotWithShape="0">
                    <a:srgbClr val="000000">
                      <a:alpha val="98000"/>
                    </a:srgbClr>
                  </a:outerShdw>
                </a:effectLst>
                <a:latin typeface="Arial" panose="020B0604020202020204" pitchFamily="34" charset="0"/>
                <a:ea typeface="Times New Roman"/>
                <a:cs typeface="Arial" panose="020B0604020202020204" pitchFamily="34" charset="0"/>
                <a:sym typeface="Times New Roman"/>
              </a:rPr>
              <a:t>                                        </a:t>
            </a:r>
            <a:r>
              <a:rPr lang="en-US" sz="1800">
                <a:solidFill>
                  <a:schemeClr val="accent6">
                    <a:lumMod val="50000"/>
                  </a:schemeClr>
                </a:solidFill>
                <a:effectLst>
                  <a:glow rad="101600">
                    <a:schemeClr val="accent6">
                      <a:lumMod val="50000"/>
                      <a:alpha val="29000"/>
                    </a:schemeClr>
                  </a:glow>
                  <a:outerShdw blurRad="50800" dist="50800" dir="5400000" sx="1000" sy="1000" algn="ctr" rotWithShape="0">
                    <a:srgbClr val="000000">
                      <a:alpha val="98000"/>
                    </a:srgbClr>
                  </a:outerShdw>
                </a:effectLst>
                <a:latin typeface="Arial" panose="020B0604020202020204" pitchFamily="34" charset="0"/>
                <a:cs typeface="Arial" panose="020B0604020202020204" pitchFamily="34" charset="0"/>
              </a:rPr>
              <a:t> </a:t>
            </a:r>
          </a:p>
          <a:p>
            <a:pPr marL="0" marR="0" lvl="0" indent="0" algn="l" rtl="0">
              <a:lnSpc>
                <a:spcPct val="90000"/>
              </a:lnSpc>
              <a:spcBef>
                <a:spcPts val="1000"/>
              </a:spcBef>
              <a:spcAft>
                <a:spcPts val="0"/>
              </a:spcAft>
              <a:buNone/>
            </a:pPr>
            <a:r>
              <a:rPr lang="en-US" sz="1800" b="0" i="0" u="none" strike="noStrike" cap="none">
                <a:solidFill>
                  <a:srgbClr val="D7B119"/>
                </a:solidFill>
                <a:effectLst>
                  <a:glow rad="101600">
                    <a:schemeClr val="accent6">
                      <a:lumMod val="50000"/>
                      <a:alpha val="29000"/>
                    </a:schemeClr>
                  </a:glow>
                </a:effectLst>
                <a:latin typeface="Arial" panose="020B0604020202020204" pitchFamily="34" charset="0"/>
                <a:cs typeface="Arial" panose="020B0604020202020204" pitchFamily="34" charset="0"/>
                <a:sym typeface="Arial"/>
              </a:rPr>
              <a:t> </a:t>
            </a:r>
            <a:endParaRPr sz="1400" b="0" i="0" u="none" strike="noStrike" cap="none">
              <a:solidFill>
                <a:srgbClr val="D7B119"/>
              </a:solidFill>
              <a:effectLst>
                <a:glow rad="101600">
                  <a:schemeClr val="accent6">
                    <a:lumMod val="50000"/>
                    <a:alpha val="29000"/>
                  </a:schemeClr>
                </a:glow>
              </a:effectLst>
              <a:latin typeface="Arial" panose="020B0604020202020204" pitchFamily="34" charset="0"/>
              <a:cs typeface="Arial" panose="020B0604020202020204" pitchFamily="34" charset="0"/>
              <a:sym typeface="Arial"/>
            </a:endParaRPr>
          </a:p>
          <a:p>
            <a:pPr marL="457200" marR="0" lvl="0" indent="0" algn="l" rtl="0">
              <a:lnSpc>
                <a:spcPct val="90000"/>
              </a:lnSpc>
              <a:spcBef>
                <a:spcPts val="100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1000"/>
              </a:spcBef>
              <a:spcAft>
                <a:spcPts val="0"/>
              </a:spcAft>
              <a:buClr>
                <a:schemeClr val="dk1"/>
              </a:buClr>
              <a:buSzPts val="2800"/>
              <a:buFont typeface="Arial"/>
              <a:buNone/>
            </a:pPr>
            <a:r>
              <a:rPr lang="en-US" sz="2800">
                <a:solidFill>
                  <a:schemeClr val="dk1"/>
                </a:solidFill>
                <a:latin typeface="Calibri"/>
                <a:ea typeface="Calibri"/>
                <a:cs typeface="Calibri"/>
                <a:sym typeface="Calibri"/>
              </a:rPr>
              <a:t>                      </a:t>
            </a:r>
            <a:endParaRPr sz="2800" i="0" u="none" strike="noStrike" cap="none">
              <a:solidFill>
                <a:schemeClr val="dk1"/>
              </a:solidFill>
              <a:latin typeface="Caveat SemiBold"/>
              <a:ea typeface="Caveat SemiBold"/>
              <a:cs typeface="Caveat SemiBold"/>
              <a:sym typeface="Caveat SemiBold"/>
            </a:endParaRPr>
          </a:p>
        </p:txBody>
      </p:sp>
      <p:sp>
        <p:nvSpPr>
          <p:cNvPr id="121" name="Google Shape;121;g34df671e9f6_0_0"/>
          <p:cNvSpPr txBox="1"/>
          <p:nvPr/>
        </p:nvSpPr>
        <p:spPr>
          <a:xfrm>
            <a:off x="4830050" y="1668775"/>
            <a:ext cx="27432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4400" b="1">
              <a:solidFill>
                <a:srgbClr val="0D0D0D"/>
              </a:solidFill>
              <a:effectLst>
                <a:glow rad="1066800">
                  <a:schemeClr val="accent4">
                    <a:satMod val="175000"/>
                    <a:alpha val="40000"/>
                  </a:schemeClr>
                </a:glow>
              </a:effectLst>
              <a:latin typeface="Times New Roman"/>
              <a:ea typeface="Times New Roman"/>
              <a:cs typeface="Times New Roman"/>
              <a:sym typeface="Times New Roman"/>
            </a:endParaRPr>
          </a:p>
        </p:txBody>
      </p:sp>
      <p:sp>
        <p:nvSpPr>
          <p:cNvPr id="122" name="Google Shape;122;g34df671e9f6_0_0"/>
          <p:cNvSpPr txBox="1"/>
          <p:nvPr/>
        </p:nvSpPr>
        <p:spPr>
          <a:xfrm>
            <a:off x="5307200" y="2254013"/>
            <a:ext cx="17889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3800" b="1">
              <a:solidFill>
                <a:schemeClr val="dk1"/>
              </a:solidFill>
              <a:latin typeface="Times New Roman"/>
              <a:ea typeface="Times New Roman"/>
              <a:cs typeface="Times New Roman"/>
              <a:sym typeface="Times New Roman"/>
            </a:endParaRPr>
          </a:p>
        </p:txBody>
      </p:sp>
      <p:sp>
        <p:nvSpPr>
          <p:cNvPr id="123" name="Google Shape;123;g34df671e9f6_0_0"/>
          <p:cNvSpPr txBox="1"/>
          <p:nvPr/>
        </p:nvSpPr>
        <p:spPr>
          <a:xfrm>
            <a:off x="292062" y="2274026"/>
            <a:ext cx="2539988"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dirty="0">
                <a:solidFill>
                  <a:srgbClr val="38761D"/>
                </a:solidFill>
                <a:latin typeface="Arial" panose="020B0604020202020204" pitchFamily="34" charset="0"/>
                <a:ea typeface="Times New Roman"/>
                <a:cs typeface="Arial" panose="020B0604020202020204" pitchFamily="34" charset="0"/>
                <a:sym typeface="Times New Roman"/>
              </a:rPr>
              <a:t>presented by</a:t>
            </a:r>
            <a:r>
              <a:rPr lang="en-US" sz="2800" dirty="0">
                <a:solidFill>
                  <a:srgbClr val="38761D"/>
                </a:solidFill>
                <a:latin typeface="Arial" panose="020B0604020202020204" pitchFamily="34" charset="0"/>
                <a:ea typeface="Times New Roman"/>
                <a:cs typeface="Arial" panose="020B0604020202020204" pitchFamily="34" charset="0"/>
                <a:sym typeface="Times New Roman"/>
              </a:rPr>
              <a:t>:</a:t>
            </a:r>
            <a:endParaRPr sz="2800" dirty="0">
              <a:solidFill>
                <a:srgbClr val="38761D"/>
              </a:solidFill>
              <a:latin typeface="Arial" panose="020B0604020202020204" pitchFamily="34" charset="0"/>
              <a:ea typeface="Times New Roman"/>
              <a:cs typeface="Arial" panose="020B0604020202020204" pitchFamily="34" charset="0"/>
              <a:sym typeface="Times New Roman"/>
            </a:endParaRPr>
          </a:p>
        </p:txBody>
      </p:sp>
      <p:sp>
        <p:nvSpPr>
          <p:cNvPr id="125" name="Google Shape;125;g34df671e9f6_0_0"/>
          <p:cNvSpPr txBox="1"/>
          <p:nvPr/>
        </p:nvSpPr>
        <p:spPr>
          <a:xfrm>
            <a:off x="89489" y="2889549"/>
            <a:ext cx="4629349" cy="2031295"/>
          </a:xfrm>
          <a:prstGeom prst="rect">
            <a:avLst/>
          </a:prstGeom>
          <a:noFill/>
          <a:ln>
            <a:noFill/>
          </a:ln>
        </p:spPr>
        <p:txBody>
          <a:bodyPr spcFirstLastPara="1" wrap="square" lIns="91425" tIns="91425" rIns="91425" bIns="91425" anchor="t" anchorCtr="0">
            <a:spAutoFit/>
          </a:bodyPr>
          <a:lstStyle/>
          <a:p>
            <a:pPr lvl="0"/>
            <a:r>
              <a:rPr lang="en-US" sz="2000" dirty="0">
                <a:solidFill>
                  <a:schemeClr val="dk1"/>
                </a:solidFill>
                <a:latin typeface="Arial" panose="020B0604020202020204" pitchFamily="34" charset="0"/>
                <a:ea typeface="Times New Roman"/>
                <a:cs typeface="Arial" panose="020B0604020202020204" pitchFamily="34" charset="0"/>
                <a:sym typeface="Times New Roman"/>
              </a:rPr>
              <a:t>Malek Mohammed Hamed	</a:t>
            </a:r>
          </a:p>
          <a:p>
            <a:pPr lvl="0"/>
            <a:r>
              <a:rPr lang="en-US" sz="2000" dirty="0">
                <a:solidFill>
                  <a:schemeClr val="dk1"/>
                </a:solidFill>
                <a:latin typeface="Arial" panose="020B0604020202020204" pitchFamily="34" charset="0"/>
                <a:ea typeface="Times New Roman"/>
                <a:cs typeface="Arial" panose="020B0604020202020204" pitchFamily="34" charset="0"/>
                <a:sym typeface="Times New Roman"/>
              </a:rPr>
              <a:t>Azza Amen Mohamed Amen </a:t>
            </a:r>
          </a:p>
          <a:p>
            <a:pPr lvl="0"/>
            <a:r>
              <a:rPr lang="en-US" sz="2000" dirty="0">
                <a:solidFill>
                  <a:schemeClr val="dk1"/>
                </a:solidFill>
                <a:latin typeface="Arial" panose="020B0604020202020204" pitchFamily="34" charset="0"/>
                <a:ea typeface="Times New Roman"/>
                <a:cs typeface="Arial" panose="020B0604020202020204" pitchFamily="34" charset="0"/>
                <a:sym typeface="Times New Roman"/>
              </a:rPr>
              <a:t>Rana Wagih Hussein	</a:t>
            </a:r>
          </a:p>
          <a:p>
            <a:pPr lvl="0"/>
            <a:r>
              <a:rPr lang="en-US" sz="2000" dirty="0">
                <a:solidFill>
                  <a:schemeClr val="dk1"/>
                </a:solidFill>
                <a:latin typeface="Arial" panose="020B0604020202020204" pitchFamily="34" charset="0"/>
                <a:ea typeface="Times New Roman"/>
                <a:cs typeface="Arial" panose="020B0604020202020204" pitchFamily="34" charset="0"/>
                <a:sym typeface="Times New Roman"/>
              </a:rPr>
              <a:t>Islam Mohamed </a:t>
            </a:r>
            <a:r>
              <a:rPr lang="en-US" sz="2000" dirty="0" err="1">
                <a:solidFill>
                  <a:schemeClr val="dk1"/>
                </a:solidFill>
                <a:latin typeface="Arial" panose="020B0604020202020204" pitchFamily="34" charset="0"/>
                <a:ea typeface="Times New Roman"/>
                <a:cs typeface="Arial" panose="020B0604020202020204" pitchFamily="34" charset="0"/>
                <a:sym typeface="Times New Roman"/>
              </a:rPr>
              <a:t>Yassein</a:t>
            </a:r>
            <a:r>
              <a:rPr lang="en-US" sz="2000" dirty="0">
                <a:solidFill>
                  <a:schemeClr val="dk1"/>
                </a:solidFill>
                <a:latin typeface="Arial" panose="020B0604020202020204" pitchFamily="34" charset="0"/>
                <a:ea typeface="Times New Roman"/>
                <a:cs typeface="Arial" panose="020B0604020202020204" pitchFamily="34" charset="0"/>
                <a:sym typeface="Times New Roman"/>
              </a:rPr>
              <a:t>	</a:t>
            </a:r>
          </a:p>
          <a:p>
            <a:pPr lvl="0"/>
            <a:r>
              <a:rPr lang="en-US" sz="2000" dirty="0">
                <a:solidFill>
                  <a:schemeClr val="dk1"/>
                </a:solidFill>
                <a:latin typeface="Arial" panose="020B0604020202020204" pitchFamily="34" charset="0"/>
                <a:ea typeface="Times New Roman"/>
                <a:cs typeface="Arial" panose="020B0604020202020204" pitchFamily="34" charset="0"/>
                <a:sym typeface="Times New Roman"/>
              </a:rPr>
              <a:t>Mahmoud Elaraby Mohamed	</a:t>
            </a:r>
          </a:p>
          <a:p>
            <a:pPr lvl="0"/>
            <a:r>
              <a:rPr lang="en-US" sz="2000" dirty="0">
                <a:solidFill>
                  <a:schemeClr val="dk1"/>
                </a:solidFill>
                <a:latin typeface="Arial" panose="020B0604020202020204" pitchFamily="34" charset="0"/>
                <a:ea typeface="Times New Roman"/>
                <a:cs typeface="Arial" panose="020B0604020202020204" pitchFamily="34" charset="0"/>
                <a:sym typeface="Times New Roman"/>
              </a:rPr>
              <a:t>Nada Abdullah </a:t>
            </a:r>
            <a:r>
              <a:rPr lang="en-US" sz="2000" dirty="0" err="1">
                <a:solidFill>
                  <a:schemeClr val="dk1"/>
                </a:solidFill>
                <a:latin typeface="Arial" panose="020B0604020202020204" pitchFamily="34" charset="0"/>
                <a:ea typeface="Times New Roman"/>
                <a:cs typeface="Arial" panose="020B0604020202020204" pitchFamily="34" charset="0"/>
                <a:sym typeface="Times New Roman"/>
              </a:rPr>
              <a:t>Abdullah</a:t>
            </a:r>
            <a:endParaRPr sz="2000" dirty="0">
              <a:solidFill>
                <a:schemeClr val="dk1"/>
              </a:solidFill>
              <a:latin typeface="Arial" panose="020B0604020202020204" pitchFamily="34" charset="0"/>
              <a:ea typeface="Times New Roman"/>
              <a:cs typeface="Arial" panose="020B0604020202020204" pitchFamily="34" charset="0"/>
              <a:sym typeface="Times New Roman"/>
            </a:endParaRPr>
          </a:p>
        </p:txBody>
      </p:sp>
      <p:sp>
        <p:nvSpPr>
          <p:cNvPr id="14" name="Rectangle: Rounded Corners 13">
            <a:extLst>
              <a:ext uri="{FF2B5EF4-FFF2-40B4-BE49-F238E27FC236}">
                <a16:creationId xmlns:a16="http://schemas.microsoft.com/office/drawing/2014/main" id="{FC71E615-C4C0-4067-810C-1ACD3A80A816}"/>
              </a:ext>
            </a:extLst>
          </p:cNvPr>
          <p:cNvSpPr/>
          <p:nvPr/>
        </p:nvSpPr>
        <p:spPr>
          <a:xfrm rot="2960464">
            <a:off x="6478036" y="2493109"/>
            <a:ext cx="1785415" cy="6884674"/>
          </a:xfrm>
          <a:prstGeom prst="roundRect">
            <a:avLst>
              <a:gd name="adj" fmla="val 50000"/>
            </a:avLst>
          </a:prstGeom>
          <a:blipFill dpi="0" rotWithShape="0">
            <a:blip r:embed="rId3"/>
            <a:srcRect/>
            <a:stretch>
              <a:fillRect/>
            </a:stretch>
          </a:blipFill>
          <a:ln>
            <a:noFill/>
          </a:ln>
          <a:effectLst>
            <a:outerShdw blurRad="63500" sx="102000" sy="102000" algn="ctr" rotWithShape="0">
              <a:schemeClr val="accent6">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222E121D-BC39-4F7B-BC64-97C617F6A596}"/>
              </a:ext>
            </a:extLst>
          </p:cNvPr>
          <p:cNvSpPr/>
          <p:nvPr/>
        </p:nvSpPr>
        <p:spPr>
          <a:xfrm rot="2996901">
            <a:off x="11406514" y="-1045262"/>
            <a:ext cx="1785415" cy="5626738"/>
          </a:xfrm>
          <a:prstGeom prst="roundRect">
            <a:avLst>
              <a:gd name="adj" fmla="val 50000"/>
            </a:avLst>
          </a:prstGeom>
          <a:solidFill>
            <a:schemeClr val="accent6">
              <a:lumMod val="60000"/>
              <a:lumOff val="40000"/>
              <a:alpha val="78000"/>
            </a:schemeClr>
          </a:solidFill>
          <a:ln>
            <a:noFill/>
          </a:ln>
          <a:effectLst>
            <a:outerShdw blurRad="63500" sx="102000" sy="102000" algn="ctr" rotWithShape="0">
              <a:schemeClr val="accent6">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43151C12-AC6F-43C9-A3E9-10D63DADC56A}"/>
              </a:ext>
            </a:extLst>
          </p:cNvPr>
          <p:cNvSpPr/>
          <p:nvPr/>
        </p:nvSpPr>
        <p:spPr>
          <a:xfrm rot="2996901">
            <a:off x="11299292" y="1482450"/>
            <a:ext cx="1785415" cy="5626738"/>
          </a:xfrm>
          <a:prstGeom prst="roundRect">
            <a:avLst>
              <a:gd name="adj" fmla="val 50000"/>
            </a:avLst>
          </a:prstGeom>
          <a:solidFill>
            <a:schemeClr val="accent6">
              <a:lumMod val="60000"/>
              <a:lumOff val="40000"/>
              <a:alpha val="78000"/>
            </a:schemeClr>
          </a:solidFill>
          <a:ln>
            <a:noFill/>
          </a:ln>
          <a:effectLst>
            <a:outerShdw blurRad="63500" sx="102000" sy="102000" algn="ctr" rotWithShape="0">
              <a:schemeClr val="accent6">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F06C866-F090-487E-90E5-62EFAEF7C0E0}"/>
              </a:ext>
            </a:extLst>
          </p:cNvPr>
          <p:cNvSpPr txBox="1"/>
          <p:nvPr/>
        </p:nvSpPr>
        <p:spPr>
          <a:xfrm>
            <a:off x="143918" y="4981339"/>
            <a:ext cx="4525400" cy="954107"/>
          </a:xfrm>
          <a:prstGeom prst="rect">
            <a:avLst/>
          </a:prstGeom>
          <a:noFill/>
        </p:spPr>
        <p:txBody>
          <a:bodyPr wrap="square" rtlCol="0">
            <a:spAutoFit/>
          </a:bodyPr>
          <a:lstStyle/>
          <a:p>
            <a:r>
              <a:rPr lang="en-US" sz="2000" b="1" dirty="0">
                <a:solidFill>
                  <a:schemeClr val="accent6">
                    <a:lumMod val="50000"/>
                  </a:schemeClr>
                </a:solidFill>
              </a:rPr>
              <a:t>Data Source:</a:t>
            </a:r>
            <a:br>
              <a:rPr lang="en-US" sz="2000" dirty="0">
                <a:solidFill>
                  <a:schemeClr val="accent6">
                    <a:lumMod val="50000"/>
                  </a:schemeClr>
                </a:solidFill>
              </a:rPr>
            </a:br>
            <a:r>
              <a:rPr lang="en-US" sz="1800" dirty="0"/>
              <a:t>Real factory logs provided by DEPI  improved by AI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
                                            <p:txEl>
                                              <p:pRg st="0" end="0"/>
                                            </p:txEl>
                                          </p:spTgt>
                                        </p:tgtEl>
                                        <p:attrNameLst>
                                          <p:attrName>style.visibility</p:attrName>
                                        </p:attrNameLst>
                                      </p:cBhvr>
                                      <p:to>
                                        <p:strVal val="visible"/>
                                      </p:to>
                                    </p:set>
                                    <p:animEffect transition="in" filter="fade">
                                      <p:cBhvr>
                                        <p:cTn id="7" dur="500"/>
                                        <p:tgtEl>
                                          <p:spTgt spid="1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8">
                                            <p:txEl>
                                              <p:pRg st="1" end="1"/>
                                            </p:txEl>
                                          </p:spTgt>
                                        </p:tgtEl>
                                        <p:attrNameLst>
                                          <p:attrName>style.visibility</p:attrName>
                                        </p:attrNameLst>
                                      </p:cBhvr>
                                      <p:to>
                                        <p:strVal val="visible"/>
                                      </p:to>
                                    </p:set>
                                    <p:animEffect transition="in" filter="fade">
                                      <p:cBhvr>
                                        <p:cTn id="10" dur="500"/>
                                        <p:tgtEl>
                                          <p:spTgt spid="118">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18">
                                            <p:txEl>
                                              <p:pRg st="2" end="2"/>
                                            </p:txEl>
                                          </p:spTgt>
                                        </p:tgtEl>
                                        <p:attrNameLst>
                                          <p:attrName>style.visibility</p:attrName>
                                        </p:attrNameLst>
                                      </p:cBhvr>
                                      <p:to>
                                        <p:strVal val="visible"/>
                                      </p:to>
                                    </p:set>
                                    <p:animEffect transition="in" filter="wipe(down)">
                                      <p:cBhvr>
                                        <p:cTn id="13" dur="500"/>
                                        <p:tgtEl>
                                          <p:spTgt spid="11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23">
                                            <p:txEl>
                                              <p:pRg st="0" end="0"/>
                                            </p:txEl>
                                          </p:spTgt>
                                        </p:tgtEl>
                                        <p:attrNameLst>
                                          <p:attrName>style.visibility</p:attrName>
                                        </p:attrNameLst>
                                      </p:cBhvr>
                                      <p:to>
                                        <p:strVal val="visible"/>
                                      </p:to>
                                    </p:set>
                                    <p:animEffect transition="in" filter="fade">
                                      <p:cBhvr>
                                        <p:cTn id="18" dur="1000"/>
                                        <p:tgtEl>
                                          <p:spTgt spid="123">
                                            <p:txEl>
                                              <p:pRg st="0" end="0"/>
                                            </p:txEl>
                                          </p:spTgt>
                                        </p:tgtEl>
                                      </p:cBhvr>
                                    </p:animEffect>
                                    <p:anim calcmode="lin" valueType="num">
                                      <p:cBhvr>
                                        <p:cTn id="19" dur="1000" fill="hold"/>
                                        <p:tgtEl>
                                          <p:spTgt spid="123">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1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25">
                                            <p:txEl>
                                              <p:pRg st="0" end="0"/>
                                            </p:txEl>
                                          </p:spTgt>
                                        </p:tgtEl>
                                        <p:attrNameLst>
                                          <p:attrName>style.visibility</p:attrName>
                                        </p:attrNameLst>
                                      </p:cBhvr>
                                      <p:to>
                                        <p:strVal val="visible"/>
                                      </p:to>
                                    </p:set>
                                    <p:animEffect transition="in" filter="fade">
                                      <p:cBhvr>
                                        <p:cTn id="25" dur="1000"/>
                                        <p:tgtEl>
                                          <p:spTgt spid="125">
                                            <p:txEl>
                                              <p:pRg st="0" end="0"/>
                                            </p:txEl>
                                          </p:spTgt>
                                        </p:tgtEl>
                                      </p:cBhvr>
                                    </p:animEffect>
                                    <p:anim calcmode="lin" valueType="num">
                                      <p:cBhvr>
                                        <p:cTn id="26" dur="1000" fill="hold"/>
                                        <p:tgtEl>
                                          <p:spTgt spid="125">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12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25">
                                            <p:txEl>
                                              <p:pRg st="1" end="1"/>
                                            </p:txEl>
                                          </p:spTgt>
                                        </p:tgtEl>
                                        <p:attrNameLst>
                                          <p:attrName>style.visibility</p:attrName>
                                        </p:attrNameLst>
                                      </p:cBhvr>
                                      <p:to>
                                        <p:strVal val="visible"/>
                                      </p:to>
                                    </p:set>
                                    <p:animEffect transition="in" filter="fade">
                                      <p:cBhvr>
                                        <p:cTn id="32" dur="1000"/>
                                        <p:tgtEl>
                                          <p:spTgt spid="125">
                                            <p:txEl>
                                              <p:pRg st="1" end="1"/>
                                            </p:txEl>
                                          </p:spTgt>
                                        </p:tgtEl>
                                      </p:cBhvr>
                                    </p:animEffect>
                                    <p:anim calcmode="lin" valueType="num">
                                      <p:cBhvr>
                                        <p:cTn id="33" dur="1000" fill="hold"/>
                                        <p:tgtEl>
                                          <p:spTgt spid="125">
                                            <p:txEl>
                                              <p:pRg st="1" end="1"/>
                                            </p:txEl>
                                          </p:spTgt>
                                        </p:tgtEl>
                                        <p:attrNameLst>
                                          <p:attrName>ppt_x</p:attrName>
                                        </p:attrNameLst>
                                      </p:cBhvr>
                                      <p:tavLst>
                                        <p:tav tm="0">
                                          <p:val>
                                            <p:strVal val="#ppt_x"/>
                                          </p:val>
                                        </p:tav>
                                        <p:tav tm="100000">
                                          <p:val>
                                            <p:strVal val="#ppt_x"/>
                                          </p:val>
                                        </p:tav>
                                      </p:tavLst>
                                    </p:anim>
                                    <p:anim calcmode="lin" valueType="num">
                                      <p:cBhvr>
                                        <p:cTn id="34" dur="1000" fill="hold"/>
                                        <p:tgtEl>
                                          <p:spTgt spid="12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125">
                                            <p:txEl>
                                              <p:pRg st="2" end="2"/>
                                            </p:txEl>
                                          </p:spTgt>
                                        </p:tgtEl>
                                        <p:attrNameLst>
                                          <p:attrName>style.visibility</p:attrName>
                                        </p:attrNameLst>
                                      </p:cBhvr>
                                      <p:to>
                                        <p:strVal val="visible"/>
                                      </p:to>
                                    </p:set>
                                    <p:animEffect transition="in" filter="fade">
                                      <p:cBhvr>
                                        <p:cTn id="39" dur="1000"/>
                                        <p:tgtEl>
                                          <p:spTgt spid="125">
                                            <p:txEl>
                                              <p:pRg st="2" end="2"/>
                                            </p:txEl>
                                          </p:spTgt>
                                        </p:tgtEl>
                                      </p:cBhvr>
                                    </p:animEffect>
                                    <p:anim calcmode="lin" valueType="num">
                                      <p:cBhvr>
                                        <p:cTn id="40" dur="1000" fill="hold"/>
                                        <p:tgtEl>
                                          <p:spTgt spid="125">
                                            <p:txEl>
                                              <p:pRg st="2" end="2"/>
                                            </p:txEl>
                                          </p:spTgt>
                                        </p:tgtEl>
                                        <p:attrNameLst>
                                          <p:attrName>ppt_x</p:attrName>
                                        </p:attrNameLst>
                                      </p:cBhvr>
                                      <p:tavLst>
                                        <p:tav tm="0">
                                          <p:val>
                                            <p:strVal val="#ppt_x"/>
                                          </p:val>
                                        </p:tav>
                                        <p:tav tm="100000">
                                          <p:val>
                                            <p:strVal val="#ppt_x"/>
                                          </p:val>
                                        </p:tav>
                                      </p:tavLst>
                                    </p:anim>
                                    <p:anim calcmode="lin" valueType="num">
                                      <p:cBhvr>
                                        <p:cTn id="41" dur="1000" fill="hold"/>
                                        <p:tgtEl>
                                          <p:spTgt spid="12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125">
                                            <p:txEl>
                                              <p:pRg st="3" end="3"/>
                                            </p:txEl>
                                          </p:spTgt>
                                        </p:tgtEl>
                                        <p:attrNameLst>
                                          <p:attrName>style.visibility</p:attrName>
                                        </p:attrNameLst>
                                      </p:cBhvr>
                                      <p:to>
                                        <p:strVal val="visible"/>
                                      </p:to>
                                    </p:set>
                                    <p:animEffect transition="in" filter="fade">
                                      <p:cBhvr>
                                        <p:cTn id="46" dur="1000"/>
                                        <p:tgtEl>
                                          <p:spTgt spid="125">
                                            <p:txEl>
                                              <p:pRg st="3" end="3"/>
                                            </p:txEl>
                                          </p:spTgt>
                                        </p:tgtEl>
                                      </p:cBhvr>
                                    </p:animEffect>
                                    <p:anim calcmode="lin" valueType="num">
                                      <p:cBhvr>
                                        <p:cTn id="47" dur="1000" fill="hold"/>
                                        <p:tgtEl>
                                          <p:spTgt spid="125">
                                            <p:txEl>
                                              <p:pRg st="3" end="3"/>
                                            </p:txEl>
                                          </p:spTgt>
                                        </p:tgtEl>
                                        <p:attrNameLst>
                                          <p:attrName>ppt_x</p:attrName>
                                        </p:attrNameLst>
                                      </p:cBhvr>
                                      <p:tavLst>
                                        <p:tav tm="0">
                                          <p:val>
                                            <p:strVal val="#ppt_x"/>
                                          </p:val>
                                        </p:tav>
                                        <p:tav tm="100000">
                                          <p:val>
                                            <p:strVal val="#ppt_x"/>
                                          </p:val>
                                        </p:tav>
                                      </p:tavLst>
                                    </p:anim>
                                    <p:anim calcmode="lin" valueType="num">
                                      <p:cBhvr>
                                        <p:cTn id="48" dur="1000" fill="hold"/>
                                        <p:tgtEl>
                                          <p:spTgt spid="12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125">
                                            <p:txEl>
                                              <p:pRg st="4" end="4"/>
                                            </p:txEl>
                                          </p:spTgt>
                                        </p:tgtEl>
                                        <p:attrNameLst>
                                          <p:attrName>style.visibility</p:attrName>
                                        </p:attrNameLst>
                                      </p:cBhvr>
                                      <p:to>
                                        <p:strVal val="visible"/>
                                      </p:to>
                                    </p:set>
                                    <p:animEffect transition="in" filter="fade">
                                      <p:cBhvr>
                                        <p:cTn id="53" dur="1000"/>
                                        <p:tgtEl>
                                          <p:spTgt spid="125">
                                            <p:txEl>
                                              <p:pRg st="4" end="4"/>
                                            </p:txEl>
                                          </p:spTgt>
                                        </p:tgtEl>
                                      </p:cBhvr>
                                    </p:animEffect>
                                    <p:anim calcmode="lin" valueType="num">
                                      <p:cBhvr>
                                        <p:cTn id="54" dur="1000" fill="hold"/>
                                        <p:tgtEl>
                                          <p:spTgt spid="125">
                                            <p:txEl>
                                              <p:pRg st="4" end="4"/>
                                            </p:txEl>
                                          </p:spTgt>
                                        </p:tgtEl>
                                        <p:attrNameLst>
                                          <p:attrName>ppt_x</p:attrName>
                                        </p:attrNameLst>
                                      </p:cBhvr>
                                      <p:tavLst>
                                        <p:tav tm="0">
                                          <p:val>
                                            <p:strVal val="#ppt_x"/>
                                          </p:val>
                                        </p:tav>
                                        <p:tav tm="100000">
                                          <p:val>
                                            <p:strVal val="#ppt_x"/>
                                          </p:val>
                                        </p:tav>
                                      </p:tavLst>
                                    </p:anim>
                                    <p:anim calcmode="lin" valueType="num">
                                      <p:cBhvr>
                                        <p:cTn id="55" dur="1000" fill="hold"/>
                                        <p:tgtEl>
                                          <p:spTgt spid="12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125">
                                            <p:txEl>
                                              <p:pRg st="5" end="5"/>
                                            </p:txEl>
                                          </p:spTgt>
                                        </p:tgtEl>
                                        <p:attrNameLst>
                                          <p:attrName>style.visibility</p:attrName>
                                        </p:attrNameLst>
                                      </p:cBhvr>
                                      <p:to>
                                        <p:strVal val="visible"/>
                                      </p:to>
                                    </p:set>
                                    <p:animEffect transition="in" filter="fade">
                                      <p:cBhvr>
                                        <p:cTn id="60" dur="1000"/>
                                        <p:tgtEl>
                                          <p:spTgt spid="125">
                                            <p:txEl>
                                              <p:pRg st="5" end="5"/>
                                            </p:txEl>
                                          </p:spTgt>
                                        </p:tgtEl>
                                      </p:cBhvr>
                                    </p:animEffect>
                                    <p:anim calcmode="lin" valueType="num">
                                      <p:cBhvr>
                                        <p:cTn id="61" dur="1000" fill="hold"/>
                                        <p:tgtEl>
                                          <p:spTgt spid="125">
                                            <p:txEl>
                                              <p:pRg st="5" end="5"/>
                                            </p:txEl>
                                          </p:spTgt>
                                        </p:tgtEl>
                                        <p:attrNameLst>
                                          <p:attrName>ppt_x</p:attrName>
                                        </p:attrNameLst>
                                      </p:cBhvr>
                                      <p:tavLst>
                                        <p:tav tm="0">
                                          <p:val>
                                            <p:strVal val="#ppt_x"/>
                                          </p:val>
                                        </p:tav>
                                        <p:tav tm="100000">
                                          <p:val>
                                            <p:strVal val="#ppt_x"/>
                                          </p:val>
                                        </p:tav>
                                      </p:tavLst>
                                    </p:anim>
                                    <p:anim calcmode="lin" valueType="num">
                                      <p:cBhvr>
                                        <p:cTn id="62" dur="1000" fill="hold"/>
                                        <p:tgtEl>
                                          <p:spTgt spid="12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5">
                                            <p:txEl>
                                              <p:pRg st="0" end="0"/>
                                            </p:txEl>
                                          </p:spTgt>
                                        </p:tgtEl>
                                        <p:attrNameLst>
                                          <p:attrName>style.visibility</p:attrName>
                                        </p:attrNameLst>
                                      </p:cBhvr>
                                      <p:to>
                                        <p:strVal val="visible"/>
                                      </p:to>
                                    </p:set>
                                    <p:animEffect transition="in" filter="fade">
                                      <p:cBhvr>
                                        <p:cTn id="67" dur="500"/>
                                        <p:tgtEl>
                                          <p:spTgt spid="15">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27"/>
                                        </p:tgtEl>
                                        <p:attrNameLst>
                                          <p:attrName>style.visibility</p:attrName>
                                        </p:attrNameLst>
                                      </p:cBhvr>
                                      <p:to>
                                        <p:strVal val="visible"/>
                                      </p:to>
                                    </p:set>
                                    <p:anim calcmode="lin" valueType="num">
                                      <p:cBhvr>
                                        <p:cTn id="72" dur="500" fill="hold"/>
                                        <p:tgtEl>
                                          <p:spTgt spid="27"/>
                                        </p:tgtEl>
                                        <p:attrNameLst>
                                          <p:attrName>ppt_w</p:attrName>
                                        </p:attrNameLst>
                                      </p:cBhvr>
                                      <p:tavLst>
                                        <p:tav tm="0">
                                          <p:val>
                                            <p:fltVal val="0"/>
                                          </p:val>
                                        </p:tav>
                                        <p:tav tm="100000">
                                          <p:val>
                                            <p:strVal val="#ppt_w"/>
                                          </p:val>
                                        </p:tav>
                                      </p:tavLst>
                                    </p:anim>
                                    <p:anim calcmode="lin" valueType="num">
                                      <p:cBhvr>
                                        <p:cTn id="73" dur="500" fill="hold"/>
                                        <p:tgtEl>
                                          <p:spTgt spid="27"/>
                                        </p:tgtEl>
                                        <p:attrNameLst>
                                          <p:attrName>ppt_h</p:attrName>
                                        </p:attrNameLst>
                                      </p:cBhvr>
                                      <p:tavLst>
                                        <p:tav tm="0">
                                          <p:val>
                                            <p:fltVal val="0"/>
                                          </p:val>
                                        </p:tav>
                                        <p:tav tm="100000">
                                          <p:val>
                                            <p:strVal val="#ppt_h"/>
                                          </p:val>
                                        </p:tav>
                                      </p:tavLst>
                                    </p:anim>
                                    <p:animEffect transition="in" filter="fade">
                                      <p:cBhvr>
                                        <p:cTn id="74" dur="500"/>
                                        <p:tgtEl>
                                          <p:spTgt spid="27"/>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 calcmode="lin" valueType="num">
                                      <p:cBhvr>
                                        <p:cTn id="77" dur="500" fill="hold"/>
                                        <p:tgtEl>
                                          <p:spTgt spid="28"/>
                                        </p:tgtEl>
                                        <p:attrNameLst>
                                          <p:attrName>ppt_w</p:attrName>
                                        </p:attrNameLst>
                                      </p:cBhvr>
                                      <p:tavLst>
                                        <p:tav tm="0">
                                          <p:val>
                                            <p:fltVal val="0"/>
                                          </p:val>
                                        </p:tav>
                                        <p:tav tm="100000">
                                          <p:val>
                                            <p:strVal val="#ppt_w"/>
                                          </p:val>
                                        </p:tav>
                                      </p:tavLst>
                                    </p:anim>
                                    <p:anim calcmode="lin" valueType="num">
                                      <p:cBhvr>
                                        <p:cTn id="78" dur="500" fill="hold"/>
                                        <p:tgtEl>
                                          <p:spTgt spid="28"/>
                                        </p:tgtEl>
                                        <p:attrNameLst>
                                          <p:attrName>ppt_h</p:attrName>
                                        </p:attrNameLst>
                                      </p:cBhvr>
                                      <p:tavLst>
                                        <p:tav tm="0">
                                          <p:val>
                                            <p:fltVal val="0"/>
                                          </p:val>
                                        </p:tav>
                                        <p:tav tm="100000">
                                          <p:val>
                                            <p:strVal val="#ppt_h"/>
                                          </p:val>
                                        </p:tav>
                                      </p:tavLst>
                                    </p:anim>
                                    <p:animEffect transition="in" filter="fade">
                                      <p:cBhvr>
                                        <p:cTn id="79" dur="500"/>
                                        <p:tgtEl>
                                          <p:spTgt spid="28"/>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14"/>
                                        </p:tgtEl>
                                        <p:attrNameLst>
                                          <p:attrName>style.visibility</p:attrName>
                                        </p:attrNameLst>
                                      </p:cBhvr>
                                      <p:to>
                                        <p:strVal val="visible"/>
                                      </p:to>
                                    </p:set>
                                    <p:anim calcmode="lin" valueType="num">
                                      <p:cBhvr>
                                        <p:cTn id="82" dur="500" fill="hold"/>
                                        <p:tgtEl>
                                          <p:spTgt spid="14"/>
                                        </p:tgtEl>
                                        <p:attrNameLst>
                                          <p:attrName>ppt_w</p:attrName>
                                        </p:attrNameLst>
                                      </p:cBhvr>
                                      <p:tavLst>
                                        <p:tav tm="0">
                                          <p:val>
                                            <p:fltVal val="0"/>
                                          </p:val>
                                        </p:tav>
                                        <p:tav tm="100000">
                                          <p:val>
                                            <p:strVal val="#ppt_w"/>
                                          </p:val>
                                        </p:tav>
                                      </p:tavLst>
                                    </p:anim>
                                    <p:anim calcmode="lin" valueType="num">
                                      <p:cBhvr>
                                        <p:cTn id="83" dur="500" fill="hold"/>
                                        <p:tgtEl>
                                          <p:spTgt spid="14"/>
                                        </p:tgtEl>
                                        <p:attrNameLst>
                                          <p:attrName>ppt_h</p:attrName>
                                        </p:attrNameLst>
                                      </p:cBhvr>
                                      <p:tavLst>
                                        <p:tav tm="0">
                                          <p:val>
                                            <p:fltVal val="0"/>
                                          </p:val>
                                        </p:tav>
                                        <p:tav tm="100000">
                                          <p:val>
                                            <p:strVal val="#ppt_h"/>
                                          </p:val>
                                        </p:tav>
                                      </p:tavLst>
                                    </p:anim>
                                    <p:animEffect transition="in" filter="fade">
                                      <p:cBhvr>
                                        <p:cTn id="8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7" grpId="0" animBg="1"/>
      <p:bldP spid="2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91" name="Google Shape;191;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sz="1600">
                <a:solidFill>
                  <a:schemeClr val="bg1"/>
                </a:solidFill>
                <a:latin typeface="Constantia" panose="02030602050306030303" pitchFamily="18" charset="0"/>
              </a:rPr>
              <a:t>9 may 2025</a:t>
            </a:r>
          </a:p>
        </p:txBody>
      </p:sp>
      <p:sp>
        <p:nvSpPr>
          <p:cNvPr id="193" name="Google Shape;193;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
        <p:nvSpPr>
          <p:cNvPr id="2" name="TextBox 1">
            <a:extLst>
              <a:ext uri="{FF2B5EF4-FFF2-40B4-BE49-F238E27FC236}">
                <a16:creationId xmlns:a16="http://schemas.microsoft.com/office/drawing/2014/main" id="{F347EE81-9E80-443E-B91B-235ADFEF1495}"/>
              </a:ext>
            </a:extLst>
          </p:cNvPr>
          <p:cNvSpPr txBox="1"/>
          <p:nvPr/>
        </p:nvSpPr>
        <p:spPr>
          <a:xfrm>
            <a:off x="1735810" y="464949"/>
            <a:ext cx="3510898" cy="584775"/>
          </a:xfrm>
          <a:prstGeom prst="rect">
            <a:avLst/>
          </a:prstGeom>
          <a:noFill/>
        </p:spPr>
        <p:txBody>
          <a:bodyPr wrap="none" rtlCol="0">
            <a:spAutoFit/>
          </a:bodyPr>
          <a:lstStyle/>
          <a:p>
            <a:r>
              <a:rPr lang="en-US" sz="3200" b="1" dirty="0">
                <a:solidFill>
                  <a:schemeClr val="accent6">
                    <a:lumMod val="50000"/>
                  </a:schemeClr>
                </a:solidFill>
              </a:rPr>
              <a:t>Project Overview</a:t>
            </a:r>
          </a:p>
        </p:txBody>
      </p:sp>
      <p:sp>
        <p:nvSpPr>
          <p:cNvPr id="3" name="TextBox 2">
            <a:extLst>
              <a:ext uri="{FF2B5EF4-FFF2-40B4-BE49-F238E27FC236}">
                <a16:creationId xmlns:a16="http://schemas.microsoft.com/office/drawing/2014/main" id="{66FCC6FE-E0AB-49A9-BC0C-E4A492EB4062}"/>
              </a:ext>
            </a:extLst>
          </p:cNvPr>
          <p:cNvSpPr txBox="1"/>
          <p:nvPr/>
        </p:nvSpPr>
        <p:spPr>
          <a:xfrm>
            <a:off x="218267" y="1744567"/>
            <a:ext cx="8171131" cy="3046988"/>
          </a:xfrm>
          <a:prstGeom prst="rect">
            <a:avLst/>
          </a:prstGeom>
          <a:noFill/>
        </p:spPr>
        <p:txBody>
          <a:bodyPr wrap="square" rtlCol="0">
            <a:spAutoFit/>
          </a:bodyPr>
          <a:lstStyle/>
          <a:p>
            <a:r>
              <a:rPr lang="en-US" sz="1600" dirty="0"/>
              <a:t>This project focuses on analyzing downtime across manufacturing lines to identify performance bottlenecks, reveal key factors influencing interruptions, and enhance decision‑making through Power BI dashboards.</a:t>
            </a:r>
          </a:p>
          <a:p>
            <a:r>
              <a:rPr lang="en-US" sz="1600" b="1" dirty="0"/>
              <a:t>Objectives</a:t>
            </a:r>
          </a:p>
          <a:p>
            <a:r>
              <a:rPr lang="en-US" sz="1600" dirty="0"/>
              <a:t>Analyze downtime patterns across lines, operators, and products.</a:t>
            </a:r>
          </a:p>
          <a:p>
            <a:r>
              <a:rPr lang="en-US" sz="1600" dirty="0"/>
              <a:t>Identify top downtime causes and quantify their impact on production.</a:t>
            </a:r>
          </a:p>
          <a:p>
            <a:r>
              <a:rPr lang="en-US" sz="1600" dirty="0"/>
              <a:t>Develop interactive dashboards in Power BI for management insights.</a:t>
            </a:r>
          </a:p>
          <a:p>
            <a:r>
              <a:rPr lang="en-US" sz="1600" dirty="0"/>
              <a:t>Support process improvement through data‑driven visualization and KPIs.</a:t>
            </a:r>
          </a:p>
          <a:p>
            <a:r>
              <a:rPr lang="en-US" sz="1600" b="1" dirty="0"/>
              <a:t>Scope</a:t>
            </a:r>
          </a:p>
          <a:p>
            <a:r>
              <a:rPr lang="en-US" sz="1600" dirty="0"/>
              <a:t>Covers all recorded downtime events across lines, operators, products, and contributing factors, including temporal trends (by date, shift</a:t>
            </a:r>
          </a:p>
          <a:p>
            <a:endParaRPr lang="en-US" sz="1600" dirty="0"/>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1000"/>
                                        <p:tgtEl>
                                          <p:spTgt spid="3">
                                            <p:txEl>
                                              <p:pRg st="5" end="5"/>
                                            </p:txEl>
                                          </p:spTgt>
                                        </p:tgtEl>
                                      </p:cBhvr>
                                    </p:animEffect>
                                    <p:anim calcmode="lin" valueType="num">
                                      <p:cBhvr>
                                        <p:cTn id="5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Effect transition="in" filter="fade">
                                      <p:cBhvr>
                                        <p:cTn id="56" dur="1000"/>
                                        <p:tgtEl>
                                          <p:spTgt spid="3">
                                            <p:txEl>
                                              <p:pRg st="6" end="6"/>
                                            </p:txEl>
                                          </p:spTgt>
                                        </p:tgtEl>
                                      </p:cBhvr>
                                    </p:animEffect>
                                    <p:anim calcmode="lin" valueType="num">
                                      <p:cBhvr>
                                        <p:cTn id="5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Effect transition="in" filter="fade">
                                      <p:cBhvr>
                                        <p:cTn id="63" dur="1000"/>
                                        <p:tgtEl>
                                          <p:spTgt spid="3">
                                            <p:txEl>
                                              <p:pRg st="7" end="7"/>
                                            </p:txEl>
                                          </p:spTgt>
                                        </p:tgtEl>
                                      </p:cBhvr>
                                    </p:animEffect>
                                    <p:anim calcmode="lin" valueType="num">
                                      <p:cBhvr>
                                        <p:cTn id="6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1A85368A-91B0-A5F1-B089-EBD64C824A1B}"/>
            </a:ext>
          </a:extLst>
        </p:cNvPr>
        <p:cNvGrpSpPr/>
        <p:nvPr/>
      </p:nvGrpSpPr>
      <p:grpSpPr>
        <a:xfrm>
          <a:off x="0" y="0"/>
          <a:ext cx="0" cy="0"/>
          <a:chOff x="0" y="0"/>
          <a:chExt cx="0" cy="0"/>
        </a:xfrm>
      </p:grpSpPr>
      <p:sp>
        <p:nvSpPr>
          <p:cNvPr id="191" name="Google Shape;191;p6">
            <a:extLst>
              <a:ext uri="{FF2B5EF4-FFF2-40B4-BE49-F238E27FC236}">
                <a16:creationId xmlns:a16="http://schemas.microsoft.com/office/drawing/2014/main" id="{72A64F7B-43C5-F5F5-88A9-B38192912F2E}"/>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sz="1600">
                <a:solidFill>
                  <a:schemeClr val="bg1"/>
                </a:solidFill>
                <a:latin typeface="Constantia" panose="02030602050306030303" pitchFamily="18" charset="0"/>
              </a:rPr>
              <a:t>9 may 2025</a:t>
            </a:r>
          </a:p>
        </p:txBody>
      </p:sp>
      <p:sp>
        <p:nvSpPr>
          <p:cNvPr id="193" name="Google Shape;193;p6">
            <a:extLst>
              <a:ext uri="{FF2B5EF4-FFF2-40B4-BE49-F238E27FC236}">
                <a16:creationId xmlns:a16="http://schemas.microsoft.com/office/drawing/2014/main" id="{EFB0F399-2E51-1A68-E17B-E04F59F544D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2" name="TextBox 1">
            <a:extLst>
              <a:ext uri="{FF2B5EF4-FFF2-40B4-BE49-F238E27FC236}">
                <a16:creationId xmlns:a16="http://schemas.microsoft.com/office/drawing/2014/main" id="{4B884281-55B9-688F-E906-3D689328E052}"/>
              </a:ext>
            </a:extLst>
          </p:cNvPr>
          <p:cNvSpPr txBox="1"/>
          <p:nvPr/>
        </p:nvSpPr>
        <p:spPr>
          <a:xfrm>
            <a:off x="1735810" y="464949"/>
            <a:ext cx="3600666" cy="584775"/>
          </a:xfrm>
          <a:prstGeom prst="rect">
            <a:avLst/>
          </a:prstGeom>
          <a:noFill/>
        </p:spPr>
        <p:txBody>
          <a:bodyPr wrap="none" rtlCol="0">
            <a:spAutoFit/>
          </a:bodyPr>
          <a:lstStyle/>
          <a:p>
            <a:r>
              <a:rPr lang="en-US" sz="3200" b="1" dirty="0">
                <a:solidFill>
                  <a:schemeClr val="accent6">
                    <a:lumMod val="50000"/>
                  </a:schemeClr>
                </a:solidFill>
              </a:rPr>
              <a:t>Literature Review</a:t>
            </a:r>
          </a:p>
        </p:txBody>
      </p:sp>
      <p:sp>
        <p:nvSpPr>
          <p:cNvPr id="3" name="TextBox 2">
            <a:extLst>
              <a:ext uri="{FF2B5EF4-FFF2-40B4-BE49-F238E27FC236}">
                <a16:creationId xmlns:a16="http://schemas.microsoft.com/office/drawing/2014/main" id="{3784F4A4-84A5-A14F-7647-C595C230C437}"/>
              </a:ext>
            </a:extLst>
          </p:cNvPr>
          <p:cNvSpPr txBox="1"/>
          <p:nvPr/>
        </p:nvSpPr>
        <p:spPr>
          <a:xfrm>
            <a:off x="218267" y="1744567"/>
            <a:ext cx="11379221" cy="4447884"/>
          </a:xfrm>
          <a:prstGeom prst="rect">
            <a:avLst/>
          </a:prstGeom>
          <a:noFill/>
        </p:spPr>
        <p:txBody>
          <a:bodyPr wrap="square" rtlCol="0">
            <a:spAutoFit/>
          </a:bodyPr>
          <a:lstStyle/>
          <a:p>
            <a:pPr>
              <a:lnSpc>
                <a:spcPct val="200000"/>
              </a:lnSpc>
            </a:pPr>
            <a:r>
              <a:rPr lang="en-US" sz="1600" b="1" dirty="0"/>
              <a:t>Downtime Analysis in Manufacturing Systems</a:t>
            </a:r>
            <a:endParaRPr lang="en-US" sz="1600" dirty="0"/>
          </a:p>
          <a:p>
            <a:pPr>
              <a:lnSpc>
                <a:spcPct val="200000"/>
              </a:lnSpc>
            </a:pPr>
            <a:r>
              <a:rPr lang="en-US" sz="1600" dirty="0"/>
              <a:t>Downtime analysis is a cornerstone of productivity optimization in modern manufacturing. Research shows that </a:t>
            </a:r>
            <a:r>
              <a:rPr lang="en-US" sz="1600" b="1" dirty="0"/>
              <a:t>accurately recording, categorizing, and analyzing downtime events</a:t>
            </a:r>
            <a:r>
              <a:rPr lang="en-US" sz="1600" dirty="0"/>
              <a:t> enables organizations to identify inefficiencies and prioritize improvement actions. For example, studies highlight the importance of breaking downtime into dimensions such as </a:t>
            </a:r>
            <a:r>
              <a:rPr lang="en-US" sz="1600" b="1" dirty="0"/>
              <a:t>machine, line, shift, and operator</a:t>
            </a:r>
            <a:r>
              <a:rPr lang="en-US" sz="1600" dirty="0"/>
              <a:t> to isolate recurring patterns and understand operational bottlenecks.</a:t>
            </a:r>
            <a:br>
              <a:rPr lang="en-US" sz="1600" dirty="0"/>
            </a:br>
            <a:r>
              <a:rPr lang="en-US" sz="1600" dirty="0"/>
              <a:t>In relation to this project, the </a:t>
            </a:r>
            <a:r>
              <a:rPr lang="en-US" sz="1600" b="1" dirty="0"/>
              <a:t>dataset includes detailed downtime logs</a:t>
            </a:r>
            <a:r>
              <a:rPr lang="en-US" sz="1600" dirty="0"/>
              <a:t> (machine ID, line, shift, operator, and reason), providing a structured foundation to perform this type of multi-dimensional analysis. By aggregating downtime duration and frequency, and computing metrics, the project aligns with proven analytical frameworks used in industrial performance studies.</a:t>
            </a:r>
          </a:p>
        </p:txBody>
      </p:sp>
    </p:spTree>
    <p:extLst>
      <p:ext uri="{BB962C8B-B14F-4D97-AF65-F5344CB8AC3E}">
        <p14:creationId xmlns:p14="http://schemas.microsoft.com/office/powerpoint/2010/main" val="387029133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93160-5FE3-4C5C-B12B-6A53F7A98586}"/>
              </a:ext>
            </a:extLst>
          </p:cNvPr>
          <p:cNvSpPr>
            <a:spLocks noGrp="1"/>
          </p:cNvSpPr>
          <p:nvPr>
            <p:ph type="ctrTitle"/>
          </p:nvPr>
        </p:nvSpPr>
        <p:spPr>
          <a:xfrm>
            <a:off x="407406" y="1557196"/>
            <a:ext cx="8664166" cy="2453490"/>
          </a:xfrm>
        </p:spPr>
        <p:txBody>
          <a:bodyPr>
            <a:normAutofit/>
          </a:bodyPr>
          <a:lstStyle/>
          <a:p>
            <a:pPr algn="l"/>
            <a:r>
              <a:rPr lang="en-US" sz="2400" b="1" dirty="0"/>
              <a:t>Proposed Solution:</a:t>
            </a:r>
            <a:br>
              <a:rPr lang="en-US" sz="2400" b="1" dirty="0"/>
            </a:br>
            <a:r>
              <a:rPr lang="en-US" sz="1800" dirty="0"/>
              <a:t>To address the recurring downtime issues identified in our analysis, we propose the following data-driven solution:</a:t>
            </a:r>
            <a:br>
              <a:rPr lang="en-US" sz="1800" dirty="0"/>
            </a:br>
            <a:r>
              <a:rPr lang="en-US" sz="2400" b="1" dirty="0"/>
              <a:t>Data Analysis and Monitoring</a:t>
            </a:r>
            <a:r>
              <a:rPr lang="en-US" sz="2800" b="1" dirty="0"/>
              <a:t>:</a:t>
            </a:r>
            <a:br>
              <a:rPr lang="en-US" sz="2800" dirty="0"/>
            </a:br>
            <a:r>
              <a:rPr lang="en-US" sz="1800" dirty="0"/>
              <a:t>Conduct comprehensive data analysis to pinpoint the primary downtime causes, focusing on product lines, products, and specific operational processes.</a:t>
            </a:r>
            <a:br>
              <a:rPr lang="en-US" sz="1800" dirty="0"/>
            </a:br>
            <a:r>
              <a:rPr lang="en-US" sz="1800" dirty="0"/>
              <a:t>Leverage historical data to identify patterns and predict potential downtime events.</a:t>
            </a:r>
          </a:p>
        </p:txBody>
      </p:sp>
      <p:sp>
        <p:nvSpPr>
          <p:cNvPr id="4" name="Slide Number Placeholder 3">
            <a:extLst>
              <a:ext uri="{FF2B5EF4-FFF2-40B4-BE49-F238E27FC236}">
                <a16:creationId xmlns:a16="http://schemas.microsoft.com/office/drawing/2014/main" id="{F2D5C840-A7C8-41FB-8EEE-13E082B6D26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7" name="TextBox 6">
            <a:extLst>
              <a:ext uri="{FF2B5EF4-FFF2-40B4-BE49-F238E27FC236}">
                <a16:creationId xmlns:a16="http://schemas.microsoft.com/office/drawing/2014/main" id="{5738C8A8-67F0-4676-B1CF-F5EA73E3F41F}"/>
              </a:ext>
            </a:extLst>
          </p:cNvPr>
          <p:cNvSpPr txBox="1"/>
          <p:nvPr/>
        </p:nvSpPr>
        <p:spPr>
          <a:xfrm>
            <a:off x="1653989" y="6356350"/>
            <a:ext cx="1506070" cy="553998"/>
          </a:xfrm>
          <a:prstGeom prst="rect">
            <a:avLst/>
          </a:prstGeom>
          <a:noFill/>
        </p:spPr>
        <p:txBody>
          <a:bodyPr wrap="square" rtlCol="0">
            <a:spAutoFit/>
          </a:bodyPr>
          <a:lstStyle/>
          <a:p>
            <a:r>
              <a:rPr lang="en-US" sz="1600">
                <a:solidFill>
                  <a:schemeClr val="bg1"/>
                </a:solidFill>
                <a:latin typeface="Constantia" panose="02030602050306030303" pitchFamily="18" charset="0"/>
              </a:rPr>
              <a:t>9 may 2025</a:t>
            </a:r>
          </a:p>
          <a:p>
            <a:endParaRPr lang="en-US"/>
          </a:p>
        </p:txBody>
      </p:sp>
    </p:spTree>
    <p:extLst>
      <p:ext uri="{BB962C8B-B14F-4D97-AF65-F5344CB8AC3E}">
        <p14:creationId xmlns:p14="http://schemas.microsoft.com/office/powerpoint/2010/main" val="122867440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2"/>
          <p:cNvSpPr txBox="1">
            <a:spLocks noGrp="1"/>
          </p:cNvSpPr>
          <p:nvPr>
            <p:ph type="dt" idx="10"/>
          </p:nvPr>
        </p:nvSpPr>
        <p:spPr>
          <a:xfrm>
            <a:off x="838200" y="6465981"/>
            <a:ext cx="2743200" cy="365125"/>
          </a:xfrm>
          <a:prstGeom prst="rect">
            <a:avLst/>
          </a:prstGeom>
          <a:noFill/>
          <a:ln>
            <a:noFill/>
          </a:ln>
        </p:spPr>
        <p:txBody>
          <a:bodyPr spcFirstLastPara="1" wrap="square" lIns="91425" tIns="45700" rIns="91425" bIns="45700" anchor="ctr" anchorCtr="0">
            <a:noAutofit/>
          </a:bodyPr>
          <a:lstStyle/>
          <a:p>
            <a:r>
              <a:rPr lang="en-US" sz="1600">
                <a:solidFill>
                  <a:schemeClr val="bg1"/>
                </a:solidFill>
                <a:latin typeface="Constantia" panose="02030602050306030303" pitchFamily="18" charset="0"/>
              </a:rPr>
              <a:t>9 may 2025</a:t>
            </a:r>
          </a:p>
          <a:p>
            <a:pPr marL="0" lvl="0" indent="0" algn="ctr" rtl="0">
              <a:lnSpc>
                <a:spcPct val="100000"/>
              </a:lnSpc>
              <a:spcBef>
                <a:spcPts val="0"/>
              </a:spcBef>
              <a:spcAft>
                <a:spcPts val="0"/>
              </a:spcAft>
              <a:buSzPts val="1400"/>
              <a:buNone/>
            </a:pPr>
            <a:endParaRPr/>
          </a:p>
        </p:txBody>
      </p:sp>
      <p:sp>
        <p:nvSpPr>
          <p:cNvPr id="254" name="Google Shape;25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2" name="TextBox 1">
            <a:extLst>
              <a:ext uri="{FF2B5EF4-FFF2-40B4-BE49-F238E27FC236}">
                <a16:creationId xmlns:a16="http://schemas.microsoft.com/office/drawing/2014/main" id="{A661706F-B3D0-4D59-863C-07A1723740DA}"/>
              </a:ext>
            </a:extLst>
          </p:cNvPr>
          <p:cNvSpPr txBox="1"/>
          <p:nvPr/>
        </p:nvSpPr>
        <p:spPr>
          <a:xfrm>
            <a:off x="0" y="1227436"/>
            <a:ext cx="6651814" cy="1785104"/>
          </a:xfrm>
          <a:prstGeom prst="rect">
            <a:avLst/>
          </a:prstGeom>
          <a:noFill/>
        </p:spPr>
        <p:txBody>
          <a:bodyPr wrap="square" rtlCol="0">
            <a:spAutoFit/>
          </a:bodyPr>
          <a:lstStyle/>
          <a:p>
            <a:r>
              <a:rPr kumimoji="0" lang="en-US" altLang="en-US" sz="1600" b="1" i="0" u="none" strike="noStrike" cap="none" normalizeH="0" baseline="0" dirty="0">
                <a:ln>
                  <a:noFill/>
                </a:ln>
                <a:solidFill>
                  <a:schemeClr val="tx1"/>
                </a:solidFill>
                <a:effectLst/>
                <a:latin typeface="Arial" panose="020B0604020202020204" pitchFamily="34" charset="0"/>
              </a:rPr>
              <a:t>Learning from Real-World Applications:</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Similar to SCG Chemicals' successful implementation of a centralized data platform, our proposed solution leverages data analysis to transform fragmented information into actionable insights. By identifying recurring downtime patterns, we can prioritize intervention areas and ultimately reduce operational disruptions.</a:t>
            </a:r>
          </a:p>
          <a:p>
            <a:endParaRPr lang="en-US" dirty="0"/>
          </a:p>
        </p:txBody>
      </p:sp>
      <p:sp>
        <p:nvSpPr>
          <p:cNvPr id="3" name="TextBox 2">
            <a:extLst>
              <a:ext uri="{FF2B5EF4-FFF2-40B4-BE49-F238E27FC236}">
                <a16:creationId xmlns:a16="http://schemas.microsoft.com/office/drawing/2014/main" id="{9ED122C8-297E-4B12-BE6E-0748CF8B8A84}"/>
              </a:ext>
            </a:extLst>
          </p:cNvPr>
          <p:cNvSpPr txBox="1"/>
          <p:nvPr/>
        </p:nvSpPr>
        <p:spPr>
          <a:xfrm>
            <a:off x="0" y="3373880"/>
            <a:ext cx="7812741" cy="1538883"/>
          </a:xfrm>
          <a:prstGeom prst="rect">
            <a:avLst/>
          </a:prstGeom>
          <a:noFill/>
        </p:spPr>
        <p:txBody>
          <a:bodyPr wrap="square" rtlCol="0">
            <a:spAutoFit/>
          </a:bodyPr>
          <a:lstStyle/>
          <a:p>
            <a:r>
              <a:rPr lang="en-US" sz="1600" b="1" dirty="0"/>
              <a:t>SCG Chemicals: Achieving Near-Zero Downtime</a:t>
            </a:r>
          </a:p>
          <a:p>
            <a:r>
              <a:rPr lang="en-US" sz="1600" dirty="0"/>
              <a:t>SCG Chemicals, a leading petrochemical company in Thailand, implemented a Digital Reliability Platform to address recurring production downtimes.</a:t>
            </a:r>
            <a:br>
              <a:rPr lang="en-US" sz="1600" dirty="0"/>
            </a:br>
            <a:r>
              <a:rPr lang="en-US" sz="1600" dirty="0"/>
              <a:t>Partnering with AVEVA, they developed a centralized data platform that transformed scattered data into actionable insights.</a:t>
            </a:r>
          </a:p>
          <a:p>
            <a:endParaRPr lang="en-US" dirty="0"/>
          </a:p>
        </p:txBody>
      </p:sp>
      <p:sp>
        <p:nvSpPr>
          <p:cNvPr id="13" name="TextBox 12">
            <a:extLst>
              <a:ext uri="{FF2B5EF4-FFF2-40B4-BE49-F238E27FC236}">
                <a16:creationId xmlns:a16="http://schemas.microsoft.com/office/drawing/2014/main" id="{F2C6F970-1F95-4D53-BD8F-F341B80935BD}"/>
              </a:ext>
            </a:extLst>
          </p:cNvPr>
          <p:cNvSpPr txBox="1"/>
          <p:nvPr/>
        </p:nvSpPr>
        <p:spPr>
          <a:xfrm>
            <a:off x="0" y="2791623"/>
            <a:ext cx="5419163" cy="677108"/>
          </a:xfrm>
          <a:prstGeom prst="rect">
            <a:avLst/>
          </a:prstGeom>
          <a:noFill/>
        </p:spPr>
        <p:txBody>
          <a:bodyPr wrap="square" rtlCol="0">
            <a:spAutoFit/>
          </a:bodyPr>
          <a:lstStyle/>
          <a:p>
            <a:r>
              <a:rPr lang="en-US" sz="2400" b="1">
                <a:solidFill>
                  <a:srgbClr val="047954"/>
                </a:solidFill>
              </a:rPr>
              <a:t>Unique Value – Real-World Example</a:t>
            </a:r>
          </a:p>
          <a:p>
            <a:endParaRPr lang="en-US">
              <a:solidFill>
                <a:srgbClr val="047954"/>
              </a:solidFill>
            </a:endParaRPr>
          </a:p>
        </p:txBody>
      </p:sp>
      <p:sp>
        <p:nvSpPr>
          <p:cNvPr id="14" name="TextBox 13">
            <a:extLst>
              <a:ext uri="{FF2B5EF4-FFF2-40B4-BE49-F238E27FC236}">
                <a16:creationId xmlns:a16="http://schemas.microsoft.com/office/drawing/2014/main" id="{24D5FAA0-F2B0-4367-B92F-CD491FCCC118}"/>
              </a:ext>
            </a:extLst>
          </p:cNvPr>
          <p:cNvSpPr txBox="1"/>
          <p:nvPr/>
        </p:nvSpPr>
        <p:spPr>
          <a:xfrm>
            <a:off x="0" y="4717150"/>
            <a:ext cx="6508376" cy="1538883"/>
          </a:xfrm>
          <a:prstGeom prst="rect">
            <a:avLst/>
          </a:prstGeom>
          <a:noFill/>
        </p:spPr>
        <p:txBody>
          <a:bodyPr wrap="square" rtlCol="0">
            <a:spAutoFit/>
          </a:bodyPr>
          <a:lstStyle/>
          <a:p>
            <a:r>
              <a:rPr lang="en-US" sz="1600" b="1" dirty="0"/>
              <a:t>Results Achieved:</a:t>
            </a:r>
            <a:endParaRPr lang="en-US" sz="1600" dirty="0"/>
          </a:p>
          <a:p>
            <a:pPr>
              <a:buFont typeface="Arial" panose="020B0604020202020204" pitchFamily="34" charset="0"/>
              <a:buChar char="•"/>
            </a:pPr>
            <a:r>
              <a:rPr lang="en-US" sz="1600" dirty="0"/>
              <a:t>Increased plant reliability from </a:t>
            </a:r>
            <a:r>
              <a:rPr lang="en-US" sz="1600" b="1" dirty="0"/>
              <a:t>98% to nearly </a:t>
            </a:r>
            <a:r>
              <a:rPr lang="en-US" sz="1600" b="1" dirty="0">
                <a:solidFill>
                  <a:srgbClr val="FF0000"/>
                </a:solidFill>
              </a:rPr>
              <a:t>100%</a:t>
            </a:r>
            <a:endParaRPr lang="en-US" sz="1600" dirty="0">
              <a:solidFill>
                <a:srgbClr val="FF0000"/>
              </a:solidFill>
            </a:endParaRPr>
          </a:p>
          <a:p>
            <a:pPr>
              <a:buFont typeface="Arial" panose="020B0604020202020204" pitchFamily="34" charset="0"/>
              <a:buChar char="•"/>
            </a:pPr>
            <a:r>
              <a:rPr lang="en-US" sz="1600" dirty="0"/>
              <a:t>Reduced maintenance costs by </a:t>
            </a:r>
            <a:r>
              <a:rPr lang="en-US" sz="1600" b="1" dirty="0">
                <a:solidFill>
                  <a:srgbClr val="FF0000"/>
                </a:solidFill>
              </a:rPr>
              <a:t>40%</a:t>
            </a:r>
            <a:endParaRPr lang="en-US" sz="1600" dirty="0">
              <a:solidFill>
                <a:srgbClr val="FF0000"/>
              </a:solidFill>
            </a:endParaRPr>
          </a:p>
          <a:p>
            <a:pPr>
              <a:buFont typeface="Arial" panose="020B0604020202020204" pitchFamily="34" charset="0"/>
              <a:buChar char="•"/>
            </a:pPr>
            <a:r>
              <a:rPr lang="en-US" sz="1600" dirty="0"/>
              <a:t>Achieved a </a:t>
            </a:r>
            <a:r>
              <a:rPr lang="en-US" sz="1600" b="1" dirty="0">
                <a:solidFill>
                  <a:srgbClr val="FF0000"/>
                </a:solidFill>
              </a:rPr>
              <a:t>9x return </a:t>
            </a:r>
            <a:r>
              <a:rPr lang="en-US" sz="1600" b="1" dirty="0"/>
              <a:t>on investment</a:t>
            </a:r>
            <a:r>
              <a:rPr lang="en-US" sz="1600" dirty="0"/>
              <a:t> by preventing asset failures</a:t>
            </a:r>
          </a:p>
          <a:p>
            <a:pPr>
              <a:buFont typeface="Arial" panose="020B0604020202020204" pitchFamily="34" charset="0"/>
              <a:buChar char="•"/>
            </a:pPr>
            <a:r>
              <a:rPr lang="en-US" sz="1600" dirty="0"/>
              <a:t>Accelerated data access to </a:t>
            </a:r>
            <a:r>
              <a:rPr lang="en-US" sz="1600" b="1" dirty="0">
                <a:solidFill>
                  <a:srgbClr val="FF0000"/>
                </a:solidFill>
              </a:rPr>
              <a:t>less than 10 seconds</a:t>
            </a:r>
            <a:endParaRPr lang="en-US" sz="1600" dirty="0">
              <a:solidFill>
                <a:srgbClr val="FF0000"/>
              </a:solidFill>
            </a:endParaRPr>
          </a:p>
          <a:p>
            <a:endParaRPr lang="en-US" dirty="0"/>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3">
                                            <p:txEl>
                                              <p:pRg st="0" end="0"/>
                                            </p:txEl>
                                          </p:spTgt>
                                        </p:tgtEl>
                                        <p:attrNameLst>
                                          <p:attrName>style.visibility</p:attrName>
                                        </p:attrNameLst>
                                      </p:cBhvr>
                                      <p:to>
                                        <p:strVal val="visible"/>
                                      </p:to>
                                    </p:set>
                                    <p:animEffect transition="in" filter="wipe(down)">
                                      <p:cBhvr>
                                        <p:cTn id="14" dur="500"/>
                                        <p:tgtEl>
                                          <p:spTgt spid="1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1000"/>
                                        <p:tgtEl>
                                          <p:spTgt spid="3">
                                            <p:txEl>
                                              <p:pRg st="0" end="0"/>
                                            </p:txEl>
                                          </p:spTgt>
                                        </p:tgtEl>
                                      </p:cBhvr>
                                    </p:animEffect>
                                    <p:anim calcmode="lin" valueType="num">
                                      <p:cBhvr>
                                        <p:cTn id="20"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fade">
                                      <p:cBhvr>
                                        <p:cTn id="24" dur="1000"/>
                                        <p:tgtEl>
                                          <p:spTgt spid="3">
                                            <p:txEl>
                                              <p:pRg st="1" end="1"/>
                                            </p:txEl>
                                          </p:spTgt>
                                        </p:tgtEl>
                                      </p:cBhvr>
                                    </p:animEffect>
                                    <p:anim calcmode="lin" valueType="num">
                                      <p:cBhvr>
                                        <p:cTn id="2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4">
                                            <p:txEl>
                                              <p:pRg st="0" end="0"/>
                                            </p:txEl>
                                          </p:spTgt>
                                        </p:tgtEl>
                                        <p:attrNameLst>
                                          <p:attrName>style.visibility</p:attrName>
                                        </p:attrNameLst>
                                      </p:cBhvr>
                                      <p:to>
                                        <p:strVal val="visible"/>
                                      </p:to>
                                    </p:set>
                                    <p:animEffect transition="in" filter="fade">
                                      <p:cBhvr>
                                        <p:cTn id="31" dur="1000"/>
                                        <p:tgtEl>
                                          <p:spTgt spid="14">
                                            <p:txEl>
                                              <p:pRg st="0" end="0"/>
                                            </p:txEl>
                                          </p:spTgt>
                                        </p:tgtEl>
                                      </p:cBhvr>
                                    </p:animEffect>
                                    <p:anim calcmode="lin" valueType="num">
                                      <p:cBhvr>
                                        <p:cTn id="32"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33" dur="1000" fill="hold"/>
                                        <p:tgtEl>
                                          <p:spTgt spid="14">
                                            <p:txEl>
                                              <p:pRg st="0" end="0"/>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4">
                                            <p:txEl>
                                              <p:pRg st="1" end="1"/>
                                            </p:txEl>
                                          </p:spTgt>
                                        </p:tgtEl>
                                        <p:attrNameLst>
                                          <p:attrName>style.visibility</p:attrName>
                                        </p:attrNameLst>
                                      </p:cBhvr>
                                      <p:to>
                                        <p:strVal val="visible"/>
                                      </p:to>
                                    </p:set>
                                    <p:animEffect transition="in" filter="fade">
                                      <p:cBhvr>
                                        <p:cTn id="36" dur="1000"/>
                                        <p:tgtEl>
                                          <p:spTgt spid="14">
                                            <p:txEl>
                                              <p:pRg st="1" end="1"/>
                                            </p:txEl>
                                          </p:spTgt>
                                        </p:tgtEl>
                                      </p:cBhvr>
                                    </p:animEffect>
                                    <p:anim calcmode="lin" valueType="num">
                                      <p:cBhvr>
                                        <p:cTn id="37"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38" dur="1000" fill="hold"/>
                                        <p:tgtEl>
                                          <p:spTgt spid="14">
                                            <p:txEl>
                                              <p:pRg st="1" end="1"/>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4">
                                            <p:txEl>
                                              <p:pRg st="2" end="2"/>
                                            </p:txEl>
                                          </p:spTgt>
                                        </p:tgtEl>
                                        <p:attrNameLst>
                                          <p:attrName>style.visibility</p:attrName>
                                        </p:attrNameLst>
                                      </p:cBhvr>
                                      <p:to>
                                        <p:strVal val="visible"/>
                                      </p:to>
                                    </p:set>
                                    <p:animEffect transition="in" filter="fade">
                                      <p:cBhvr>
                                        <p:cTn id="41" dur="1000"/>
                                        <p:tgtEl>
                                          <p:spTgt spid="14">
                                            <p:txEl>
                                              <p:pRg st="2" end="2"/>
                                            </p:txEl>
                                          </p:spTgt>
                                        </p:tgtEl>
                                      </p:cBhvr>
                                    </p:animEffect>
                                    <p:anim calcmode="lin" valueType="num">
                                      <p:cBhvr>
                                        <p:cTn id="4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43" dur="1000" fill="hold"/>
                                        <p:tgtEl>
                                          <p:spTgt spid="14">
                                            <p:txEl>
                                              <p:pRg st="2" end="2"/>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14">
                                            <p:txEl>
                                              <p:pRg st="3" end="3"/>
                                            </p:txEl>
                                          </p:spTgt>
                                        </p:tgtEl>
                                        <p:attrNameLst>
                                          <p:attrName>style.visibility</p:attrName>
                                        </p:attrNameLst>
                                      </p:cBhvr>
                                      <p:to>
                                        <p:strVal val="visible"/>
                                      </p:to>
                                    </p:set>
                                    <p:animEffect transition="in" filter="fade">
                                      <p:cBhvr>
                                        <p:cTn id="46" dur="1000"/>
                                        <p:tgtEl>
                                          <p:spTgt spid="14">
                                            <p:txEl>
                                              <p:pRg st="3" end="3"/>
                                            </p:txEl>
                                          </p:spTgt>
                                        </p:tgtEl>
                                      </p:cBhvr>
                                    </p:animEffect>
                                    <p:anim calcmode="lin" valueType="num">
                                      <p:cBhvr>
                                        <p:cTn id="47"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48" dur="1000" fill="hold"/>
                                        <p:tgtEl>
                                          <p:spTgt spid="14">
                                            <p:txEl>
                                              <p:pRg st="3" end="3"/>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14">
                                            <p:txEl>
                                              <p:pRg st="4" end="4"/>
                                            </p:txEl>
                                          </p:spTgt>
                                        </p:tgtEl>
                                        <p:attrNameLst>
                                          <p:attrName>style.visibility</p:attrName>
                                        </p:attrNameLst>
                                      </p:cBhvr>
                                      <p:to>
                                        <p:strVal val="visible"/>
                                      </p:to>
                                    </p:set>
                                    <p:animEffect transition="in" filter="fade">
                                      <p:cBhvr>
                                        <p:cTn id="51" dur="1000"/>
                                        <p:tgtEl>
                                          <p:spTgt spid="14">
                                            <p:txEl>
                                              <p:pRg st="4" end="4"/>
                                            </p:txEl>
                                          </p:spTgt>
                                        </p:tgtEl>
                                      </p:cBhvr>
                                    </p:animEffect>
                                    <p:anim calcmode="lin" valueType="num">
                                      <p:cBhvr>
                                        <p:cTn id="52"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53"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604F68-7177-4B23-BFEF-41E425643C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7" name="TextBox 6">
            <a:extLst>
              <a:ext uri="{FF2B5EF4-FFF2-40B4-BE49-F238E27FC236}">
                <a16:creationId xmlns:a16="http://schemas.microsoft.com/office/drawing/2014/main" id="{57601588-1B74-4321-84B4-4B9F7BED3D1F}"/>
              </a:ext>
            </a:extLst>
          </p:cNvPr>
          <p:cNvSpPr txBox="1"/>
          <p:nvPr/>
        </p:nvSpPr>
        <p:spPr>
          <a:xfrm>
            <a:off x="541538" y="1462506"/>
            <a:ext cx="6467878" cy="1600438"/>
          </a:xfrm>
          <a:prstGeom prst="rect">
            <a:avLst/>
          </a:prstGeom>
          <a:noFill/>
        </p:spPr>
        <p:txBody>
          <a:bodyPr wrap="square" rtlCol="0">
            <a:spAutoFit/>
          </a:bodyPr>
          <a:lstStyle/>
          <a:p>
            <a:r>
              <a:rPr lang="en-US" sz="2000" b="1" dirty="0">
                <a:solidFill>
                  <a:srgbClr val="047954"/>
                </a:solidFill>
              </a:rPr>
              <a:t>Relevance to Our Project:</a:t>
            </a:r>
          </a:p>
          <a:p>
            <a:pPr>
              <a:buFont typeface="Arial" panose="020B0604020202020204" pitchFamily="34" charset="0"/>
              <a:buChar char="•"/>
            </a:pPr>
            <a:r>
              <a:rPr lang="en-US" sz="1600" dirty="0"/>
              <a:t>Our project adopts a similar approach by integrating data analysis to   uncover patterns in downtime.</a:t>
            </a:r>
          </a:p>
          <a:p>
            <a:pPr>
              <a:buFont typeface="Arial" panose="020B0604020202020204" pitchFamily="34" charset="0"/>
              <a:buChar char="•"/>
            </a:pPr>
            <a:r>
              <a:rPr lang="en-US" sz="1600" dirty="0"/>
              <a:t>By analyzing downtime across products, operators, and shifts, we aim to provide actionable insights to minimize disruptions.</a:t>
            </a:r>
          </a:p>
          <a:p>
            <a:r>
              <a:rPr lang="en-US" dirty="0"/>
              <a:t>.</a:t>
            </a:r>
          </a:p>
        </p:txBody>
      </p:sp>
      <p:sp>
        <p:nvSpPr>
          <p:cNvPr id="4" name="TextBox 3">
            <a:extLst>
              <a:ext uri="{FF2B5EF4-FFF2-40B4-BE49-F238E27FC236}">
                <a16:creationId xmlns:a16="http://schemas.microsoft.com/office/drawing/2014/main" id="{84B94DAF-A46B-4D4B-91E5-3C7943EF8164}"/>
              </a:ext>
            </a:extLst>
          </p:cNvPr>
          <p:cNvSpPr txBox="1"/>
          <p:nvPr/>
        </p:nvSpPr>
        <p:spPr>
          <a:xfrm>
            <a:off x="1559858" y="6356350"/>
            <a:ext cx="1425389" cy="553998"/>
          </a:xfrm>
          <a:prstGeom prst="rect">
            <a:avLst/>
          </a:prstGeom>
          <a:noFill/>
        </p:spPr>
        <p:txBody>
          <a:bodyPr wrap="square" rtlCol="0">
            <a:spAutoFit/>
          </a:bodyPr>
          <a:lstStyle/>
          <a:p>
            <a:r>
              <a:rPr lang="en-US" sz="1600">
                <a:solidFill>
                  <a:schemeClr val="bg1"/>
                </a:solidFill>
                <a:latin typeface="Constantia" panose="02030602050306030303" pitchFamily="18" charset="0"/>
              </a:rPr>
              <a:t>9 may 2025</a:t>
            </a:r>
          </a:p>
          <a:p>
            <a:endParaRPr lang="en-US"/>
          </a:p>
        </p:txBody>
      </p:sp>
    </p:spTree>
    <p:extLst>
      <p:ext uri="{BB962C8B-B14F-4D97-AF65-F5344CB8AC3E}">
        <p14:creationId xmlns:p14="http://schemas.microsoft.com/office/powerpoint/2010/main" val="162250556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00"/>
                                        <p:tgtEl>
                                          <p:spTgt spid="7">
                                            <p:txEl>
                                              <p:pRg st="2" end="2"/>
                                            </p:txEl>
                                          </p:spTgt>
                                        </p:tgtEl>
                                      </p:cBhvr>
                                    </p:animEffect>
                                    <p:anim calcmode="lin" valueType="num">
                                      <p:cBhvr>
                                        <p:cTn id="1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1000"/>
                                        <p:tgtEl>
                                          <p:spTgt spid="7">
                                            <p:txEl>
                                              <p:pRg st="3" end="3"/>
                                            </p:txEl>
                                          </p:spTgt>
                                        </p:tgtEl>
                                      </p:cBhvr>
                                    </p:animEffect>
                                    <p:anim calcmode="lin" valueType="num">
                                      <p:cBhvr>
                                        <p:cTn id="2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B3317E3A-03EF-E4C5-319A-233FAE35B132}"/>
            </a:ext>
          </a:extLst>
        </p:cNvPr>
        <p:cNvGrpSpPr/>
        <p:nvPr/>
      </p:nvGrpSpPr>
      <p:grpSpPr>
        <a:xfrm>
          <a:off x="0" y="0"/>
          <a:ext cx="0" cy="0"/>
          <a:chOff x="0" y="0"/>
          <a:chExt cx="0" cy="0"/>
        </a:xfrm>
      </p:grpSpPr>
      <p:sp>
        <p:nvSpPr>
          <p:cNvPr id="191" name="Google Shape;191;p6">
            <a:extLst>
              <a:ext uri="{FF2B5EF4-FFF2-40B4-BE49-F238E27FC236}">
                <a16:creationId xmlns:a16="http://schemas.microsoft.com/office/drawing/2014/main" id="{DE3795AE-FB14-570B-B5CB-F4D2CAE1D811}"/>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endParaRPr lang="en-US" dirty="0">
              <a:solidFill>
                <a:schemeClr val="bg1"/>
              </a:solidFill>
              <a:latin typeface="Constantia" panose="02030602050306030303" pitchFamily="18" charset="0"/>
            </a:endParaRPr>
          </a:p>
        </p:txBody>
      </p:sp>
      <p:sp>
        <p:nvSpPr>
          <p:cNvPr id="193" name="Google Shape;193;p6">
            <a:extLst>
              <a:ext uri="{FF2B5EF4-FFF2-40B4-BE49-F238E27FC236}">
                <a16:creationId xmlns:a16="http://schemas.microsoft.com/office/drawing/2014/main" id="{AF137ADC-5D7B-ACAA-5506-FD013C2ECFC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pic>
        <p:nvPicPr>
          <p:cNvPr id="194" name="Google Shape;194;p6" title="download.png">
            <a:extLst>
              <a:ext uri="{FF2B5EF4-FFF2-40B4-BE49-F238E27FC236}">
                <a16:creationId xmlns:a16="http://schemas.microsoft.com/office/drawing/2014/main" id="{771E7B87-2F56-9B17-0B37-7D5380C63236}"/>
              </a:ext>
            </a:extLst>
          </p:cNvPr>
          <p:cNvPicPr preferRelativeResize="0"/>
          <p:nvPr/>
        </p:nvPicPr>
        <p:blipFill rotWithShape="1">
          <a:blip r:embed="rId3">
            <a:alphaModFix/>
          </a:blip>
          <a:src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F3D1B3BF-9257-EC1E-B941-476983D7B1DA}"/>
              </a:ext>
            </a:extLst>
          </p:cNvPr>
          <p:cNvSpPr txBox="1"/>
          <p:nvPr/>
        </p:nvSpPr>
        <p:spPr>
          <a:xfrm>
            <a:off x="4836539" y="320758"/>
            <a:ext cx="1962397" cy="461665"/>
          </a:xfrm>
          <a:prstGeom prst="rect">
            <a:avLst/>
          </a:prstGeom>
          <a:noFill/>
        </p:spPr>
        <p:txBody>
          <a:bodyPr wrap="none" rtlCol="0">
            <a:spAutoFit/>
          </a:bodyPr>
          <a:lstStyle/>
          <a:p>
            <a:r>
              <a:rPr lang="en-US" sz="2400" b="1" dirty="0">
                <a:solidFill>
                  <a:schemeClr val="accent6">
                    <a:lumMod val="50000"/>
                  </a:schemeClr>
                </a:solidFill>
              </a:rPr>
              <a:t>Project Plan</a:t>
            </a:r>
          </a:p>
        </p:txBody>
      </p:sp>
      <p:graphicFrame>
        <p:nvGraphicFramePr>
          <p:cNvPr id="6" name="Table 5">
            <a:extLst>
              <a:ext uri="{FF2B5EF4-FFF2-40B4-BE49-F238E27FC236}">
                <a16:creationId xmlns:a16="http://schemas.microsoft.com/office/drawing/2014/main" id="{D53E28B5-63A7-48F2-9F20-F0079AF4294D}"/>
              </a:ext>
            </a:extLst>
          </p:cNvPr>
          <p:cNvGraphicFramePr>
            <a:graphicFrameLocks noGrp="1"/>
          </p:cNvGraphicFramePr>
          <p:nvPr>
            <p:extLst>
              <p:ext uri="{D42A27DB-BD31-4B8C-83A1-F6EECF244321}">
                <p14:modId xmlns:p14="http://schemas.microsoft.com/office/powerpoint/2010/main" val="692721100"/>
              </p:ext>
            </p:extLst>
          </p:nvPr>
        </p:nvGraphicFramePr>
        <p:xfrm>
          <a:off x="1045029" y="1074198"/>
          <a:ext cx="10234385" cy="5139988"/>
        </p:xfrm>
        <a:graphic>
          <a:graphicData uri="http://schemas.openxmlformats.org/drawingml/2006/table">
            <a:tbl>
              <a:tblPr/>
              <a:tblGrid>
                <a:gridCol w="2509805">
                  <a:extLst>
                    <a:ext uri="{9D8B030D-6E8A-4147-A177-3AD203B41FA5}">
                      <a16:colId xmlns:a16="http://schemas.microsoft.com/office/drawing/2014/main" val="3554802597"/>
                    </a:ext>
                  </a:extLst>
                </a:gridCol>
                <a:gridCol w="2574860">
                  <a:extLst>
                    <a:ext uri="{9D8B030D-6E8A-4147-A177-3AD203B41FA5}">
                      <a16:colId xmlns:a16="http://schemas.microsoft.com/office/drawing/2014/main" val="3717657177"/>
                    </a:ext>
                  </a:extLst>
                </a:gridCol>
                <a:gridCol w="2574860">
                  <a:extLst>
                    <a:ext uri="{9D8B030D-6E8A-4147-A177-3AD203B41FA5}">
                      <a16:colId xmlns:a16="http://schemas.microsoft.com/office/drawing/2014/main" val="3698586412"/>
                    </a:ext>
                  </a:extLst>
                </a:gridCol>
                <a:gridCol w="2574860">
                  <a:extLst>
                    <a:ext uri="{9D8B030D-6E8A-4147-A177-3AD203B41FA5}">
                      <a16:colId xmlns:a16="http://schemas.microsoft.com/office/drawing/2014/main" val="379587930"/>
                    </a:ext>
                  </a:extLst>
                </a:gridCol>
              </a:tblGrid>
              <a:tr h="231696">
                <a:tc>
                  <a:txBody>
                    <a:bodyPr/>
                    <a:lstStyle/>
                    <a:p>
                      <a:pPr algn="l"/>
                      <a:r>
                        <a:rPr lang="en-US" sz="1100" b="1" dirty="0">
                          <a:effectLst/>
                        </a:rPr>
                        <a:t>Phase</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b="1">
                          <a:effectLst/>
                        </a:rPr>
                        <a:t>Tasks</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b="1">
                          <a:effectLst/>
                        </a:rPr>
                        <a:t>Duration</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b="1">
                          <a:effectLst/>
                        </a:rPr>
                        <a:t>Milestone</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386440048"/>
                  </a:ext>
                </a:extLst>
              </a:tr>
              <a:tr h="574776">
                <a:tc>
                  <a:txBody>
                    <a:bodyPr/>
                    <a:lstStyle/>
                    <a:p>
                      <a:pPr algn="l"/>
                      <a:r>
                        <a:rPr lang="en-US" sz="1100" b="1" dirty="0">
                          <a:effectLst/>
                        </a:rPr>
                        <a:t>1 – Data Collection</a:t>
                      </a:r>
                      <a:endParaRPr lang="en-US" sz="1100" dirty="0">
                        <a:effectLst/>
                      </a:endParaRP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dirty="0">
                          <a:effectLst/>
                        </a:rPr>
                        <a:t>Gather downtime logs, machine details, shift schedules, operator info, and maintenance records</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dirty="0">
                          <a:effectLst/>
                        </a:rPr>
                        <a:t>Week 1</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a:effectLst/>
                        </a:rPr>
                        <a:t>Raw dataset collected</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535196313"/>
                  </a:ext>
                </a:extLst>
              </a:tr>
              <a:tr h="915231">
                <a:tc>
                  <a:txBody>
                    <a:bodyPr/>
                    <a:lstStyle/>
                    <a:p>
                      <a:pPr algn="l"/>
                      <a:r>
                        <a:rPr lang="en-US" sz="1100" b="1" dirty="0">
                          <a:effectLst/>
                        </a:rPr>
                        <a:t>2 – Data Cleaning &amp; Transformation</a:t>
                      </a:r>
                      <a:endParaRPr lang="en-US" sz="1100" dirty="0">
                        <a:effectLst/>
                      </a:endParaRP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dirty="0">
                          <a:effectLst/>
                        </a:rPr>
                        <a:t>Handle missing timestamps, remove duplicates, standardize downtime reasons, format date/time, merge with dimension tables (machine, shift, operator)</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dirty="0">
                          <a:effectLst/>
                        </a:rPr>
                        <a:t>Week 2</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a:effectLst/>
                        </a:rPr>
                        <a:t>Cleaned and transformed dataset ready</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686654711"/>
                  </a:ext>
                </a:extLst>
              </a:tr>
              <a:tr h="1093927">
                <a:tc>
                  <a:txBody>
                    <a:bodyPr/>
                    <a:lstStyle/>
                    <a:p>
                      <a:pPr algn="l"/>
                      <a:r>
                        <a:rPr lang="en-US" sz="1100" b="1" dirty="0">
                          <a:effectLst/>
                        </a:rPr>
                        <a:t>3 – Data Modeling</a:t>
                      </a:r>
                      <a:endParaRPr lang="en-US" sz="1100" dirty="0">
                        <a:effectLst/>
                      </a:endParaRP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dirty="0">
                          <a:effectLst/>
                        </a:rPr>
                        <a:t>Build relationships between Fact</a:t>
                      </a:r>
                      <a:r>
                        <a:rPr lang="ar-EG" sz="1100" dirty="0">
                          <a:effectLst/>
                        </a:rPr>
                        <a:t> </a:t>
                      </a:r>
                      <a:r>
                        <a:rPr lang="en-US" sz="1100" dirty="0">
                          <a:effectLst/>
                        </a:rPr>
                        <a:t>Downtime, Dim</a:t>
                      </a:r>
                      <a:r>
                        <a:rPr lang="ar-EG" sz="1100" dirty="0">
                          <a:effectLst/>
                        </a:rPr>
                        <a:t> </a:t>
                      </a:r>
                      <a:r>
                        <a:rPr lang="en-US" sz="1100" dirty="0">
                          <a:effectLst/>
                        </a:rPr>
                        <a:t>Machine, Dim</a:t>
                      </a:r>
                      <a:r>
                        <a:rPr lang="ar-EG" sz="1100" dirty="0">
                          <a:effectLst/>
                        </a:rPr>
                        <a:t> </a:t>
                      </a:r>
                      <a:r>
                        <a:rPr lang="en-US" sz="1100" dirty="0">
                          <a:effectLst/>
                        </a:rPr>
                        <a:t>Shift, Dim</a:t>
                      </a:r>
                      <a:r>
                        <a:rPr lang="ar-EG" sz="1100" dirty="0">
                          <a:effectLst/>
                        </a:rPr>
                        <a:t> </a:t>
                      </a:r>
                      <a:r>
                        <a:rPr lang="en-US" sz="1100" dirty="0">
                          <a:effectLst/>
                        </a:rPr>
                        <a:t>Operator, and Dim</a:t>
                      </a:r>
                      <a:r>
                        <a:rPr lang="ar-EG" sz="1100" dirty="0">
                          <a:effectLst/>
                        </a:rPr>
                        <a:t> </a:t>
                      </a:r>
                      <a:r>
                        <a:rPr lang="en-US" sz="1100" dirty="0">
                          <a:effectLst/>
                        </a:rPr>
                        <a:t>Line tables; create calculated columns and DAX measures (e.g., Total Downtime, Avg Downtime, OEE)</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dirty="0">
                          <a:effectLst/>
                        </a:rPr>
                        <a:t>Week 3</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a:effectLst/>
                        </a:rPr>
                        <a:t>Data model and key metrics established</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640229907"/>
                  </a:ext>
                </a:extLst>
              </a:tr>
              <a:tr h="574776">
                <a:tc>
                  <a:txBody>
                    <a:bodyPr/>
                    <a:lstStyle/>
                    <a:p>
                      <a:pPr algn="l"/>
                      <a:r>
                        <a:rPr lang="en-US" sz="1100" b="1">
                          <a:effectLst/>
                        </a:rPr>
                        <a:t>4 – Dashboard Development</a:t>
                      </a:r>
                      <a:endParaRPr lang="en-US" sz="1100">
                        <a:effectLst/>
                      </a:endParaRP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a:effectLst/>
                        </a:rPr>
                        <a:t>Design Power BI dashboards showing downtime by machine, line, shift, reason, and operator; integrate KPIs</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dirty="0">
                          <a:effectLst/>
                        </a:rPr>
                        <a:t>Week 4</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dirty="0">
                          <a:effectLst/>
                        </a:rPr>
                        <a:t>First version of Power BI dashboard ready</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514910339"/>
                  </a:ext>
                </a:extLst>
              </a:tr>
              <a:tr h="834351">
                <a:tc>
                  <a:txBody>
                    <a:bodyPr/>
                    <a:lstStyle/>
                    <a:p>
                      <a:pPr algn="l"/>
                      <a:r>
                        <a:rPr lang="en-US" sz="1100" b="1">
                          <a:effectLst/>
                        </a:rPr>
                        <a:t>5 – Review &amp; Refinement</a:t>
                      </a:r>
                      <a:endParaRPr lang="en-US" sz="1100">
                        <a:effectLst/>
                      </a:endParaRP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dirty="0">
                          <a:effectLst/>
                        </a:rPr>
                        <a:t>Validate data accuracy, enhance visuals, optimize DAX measures, apply consistent color themes, and add interactivity (filters, drill-throughs)</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a:effectLst/>
                        </a:rPr>
                        <a:t>Week 5</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dirty="0">
                          <a:effectLst/>
                        </a:rPr>
                        <a:t>Final, polished dashboard completed</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744266193"/>
                  </a:ext>
                </a:extLst>
              </a:tr>
              <a:tr h="915231">
                <a:tc>
                  <a:txBody>
                    <a:bodyPr/>
                    <a:lstStyle/>
                    <a:p>
                      <a:pPr algn="l"/>
                      <a:r>
                        <a:rPr lang="en-US" sz="1100" b="1" dirty="0">
                          <a:effectLst/>
                        </a:rPr>
                        <a:t>6 – Presentation &amp; Documentation</a:t>
                      </a:r>
                      <a:endParaRPr lang="en-US" sz="1100" dirty="0">
                        <a:effectLst/>
                      </a:endParaRP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dirty="0">
                          <a:effectLst/>
                        </a:rPr>
                        <a:t>Create project documentation (methodology, insights, recommendations), prepare presentation slides, and present findings to stakeholders</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a:effectLst/>
                        </a:rPr>
                        <a:t>Week 6</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dirty="0">
                          <a:effectLst/>
                        </a:rPr>
                        <a:t>Project completed and presented</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952224088"/>
                  </a:ext>
                </a:extLst>
              </a:tr>
            </a:tbl>
          </a:graphicData>
        </a:graphic>
      </p:graphicFrame>
    </p:spTree>
    <p:extLst>
      <p:ext uri="{BB962C8B-B14F-4D97-AF65-F5344CB8AC3E}">
        <p14:creationId xmlns:p14="http://schemas.microsoft.com/office/powerpoint/2010/main" val="282313513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4A4B9926-9C16-E7C9-308C-8FC8BBD3328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ADF4508-8D5C-4F70-B542-419646926C05}"/>
              </a:ext>
            </a:extLst>
          </p:cNvPr>
          <p:cNvSpPr>
            <a:spLocks noGrp="1"/>
          </p:cNvSpPr>
          <p:nvPr>
            <p:ph type="title"/>
          </p:nvPr>
        </p:nvSpPr>
        <p:spPr>
          <a:xfrm>
            <a:off x="3936741" y="961810"/>
            <a:ext cx="9347718" cy="429598"/>
          </a:xfrm>
        </p:spPr>
        <p:txBody>
          <a:bodyPr>
            <a:normAutofit fontScale="90000"/>
          </a:bodyPr>
          <a:lstStyle/>
          <a:p>
            <a:r>
              <a:rPr lang="en-US" sz="2700" b="1" dirty="0">
                <a:solidFill>
                  <a:schemeClr val="accent6">
                    <a:lumMod val="50000"/>
                  </a:schemeClr>
                </a:solidFill>
              </a:rPr>
              <a:t>Database Design</a:t>
            </a:r>
            <a:br>
              <a:rPr lang="en-US" sz="4400" b="1" dirty="0">
                <a:solidFill>
                  <a:schemeClr val="accent6">
                    <a:lumMod val="50000"/>
                  </a:schemeClr>
                </a:solidFill>
              </a:rPr>
            </a:br>
            <a:endParaRPr lang="en-US" dirty="0"/>
          </a:p>
        </p:txBody>
      </p:sp>
      <p:sp>
        <p:nvSpPr>
          <p:cNvPr id="9" name="Text Placeholder 8">
            <a:extLst>
              <a:ext uri="{FF2B5EF4-FFF2-40B4-BE49-F238E27FC236}">
                <a16:creationId xmlns:a16="http://schemas.microsoft.com/office/drawing/2014/main" id="{625D53B4-069C-4258-8A26-B4DBA3748ED6}"/>
              </a:ext>
            </a:extLst>
          </p:cNvPr>
          <p:cNvSpPr>
            <a:spLocks noGrp="1"/>
          </p:cNvSpPr>
          <p:nvPr>
            <p:ph type="body" idx="1"/>
          </p:nvPr>
        </p:nvSpPr>
        <p:spPr>
          <a:xfrm>
            <a:off x="838200" y="1391408"/>
            <a:ext cx="5181600" cy="4876227"/>
          </a:xfrm>
        </p:spPr>
        <p:txBody>
          <a:bodyPr>
            <a:noAutofit/>
          </a:bodyPr>
          <a:lstStyle/>
          <a:p>
            <a:r>
              <a:rPr lang="en-US" sz="1400" b="1" dirty="0">
                <a:latin typeface="+mn-lt"/>
              </a:rPr>
              <a:t>Fact Table: Fact</a:t>
            </a:r>
            <a:r>
              <a:rPr lang="ar-EG" sz="1400" b="1" dirty="0">
                <a:latin typeface="+mn-lt"/>
              </a:rPr>
              <a:t> </a:t>
            </a:r>
            <a:r>
              <a:rPr lang="en-US" sz="1400" b="1" dirty="0">
                <a:latin typeface="+mn-lt"/>
              </a:rPr>
              <a:t>Line</a:t>
            </a:r>
            <a:r>
              <a:rPr lang="ar-EG" sz="1400" b="1" dirty="0">
                <a:latin typeface="+mn-lt"/>
              </a:rPr>
              <a:t> </a:t>
            </a:r>
            <a:r>
              <a:rPr lang="en-US" sz="1400" b="1" dirty="0">
                <a:latin typeface="+mn-lt"/>
              </a:rPr>
              <a:t>Downtime</a:t>
            </a:r>
          </a:p>
          <a:p>
            <a:r>
              <a:rPr lang="en-US" sz="1400" b="1" dirty="0">
                <a:latin typeface="+mn-lt"/>
              </a:rPr>
              <a:t>(includes downtime duration, units lost, factor keys, etc.)</a:t>
            </a:r>
          </a:p>
          <a:p>
            <a:r>
              <a:rPr lang="en-US" sz="1400" b="1" dirty="0">
                <a:latin typeface="+mn-lt"/>
              </a:rPr>
              <a:t>Dimension Tables:</a:t>
            </a:r>
          </a:p>
          <a:p>
            <a:endParaRPr lang="en-US" sz="1400" b="1" dirty="0">
              <a:latin typeface="+mn-lt"/>
            </a:endParaRPr>
          </a:p>
          <a:p>
            <a:r>
              <a:rPr lang="en-US" sz="1400" b="1" dirty="0">
                <a:latin typeface="+mn-lt"/>
              </a:rPr>
              <a:t>Dim</a:t>
            </a:r>
            <a:r>
              <a:rPr lang="ar-EG" sz="1400" b="1" dirty="0">
                <a:latin typeface="+mn-lt"/>
              </a:rPr>
              <a:t> </a:t>
            </a:r>
            <a:r>
              <a:rPr lang="en-US" sz="1400" b="1" dirty="0">
                <a:latin typeface="+mn-lt"/>
              </a:rPr>
              <a:t>Line — Line details</a:t>
            </a:r>
          </a:p>
          <a:p>
            <a:r>
              <a:rPr lang="en-US" sz="1400" b="1" dirty="0">
                <a:latin typeface="+mn-lt"/>
              </a:rPr>
              <a:t>Dim</a:t>
            </a:r>
            <a:r>
              <a:rPr lang="ar-EG" sz="1400" b="1" dirty="0">
                <a:latin typeface="+mn-lt"/>
              </a:rPr>
              <a:t> </a:t>
            </a:r>
            <a:r>
              <a:rPr lang="en-US" sz="1400" b="1" dirty="0">
                <a:latin typeface="+mn-lt"/>
              </a:rPr>
              <a:t>Product — Product information</a:t>
            </a:r>
          </a:p>
          <a:p>
            <a:r>
              <a:rPr lang="en-US" sz="1400" b="1" dirty="0">
                <a:latin typeface="+mn-lt"/>
              </a:rPr>
              <a:t>Dim</a:t>
            </a:r>
            <a:r>
              <a:rPr lang="ar-EG" sz="1400" b="1" dirty="0">
                <a:latin typeface="+mn-lt"/>
              </a:rPr>
              <a:t> </a:t>
            </a:r>
            <a:r>
              <a:rPr lang="en-US" sz="1400" b="1" dirty="0">
                <a:latin typeface="+mn-lt"/>
              </a:rPr>
              <a:t>Operator — Operator details</a:t>
            </a:r>
          </a:p>
          <a:p>
            <a:r>
              <a:rPr lang="en-US" sz="1400" b="1" dirty="0">
                <a:latin typeface="+mn-lt"/>
              </a:rPr>
              <a:t>Dim</a:t>
            </a:r>
            <a:r>
              <a:rPr lang="ar-EG" sz="1400" b="1" dirty="0">
                <a:latin typeface="+mn-lt"/>
              </a:rPr>
              <a:t> </a:t>
            </a:r>
            <a:r>
              <a:rPr lang="en-US" sz="1400" b="1" dirty="0">
                <a:latin typeface="+mn-lt"/>
              </a:rPr>
              <a:t>Date — Date/time attributes</a:t>
            </a:r>
          </a:p>
          <a:p>
            <a:r>
              <a:rPr lang="en-US" sz="1400" b="1" dirty="0">
                <a:latin typeface="+mn-lt"/>
              </a:rPr>
              <a:t>Dim</a:t>
            </a:r>
            <a:r>
              <a:rPr lang="ar-EG" sz="1400" b="1" dirty="0">
                <a:latin typeface="+mn-lt"/>
              </a:rPr>
              <a:t> </a:t>
            </a:r>
            <a:r>
              <a:rPr lang="en-US" sz="1400" b="1" dirty="0">
                <a:latin typeface="+mn-lt"/>
              </a:rPr>
              <a:t>Downtime</a:t>
            </a:r>
            <a:r>
              <a:rPr lang="ar-EG" sz="1400" b="1" dirty="0">
                <a:latin typeface="+mn-lt"/>
              </a:rPr>
              <a:t> </a:t>
            </a:r>
            <a:r>
              <a:rPr lang="en-US" sz="1400" b="1" dirty="0">
                <a:latin typeface="+mn-lt"/>
              </a:rPr>
              <a:t>Factor — Cause or category of downtime</a:t>
            </a:r>
          </a:p>
          <a:p>
            <a:r>
              <a:rPr lang="en-US" sz="1400" b="1" dirty="0">
                <a:latin typeface="+mn-lt"/>
              </a:rPr>
              <a:t> Schema</a:t>
            </a:r>
          </a:p>
          <a:p>
            <a:r>
              <a:rPr lang="en-US" sz="1400" b="1" dirty="0">
                <a:latin typeface="+mn-lt"/>
              </a:rPr>
              <a:t>Relationships follow a Star Schema,</a:t>
            </a:r>
          </a:p>
          <a:p>
            <a:r>
              <a:rPr lang="en-US" sz="1400" b="1" dirty="0">
                <a:latin typeface="+mn-lt"/>
              </a:rPr>
              <a:t>where Fact</a:t>
            </a:r>
            <a:r>
              <a:rPr lang="ar-EG" sz="1400" b="1" dirty="0">
                <a:latin typeface="+mn-lt"/>
              </a:rPr>
              <a:t> </a:t>
            </a:r>
            <a:r>
              <a:rPr lang="en-US" sz="1400" b="1" dirty="0">
                <a:latin typeface="+mn-lt"/>
              </a:rPr>
              <a:t>Line</a:t>
            </a:r>
            <a:r>
              <a:rPr lang="ar-EG" sz="1400" b="1" dirty="0">
                <a:latin typeface="+mn-lt"/>
              </a:rPr>
              <a:t> </a:t>
            </a:r>
            <a:r>
              <a:rPr lang="en-US" sz="1400" b="1" dirty="0">
                <a:latin typeface="+mn-lt"/>
              </a:rPr>
              <a:t>Downtime connects to all dimension tables through their keys.</a:t>
            </a:r>
          </a:p>
        </p:txBody>
      </p:sp>
      <p:sp>
        <p:nvSpPr>
          <p:cNvPr id="10" name="Text Placeholder 9">
            <a:extLst>
              <a:ext uri="{FF2B5EF4-FFF2-40B4-BE49-F238E27FC236}">
                <a16:creationId xmlns:a16="http://schemas.microsoft.com/office/drawing/2014/main" id="{CE2D6C55-098D-41D8-B244-1459E8A09B19}"/>
              </a:ext>
            </a:extLst>
          </p:cNvPr>
          <p:cNvSpPr>
            <a:spLocks noGrp="1"/>
          </p:cNvSpPr>
          <p:nvPr>
            <p:ph type="body" idx="2"/>
          </p:nvPr>
        </p:nvSpPr>
        <p:spPr/>
        <p:txBody>
          <a:bodyPr/>
          <a:lstStyle/>
          <a:p>
            <a:endParaRPr lang="en-US" dirty="0"/>
          </a:p>
        </p:txBody>
      </p:sp>
      <p:sp>
        <p:nvSpPr>
          <p:cNvPr id="191" name="Google Shape;191;p6">
            <a:extLst>
              <a:ext uri="{FF2B5EF4-FFF2-40B4-BE49-F238E27FC236}">
                <a16:creationId xmlns:a16="http://schemas.microsoft.com/office/drawing/2014/main" id="{7D59A889-0F4D-5680-0665-2D0547A8843E}"/>
              </a:ext>
            </a:extLst>
          </p:cNvPr>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endParaRPr lang="en-US" dirty="0">
              <a:solidFill>
                <a:schemeClr val="bg1"/>
              </a:solidFill>
              <a:latin typeface="Constantia" panose="02030602050306030303" pitchFamily="18" charset="0"/>
            </a:endParaRPr>
          </a:p>
        </p:txBody>
      </p:sp>
      <p:sp>
        <p:nvSpPr>
          <p:cNvPr id="193" name="Google Shape;193;p6">
            <a:extLst>
              <a:ext uri="{FF2B5EF4-FFF2-40B4-BE49-F238E27FC236}">
                <a16:creationId xmlns:a16="http://schemas.microsoft.com/office/drawing/2014/main" id="{263981AA-2C04-6D9A-E5B3-2CCA236FE627}"/>
              </a:ext>
            </a:extLst>
          </p:cNvPr>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pic>
        <p:nvPicPr>
          <p:cNvPr id="194" name="Google Shape;194;p6" title="download.png">
            <a:extLst>
              <a:ext uri="{FF2B5EF4-FFF2-40B4-BE49-F238E27FC236}">
                <a16:creationId xmlns:a16="http://schemas.microsoft.com/office/drawing/2014/main" id="{F0840514-76D0-B2B6-2377-7D52C0461795}"/>
              </a:ext>
            </a:extLst>
          </p:cNvPr>
          <p:cNvPicPr preferRelativeResize="0"/>
          <p:nvPr/>
        </p:nvPicPr>
        <p:blipFill rotWithShape="1">
          <a:blip r:embed="rId3">
            <a:alphaModFix/>
          </a:blip>
          <a:srcRect/>
          <a:stretch/>
        </p:blipFill>
        <p:spPr>
          <a:xfrm>
            <a:off x="9190825" y="6356350"/>
            <a:ext cx="903191" cy="365125"/>
          </a:xfrm>
          <a:prstGeom prst="rect">
            <a:avLst/>
          </a:prstGeom>
          <a:noFill/>
          <a:ln>
            <a:noFill/>
          </a:ln>
        </p:spPr>
      </p:pic>
      <p:pic>
        <p:nvPicPr>
          <p:cNvPr id="4" name="Picture 3">
            <a:extLst>
              <a:ext uri="{FF2B5EF4-FFF2-40B4-BE49-F238E27FC236}">
                <a16:creationId xmlns:a16="http://schemas.microsoft.com/office/drawing/2014/main" id="{542D9750-19CE-4EF8-8322-266EF405FE70}"/>
              </a:ext>
            </a:extLst>
          </p:cNvPr>
          <p:cNvPicPr>
            <a:picLocks noChangeAspect="1"/>
          </p:cNvPicPr>
          <p:nvPr/>
        </p:nvPicPr>
        <p:blipFill rotWithShape="1">
          <a:blip r:embed="rId4"/>
          <a:srcRect l="4563" r="3254"/>
          <a:stretch/>
        </p:blipFill>
        <p:spPr>
          <a:xfrm>
            <a:off x="6411897" y="1570795"/>
            <a:ext cx="5181600" cy="3741576"/>
          </a:xfrm>
          <a:prstGeom prst="rect">
            <a:avLst/>
          </a:prstGeom>
        </p:spPr>
      </p:pic>
    </p:spTree>
    <p:extLst>
      <p:ext uri="{BB962C8B-B14F-4D97-AF65-F5344CB8AC3E}">
        <p14:creationId xmlns:p14="http://schemas.microsoft.com/office/powerpoint/2010/main" val="174011194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91" name="Google Shape;191;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endParaRPr lang="en-US" dirty="0">
              <a:solidFill>
                <a:schemeClr val="bg1"/>
              </a:solidFill>
              <a:latin typeface="Constantia" panose="02030602050306030303" pitchFamily="18" charset="0"/>
            </a:endParaRPr>
          </a:p>
        </p:txBody>
      </p:sp>
      <p:sp>
        <p:nvSpPr>
          <p:cNvPr id="193" name="Google Shape;193;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pic>
        <p:nvPicPr>
          <p:cNvPr id="194" name="Google Shape;194;p6" title="download.png"/>
          <p:cNvPicPr preferRelativeResize="0"/>
          <p:nvPr/>
        </p:nvPicPr>
        <p:blipFill rotWithShape="1">
          <a:blip r:embed="rId3">
            <a:alphaModFix/>
          </a:blip>
          <a:srcRect/>
          <a:stretch/>
        </p:blipFill>
        <p:spPr>
          <a:xfrm>
            <a:off x="9190825" y="6356350"/>
            <a:ext cx="903191" cy="365125"/>
          </a:xfrm>
          <a:prstGeom prst="rect">
            <a:avLst/>
          </a:prstGeom>
          <a:noFill/>
          <a:ln>
            <a:noFill/>
          </a:ln>
        </p:spPr>
      </p:pic>
      <p:sp>
        <p:nvSpPr>
          <p:cNvPr id="4" name="TextBox 3">
            <a:extLst>
              <a:ext uri="{FF2B5EF4-FFF2-40B4-BE49-F238E27FC236}">
                <a16:creationId xmlns:a16="http://schemas.microsoft.com/office/drawing/2014/main" id="{CE591361-0E72-49AE-BC28-7823759A9D2C}"/>
              </a:ext>
            </a:extLst>
          </p:cNvPr>
          <p:cNvSpPr txBox="1"/>
          <p:nvPr/>
        </p:nvSpPr>
        <p:spPr>
          <a:xfrm>
            <a:off x="437444" y="1378392"/>
            <a:ext cx="5238427" cy="4401205"/>
          </a:xfrm>
          <a:prstGeom prst="rect">
            <a:avLst/>
          </a:prstGeom>
          <a:noFill/>
        </p:spPr>
        <p:txBody>
          <a:bodyPr wrap="square" lIns="91440" tIns="45720" rIns="91440" bIns="45720" rtlCol="0" anchor="t">
            <a:spAutoFit/>
          </a:bodyPr>
          <a:lstStyle/>
          <a:p>
            <a:r>
              <a:rPr lang="en-US" sz="2000" dirty="0">
                <a:solidFill>
                  <a:schemeClr val="tx1"/>
                </a:solidFill>
              </a:rPr>
              <a:t>Different units in size column are detected</a:t>
            </a:r>
          </a:p>
          <a:p>
            <a:endParaRPr lang="en-US" sz="2400" b="1" dirty="0">
              <a:solidFill>
                <a:schemeClr val="accent6">
                  <a:lumMod val="50000"/>
                </a:schemeClr>
              </a:solidFill>
            </a:endParaRPr>
          </a:p>
          <a:p>
            <a:r>
              <a:rPr lang="en-US" sz="2000" b="1" dirty="0">
                <a:solidFill>
                  <a:srgbClr val="047954"/>
                </a:solidFill>
              </a:rPr>
              <a:t>Process:</a:t>
            </a:r>
          </a:p>
          <a:p>
            <a:r>
              <a:rPr lang="ar-EG" sz="1800" dirty="0">
                <a:solidFill>
                  <a:schemeClr val="tx1"/>
                </a:solidFill>
              </a:rPr>
              <a:t>-  </a:t>
            </a:r>
            <a:r>
              <a:rPr lang="en-US" sz="1800" dirty="0">
                <a:solidFill>
                  <a:schemeClr val="tx1"/>
                </a:solidFill>
              </a:rPr>
              <a:t>Data cleaning to unite all units using python , we used the code ,</a:t>
            </a:r>
            <a:r>
              <a:rPr lang="en-US" sz="1800" b="1" dirty="0">
                <a:solidFill>
                  <a:schemeClr val="tx1"/>
                </a:solidFill>
              </a:rPr>
              <a:t>"Def </a:t>
            </a:r>
            <a:r>
              <a:rPr lang="en-US" sz="1800" b="1" dirty="0" err="1">
                <a:solidFill>
                  <a:schemeClr val="tx1"/>
                </a:solidFill>
              </a:rPr>
              <a:t>ml_to_liter</a:t>
            </a:r>
            <a:r>
              <a:rPr lang="en-US" sz="1800" b="1" dirty="0">
                <a:solidFill>
                  <a:schemeClr val="tx1"/>
                </a:solidFill>
              </a:rPr>
              <a:t> (ml):</a:t>
            </a:r>
            <a:endParaRPr lang="en-US" b="1" dirty="0">
              <a:solidFill>
                <a:schemeClr val="tx1"/>
              </a:solidFill>
            </a:endParaRPr>
          </a:p>
          <a:p>
            <a:r>
              <a:rPr lang="en-US" sz="1800" b="1" dirty="0">
                <a:solidFill>
                  <a:schemeClr val="tx1"/>
                </a:solidFill>
              </a:rPr>
              <a:t>Print(ml/1000)" </a:t>
            </a:r>
            <a:r>
              <a:rPr lang="en-US" sz="1800" dirty="0">
                <a:solidFill>
                  <a:schemeClr val="tx1"/>
                </a:solidFill>
              </a:rPr>
              <a:t>To convert any ml and L</a:t>
            </a:r>
            <a:endParaRPr lang="ar-EG" sz="1800" dirty="0">
              <a:solidFill>
                <a:schemeClr val="tx1"/>
              </a:solidFill>
            </a:endParaRPr>
          </a:p>
          <a:p>
            <a:r>
              <a:rPr lang="en-US" sz="1800" dirty="0">
                <a:solidFill>
                  <a:schemeClr val="tx1"/>
                </a:solidFill>
              </a:rPr>
              <a:t> - remove nulls </a:t>
            </a:r>
          </a:p>
          <a:p>
            <a:r>
              <a:rPr lang="en-US" sz="1800" dirty="0">
                <a:solidFill>
                  <a:schemeClr val="tx1"/>
                </a:solidFill>
              </a:rPr>
              <a:t>Df</a:t>
            </a:r>
            <a:r>
              <a:rPr lang="ar-EG" sz="1800" dirty="0">
                <a:solidFill>
                  <a:schemeClr val="tx1"/>
                </a:solidFill>
              </a:rPr>
              <a:t> </a:t>
            </a:r>
            <a:r>
              <a:rPr lang="en-US" sz="1800" dirty="0">
                <a:solidFill>
                  <a:schemeClr val="tx1"/>
                </a:solidFill>
              </a:rPr>
              <a:t>= </a:t>
            </a:r>
            <a:r>
              <a:rPr lang="en-US" sz="1800" dirty="0" err="1">
                <a:solidFill>
                  <a:schemeClr val="tx1"/>
                </a:solidFill>
              </a:rPr>
              <a:t>df.dropna</a:t>
            </a:r>
            <a:r>
              <a:rPr lang="en-US" sz="1800" dirty="0">
                <a:solidFill>
                  <a:schemeClr val="tx1"/>
                </a:solidFill>
              </a:rPr>
              <a:t>()</a:t>
            </a:r>
            <a:r>
              <a:rPr lang="ar-EG" sz="1800" dirty="0">
                <a:solidFill>
                  <a:schemeClr val="tx1"/>
                </a:solidFill>
              </a:rPr>
              <a:t>  </a:t>
            </a:r>
          </a:p>
          <a:p>
            <a:endParaRPr lang="en-US" sz="1800" dirty="0">
              <a:solidFill>
                <a:schemeClr val="tx1"/>
              </a:solidFill>
            </a:endParaRPr>
          </a:p>
          <a:p>
            <a:endParaRPr lang="en-US" sz="2000" dirty="0"/>
          </a:p>
          <a:p>
            <a:r>
              <a:rPr lang="en-US" sz="2000" b="1" dirty="0">
                <a:solidFill>
                  <a:srgbClr val="047954"/>
                </a:solidFill>
              </a:rPr>
              <a:t>Output:</a:t>
            </a:r>
          </a:p>
          <a:p>
            <a:r>
              <a:rPr lang="en-US" sz="2000" dirty="0">
                <a:solidFill>
                  <a:schemeClr val="tx1"/>
                </a:solidFill>
              </a:rPr>
              <a:t>Structured , cleaned data with united units giving clear , accurate insights</a:t>
            </a:r>
          </a:p>
          <a:p>
            <a:endParaRPr lang="en-US" dirty="0"/>
          </a:p>
          <a:p>
            <a:endParaRPr lang="en-US" dirty="0"/>
          </a:p>
        </p:txBody>
      </p:sp>
      <p:pic>
        <p:nvPicPr>
          <p:cNvPr id="9" name="Picture 8">
            <a:extLst>
              <a:ext uri="{FF2B5EF4-FFF2-40B4-BE49-F238E27FC236}">
                <a16:creationId xmlns:a16="http://schemas.microsoft.com/office/drawing/2014/main" id="{94F6B7B3-37BA-453E-A6AE-B16D930FC62F}"/>
              </a:ext>
            </a:extLst>
          </p:cNvPr>
          <p:cNvPicPr>
            <a:picLocks noChangeAspect="1"/>
          </p:cNvPicPr>
          <p:nvPr/>
        </p:nvPicPr>
        <p:blipFill>
          <a:blip r:embed="rId4"/>
          <a:srcRect r="25000" b="-800"/>
          <a:stretch/>
        </p:blipFill>
        <p:spPr>
          <a:xfrm>
            <a:off x="5958584" y="782423"/>
            <a:ext cx="4821662" cy="2123296"/>
          </a:xfrm>
          <a:prstGeom prst="rect">
            <a:avLst/>
          </a:prstGeom>
        </p:spPr>
      </p:pic>
      <p:pic>
        <p:nvPicPr>
          <p:cNvPr id="10" name="Picture 9" descr="A white table with black text&#10;&#10;AI-generated content may be incorrect.">
            <a:extLst>
              <a:ext uri="{FF2B5EF4-FFF2-40B4-BE49-F238E27FC236}">
                <a16:creationId xmlns:a16="http://schemas.microsoft.com/office/drawing/2014/main" id="{716058DB-FE2D-4501-98B2-B8B126294CFB}"/>
              </a:ext>
            </a:extLst>
          </p:cNvPr>
          <p:cNvPicPr>
            <a:picLocks noChangeAspect="1"/>
          </p:cNvPicPr>
          <p:nvPr/>
        </p:nvPicPr>
        <p:blipFill>
          <a:blip r:embed="rId5"/>
          <a:srcRect t="-3101" r="26613" b="794"/>
          <a:stretch/>
        </p:blipFill>
        <p:spPr>
          <a:xfrm>
            <a:off x="5954794" y="3724323"/>
            <a:ext cx="4825452" cy="2476645"/>
          </a:xfrm>
          <a:prstGeom prst="rect">
            <a:avLst/>
          </a:prstGeom>
        </p:spPr>
      </p:pic>
      <p:pic>
        <p:nvPicPr>
          <p:cNvPr id="11" name="Picture 10" descr="A screenshot of a computer program&#10;&#10;AI-generated content may be incorrect.">
            <a:extLst>
              <a:ext uri="{FF2B5EF4-FFF2-40B4-BE49-F238E27FC236}">
                <a16:creationId xmlns:a16="http://schemas.microsoft.com/office/drawing/2014/main" id="{EBE9601E-8B13-468C-8CE9-0CFFD0BDEBC1}"/>
              </a:ext>
            </a:extLst>
          </p:cNvPr>
          <p:cNvPicPr>
            <a:picLocks noChangeAspect="1"/>
          </p:cNvPicPr>
          <p:nvPr/>
        </p:nvPicPr>
        <p:blipFill>
          <a:blip r:embed="rId6"/>
          <a:srcRect t="82609" r="48864" b="4449"/>
          <a:stretch/>
        </p:blipFill>
        <p:spPr>
          <a:xfrm>
            <a:off x="5954794" y="3029225"/>
            <a:ext cx="4821662" cy="588437"/>
          </a:xfrm>
          <a:prstGeom prst="rect">
            <a:avLst/>
          </a:prstGeom>
        </p:spPr>
      </p:pic>
      <p:sp>
        <p:nvSpPr>
          <p:cNvPr id="2" name="TextBox 1">
            <a:extLst>
              <a:ext uri="{FF2B5EF4-FFF2-40B4-BE49-F238E27FC236}">
                <a16:creationId xmlns:a16="http://schemas.microsoft.com/office/drawing/2014/main" id="{FFC1A16F-0327-409D-A1CF-CE427CBCD5F5}"/>
              </a:ext>
            </a:extLst>
          </p:cNvPr>
          <p:cNvSpPr txBox="1"/>
          <p:nvPr/>
        </p:nvSpPr>
        <p:spPr>
          <a:xfrm>
            <a:off x="4836539" y="320758"/>
            <a:ext cx="2236510" cy="461665"/>
          </a:xfrm>
          <a:prstGeom prst="rect">
            <a:avLst/>
          </a:prstGeom>
          <a:noFill/>
        </p:spPr>
        <p:txBody>
          <a:bodyPr wrap="none" rtlCol="0">
            <a:spAutoFit/>
          </a:bodyPr>
          <a:lstStyle/>
          <a:p>
            <a:r>
              <a:rPr lang="en-US" sz="2400" b="1">
                <a:solidFill>
                  <a:schemeClr val="accent6">
                    <a:lumMod val="50000"/>
                  </a:schemeClr>
                </a:solidFill>
              </a:rPr>
              <a:t>Data Cleaning</a:t>
            </a:r>
          </a:p>
        </p:txBody>
      </p:sp>
    </p:spTree>
    <p:extLst>
      <p:ext uri="{BB962C8B-B14F-4D97-AF65-F5344CB8AC3E}">
        <p14:creationId xmlns:p14="http://schemas.microsoft.com/office/powerpoint/2010/main" val="362098044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anim calcmode="lin" valueType="num">
                                      <p:cBhvr>
                                        <p:cTn id="1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barn(inVertical)">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arn(inVertical)">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barn(inVertical)">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4">
                                            <p:txEl>
                                              <p:pRg st="2" end="2"/>
                                            </p:txEl>
                                          </p:spTgt>
                                        </p:tgtEl>
                                        <p:attrNameLst>
                                          <p:attrName>style.visibility</p:attrName>
                                        </p:attrNameLst>
                                      </p:cBhvr>
                                      <p:to>
                                        <p:strVal val="visible"/>
                                      </p:to>
                                    </p:set>
                                    <p:animEffect transition="in" filter="fade">
                                      <p:cBhvr>
                                        <p:cTn id="36" dur="1000"/>
                                        <p:tgtEl>
                                          <p:spTgt spid="4">
                                            <p:txEl>
                                              <p:pRg st="2" end="2"/>
                                            </p:txEl>
                                          </p:spTgt>
                                        </p:tgtEl>
                                      </p:cBhvr>
                                    </p:animEffect>
                                    <p:anim calcmode="lin" valueType="num">
                                      <p:cBhvr>
                                        <p:cTn id="3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2" end="2"/>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4">
                                            <p:txEl>
                                              <p:pRg st="3" end="3"/>
                                            </p:txEl>
                                          </p:spTgt>
                                        </p:tgtEl>
                                        <p:attrNameLst>
                                          <p:attrName>style.visibility</p:attrName>
                                        </p:attrNameLst>
                                      </p:cBhvr>
                                      <p:to>
                                        <p:strVal val="visible"/>
                                      </p:to>
                                    </p:set>
                                    <p:animEffect transition="in" filter="fade">
                                      <p:cBhvr>
                                        <p:cTn id="41" dur="1000"/>
                                        <p:tgtEl>
                                          <p:spTgt spid="4">
                                            <p:txEl>
                                              <p:pRg st="3" end="3"/>
                                            </p:txEl>
                                          </p:spTgt>
                                        </p:tgtEl>
                                      </p:cBhvr>
                                    </p:animEffect>
                                    <p:anim calcmode="lin" valueType="num">
                                      <p:cBhvr>
                                        <p:cTn id="4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43" dur="1000" fill="hold"/>
                                        <p:tgtEl>
                                          <p:spTgt spid="4">
                                            <p:txEl>
                                              <p:pRg st="3" end="3"/>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4">
                                            <p:txEl>
                                              <p:pRg st="4" end="4"/>
                                            </p:txEl>
                                          </p:spTgt>
                                        </p:tgtEl>
                                        <p:attrNameLst>
                                          <p:attrName>style.visibility</p:attrName>
                                        </p:attrNameLst>
                                      </p:cBhvr>
                                      <p:to>
                                        <p:strVal val="visible"/>
                                      </p:to>
                                    </p:set>
                                    <p:animEffect transition="in" filter="fade">
                                      <p:cBhvr>
                                        <p:cTn id="46" dur="1000"/>
                                        <p:tgtEl>
                                          <p:spTgt spid="4">
                                            <p:txEl>
                                              <p:pRg st="4" end="4"/>
                                            </p:txEl>
                                          </p:spTgt>
                                        </p:tgtEl>
                                      </p:cBhvr>
                                    </p:animEffect>
                                    <p:anim calcmode="lin" valueType="num">
                                      <p:cBhvr>
                                        <p:cTn id="47"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8" dur="1000" fill="hold"/>
                                        <p:tgtEl>
                                          <p:spTgt spid="4">
                                            <p:txEl>
                                              <p:pRg st="4" end="4"/>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4">
                                            <p:txEl>
                                              <p:pRg st="5" end="5"/>
                                            </p:txEl>
                                          </p:spTgt>
                                        </p:tgtEl>
                                        <p:attrNameLst>
                                          <p:attrName>style.visibility</p:attrName>
                                        </p:attrNameLst>
                                      </p:cBhvr>
                                      <p:to>
                                        <p:strVal val="visible"/>
                                      </p:to>
                                    </p:set>
                                    <p:animEffect transition="in" filter="fade">
                                      <p:cBhvr>
                                        <p:cTn id="51" dur="1000"/>
                                        <p:tgtEl>
                                          <p:spTgt spid="4">
                                            <p:txEl>
                                              <p:pRg st="5" end="5"/>
                                            </p:txEl>
                                          </p:spTgt>
                                        </p:tgtEl>
                                      </p:cBhvr>
                                    </p:animEffect>
                                    <p:anim calcmode="lin" valueType="num">
                                      <p:cBhvr>
                                        <p:cTn id="52"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5" end="5"/>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4">
                                            <p:txEl>
                                              <p:pRg st="6" end="6"/>
                                            </p:txEl>
                                          </p:spTgt>
                                        </p:tgtEl>
                                        <p:attrNameLst>
                                          <p:attrName>style.visibility</p:attrName>
                                        </p:attrNameLst>
                                      </p:cBhvr>
                                      <p:to>
                                        <p:strVal val="visible"/>
                                      </p:to>
                                    </p:set>
                                    <p:animEffect transition="in" filter="fade">
                                      <p:cBhvr>
                                        <p:cTn id="56" dur="1000"/>
                                        <p:tgtEl>
                                          <p:spTgt spid="4">
                                            <p:txEl>
                                              <p:pRg st="6" end="6"/>
                                            </p:txEl>
                                          </p:spTgt>
                                        </p:tgtEl>
                                      </p:cBhvr>
                                    </p:animEffect>
                                    <p:anim calcmode="lin" valueType="num">
                                      <p:cBhvr>
                                        <p:cTn id="57"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6" end="6"/>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animEffect transition="in" filter="fade">
                                      <p:cBhvr>
                                        <p:cTn id="61" dur="1000"/>
                                        <p:tgtEl>
                                          <p:spTgt spid="4">
                                            <p:txEl>
                                              <p:pRg st="9" end="9"/>
                                            </p:txEl>
                                          </p:spTgt>
                                        </p:tgtEl>
                                      </p:cBhvr>
                                    </p:animEffect>
                                    <p:anim calcmode="lin" valueType="num">
                                      <p:cBhvr>
                                        <p:cTn id="62"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9" end="9"/>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4">
                                            <p:txEl>
                                              <p:pRg st="10" end="10"/>
                                            </p:txEl>
                                          </p:spTgt>
                                        </p:tgtEl>
                                        <p:attrNameLst>
                                          <p:attrName>style.visibility</p:attrName>
                                        </p:attrNameLst>
                                      </p:cBhvr>
                                      <p:to>
                                        <p:strVal val="visible"/>
                                      </p:to>
                                    </p:set>
                                    <p:animEffect transition="in" filter="fade">
                                      <p:cBhvr>
                                        <p:cTn id="66" dur="1000"/>
                                        <p:tgtEl>
                                          <p:spTgt spid="4">
                                            <p:txEl>
                                              <p:pRg st="10" end="10"/>
                                            </p:txEl>
                                          </p:spTgt>
                                        </p:tgtEl>
                                      </p:cBhvr>
                                    </p:animEffect>
                                    <p:anim calcmode="lin" valueType="num">
                                      <p:cBhvr>
                                        <p:cTn id="67"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8"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92632A-1921-4380-B0DD-B62C74D1563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6" name="Picture 5">
            <a:extLst>
              <a:ext uri="{FF2B5EF4-FFF2-40B4-BE49-F238E27FC236}">
                <a16:creationId xmlns:a16="http://schemas.microsoft.com/office/drawing/2014/main" id="{B94EBE06-AC17-475C-8C8A-E92F846511A0}"/>
              </a:ext>
            </a:extLst>
          </p:cNvPr>
          <p:cNvPicPr>
            <a:picLocks noChangeAspect="1"/>
          </p:cNvPicPr>
          <p:nvPr/>
        </p:nvPicPr>
        <p:blipFill>
          <a:blip r:embed="rId2"/>
          <a:stretch>
            <a:fillRect/>
          </a:stretch>
        </p:blipFill>
        <p:spPr>
          <a:xfrm>
            <a:off x="0" y="265009"/>
            <a:ext cx="12192000" cy="6592991"/>
          </a:xfrm>
          <a:prstGeom prst="rect">
            <a:avLst/>
          </a:prstGeom>
        </p:spPr>
      </p:pic>
      <p:pic>
        <p:nvPicPr>
          <p:cNvPr id="7" name="Picture 6">
            <a:extLst>
              <a:ext uri="{FF2B5EF4-FFF2-40B4-BE49-F238E27FC236}">
                <a16:creationId xmlns:a16="http://schemas.microsoft.com/office/drawing/2014/main" id="{F23D57E1-AB3B-487C-91C7-A7DC0E2BD899}"/>
              </a:ext>
            </a:extLst>
          </p:cNvPr>
          <p:cNvPicPr>
            <a:picLocks noChangeAspect="1"/>
          </p:cNvPicPr>
          <p:nvPr/>
        </p:nvPicPr>
        <p:blipFill>
          <a:blip r:embed="rId3"/>
          <a:stretch>
            <a:fillRect/>
          </a:stretch>
        </p:blipFill>
        <p:spPr>
          <a:xfrm>
            <a:off x="0" y="265008"/>
            <a:ext cx="12192000" cy="6592991"/>
          </a:xfrm>
          <a:prstGeom prst="rect">
            <a:avLst/>
          </a:prstGeom>
        </p:spPr>
      </p:pic>
    </p:spTree>
    <p:extLst>
      <p:ext uri="{BB962C8B-B14F-4D97-AF65-F5344CB8AC3E}">
        <p14:creationId xmlns:p14="http://schemas.microsoft.com/office/powerpoint/2010/main" val="1640099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ADE4CA-0C71-459F-B388-F0092A9E06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8" name="Picture 7">
            <a:extLst>
              <a:ext uri="{FF2B5EF4-FFF2-40B4-BE49-F238E27FC236}">
                <a16:creationId xmlns:a16="http://schemas.microsoft.com/office/drawing/2014/main" id="{369A5E6E-6B3D-44D4-81C5-D9695FBB2BB7}"/>
              </a:ext>
            </a:extLst>
          </p:cNvPr>
          <p:cNvPicPr>
            <a:picLocks noChangeAspect="1"/>
          </p:cNvPicPr>
          <p:nvPr/>
        </p:nvPicPr>
        <p:blipFill>
          <a:blip r:embed="rId2"/>
          <a:stretch>
            <a:fillRect/>
          </a:stretch>
        </p:blipFill>
        <p:spPr>
          <a:xfrm>
            <a:off x="0" y="136525"/>
            <a:ext cx="12192000" cy="6721475"/>
          </a:xfrm>
          <a:prstGeom prst="rect">
            <a:avLst/>
          </a:prstGeom>
        </p:spPr>
      </p:pic>
      <p:pic>
        <p:nvPicPr>
          <p:cNvPr id="9" name="Picture 8">
            <a:extLst>
              <a:ext uri="{FF2B5EF4-FFF2-40B4-BE49-F238E27FC236}">
                <a16:creationId xmlns:a16="http://schemas.microsoft.com/office/drawing/2014/main" id="{182266EC-DABC-4F27-A7AC-8550A8408332}"/>
              </a:ext>
            </a:extLst>
          </p:cNvPr>
          <p:cNvPicPr>
            <a:picLocks noChangeAspect="1"/>
          </p:cNvPicPr>
          <p:nvPr/>
        </p:nvPicPr>
        <p:blipFill>
          <a:blip r:embed="rId3"/>
          <a:stretch>
            <a:fillRect/>
          </a:stretch>
        </p:blipFill>
        <p:spPr>
          <a:xfrm>
            <a:off x="0" y="136525"/>
            <a:ext cx="12192000" cy="6721474"/>
          </a:xfrm>
          <a:prstGeom prst="rect">
            <a:avLst/>
          </a:prstGeom>
        </p:spPr>
      </p:pic>
    </p:spTree>
    <p:extLst>
      <p:ext uri="{BB962C8B-B14F-4D97-AF65-F5344CB8AC3E}">
        <p14:creationId xmlns:p14="http://schemas.microsoft.com/office/powerpoint/2010/main" val="1830649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CB7770-DB0E-4C50-9CFE-3D97AFBC57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4" name="Picture 3">
            <a:extLst>
              <a:ext uri="{FF2B5EF4-FFF2-40B4-BE49-F238E27FC236}">
                <a16:creationId xmlns:a16="http://schemas.microsoft.com/office/drawing/2014/main" id="{CA5D41C2-6DC2-4D46-895B-455A37E7C9D1}"/>
              </a:ext>
            </a:extLst>
          </p:cNvPr>
          <p:cNvPicPr>
            <a:picLocks noChangeAspect="1"/>
          </p:cNvPicPr>
          <p:nvPr/>
        </p:nvPicPr>
        <p:blipFill>
          <a:blip r:embed="rId2"/>
          <a:stretch>
            <a:fillRect/>
          </a:stretch>
        </p:blipFill>
        <p:spPr>
          <a:xfrm>
            <a:off x="0" y="221941"/>
            <a:ext cx="12192000" cy="6636059"/>
          </a:xfrm>
          <a:prstGeom prst="rect">
            <a:avLst/>
          </a:prstGeom>
        </p:spPr>
      </p:pic>
    </p:spTree>
    <p:extLst>
      <p:ext uri="{BB962C8B-B14F-4D97-AF65-F5344CB8AC3E}">
        <p14:creationId xmlns:p14="http://schemas.microsoft.com/office/powerpoint/2010/main" val="3176887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40F81-F69E-80DF-5ADA-C0DC234BBDD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F99960-7392-8C5F-C2CE-F24CD506CA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5" name="Picture 4">
            <a:extLst>
              <a:ext uri="{FF2B5EF4-FFF2-40B4-BE49-F238E27FC236}">
                <a16:creationId xmlns:a16="http://schemas.microsoft.com/office/drawing/2014/main" id="{80D71E70-F967-D2B6-20B0-398AA024DE8C}"/>
              </a:ext>
            </a:extLst>
          </p:cNvPr>
          <p:cNvPicPr>
            <a:picLocks noChangeAspect="1"/>
          </p:cNvPicPr>
          <p:nvPr/>
        </p:nvPicPr>
        <p:blipFill>
          <a:blip r:embed="rId2"/>
          <a:stretch>
            <a:fillRect/>
          </a:stretch>
        </p:blipFill>
        <p:spPr>
          <a:xfrm>
            <a:off x="28014" y="0"/>
            <a:ext cx="12135971" cy="6858000"/>
          </a:xfrm>
          <a:prstGeom prst="rect">
            <a:avLst/>
          </a:prstGeom>
        </p:spPr>
      </p:pic>
    </p:spTree>
    <p:extLst>
      <p:ext uri="{BB962C8B-B14F-4D97-AF65-F5344CB8AC3E}">
        <p14:creationId xmlns:p14="http://schemas.microsoft.com/office/powerpoint/2010/main" val="2496557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176E2-1245-00AA-A725-0530AFE34CC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370B5F-9BBA-E564-5582-3653D10AA4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pic>
        <p:nvPicPr>
          <p:cNvPr id="5" name="Picture 4">
            <a:extLst>
              <a:ext uri="{FF2B5EF4-FFF2-40B4-BE49-F238E27FC236}">
                <a16:creationId xmlns:a16="http://schemas.microsoft.com/office/drawing/2014/main" id="{E518AD96-9B49-FB77-C1EC-90F40574B699}"/>
              </a:ext>
            </a:extLst>
          </p:cNvPr>
          <p:cNvPicPr>
            <a:picLocks noChangeAspect="1"/>
          </p:cNvPicPr>
          <p:nvPr/>
        </p:nvPicPr>
        <p:blipFill>
          <a:blip r:embed="rId2"/>
          <a:stretch>
            <a:fillRect/>
          </a:stretch>
        </p:blipFill>
        <p:spPr>
          <a:xfrm>
            <a:off x="47042" y="0"/>
            <a:ext cx="12097915" cy="6858000"/>
          </a:xfrm>
          <a:prstGeom prst="rect">
            <a:avLst/>
          </a:prstGeom>
        </p:spPr>
      </p:pic>
    </p:spTree>
    <p:extLst>
      <p:ext uri="{BB962C8B-B14F-4D97-AF65-F5344CB8AC3E}">
        <p14:creationId xmlns:p14="http://schemas.microsoft.com/office/powerpoint/2010/main" val="789948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526055-7623-4D7B-9AEE-B51E0668133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5" name="TextBox 4">
            <a:extLst>
              <a:ext uri="{FF2B5EF4-FFF2-40B4-BE49-F238E27FC236}">
                <a16:creationId xmlns:a16="http://schemas.microsoft.com/office/drawing/2014/main" id="{39723CDB-4E0F-498F-9E3A-B6832345CC64}"/>
              </a:ext>
            </a:extLst>
          </p:cNvPr>
          <p:cNvSpPr txBox="1"/>
          <p:nvPr/>
        </p:nvSpPr>
        <p:spPr>
          <a:xfrm>
            <a:off x="1367161" y="1271092"/>
            <a:ext cx="8723211" cy="615553"/>
          </a:xfrm>
          <a:prstGeom prst="rect">
            <a:avLst/>
          </a:prstGeom>
          <a:noFill/>
        </p:spPr>
        <p:txBody>
          <a:bodyPr wrap="square" lIns="91440" tIns="45720" rIns="91440" bIns="45720" rtlCol="0" anchor="t">
            <a:spAutoFit/>
          </a:bodyPr>
          <a:lstStyle/>
          <a:p>
            <a:r>
              <a:rPr lang="en-US" sz="2000" b="1" dirty="0">
                <a:solidFill>
                  <a:srgbClr val="047954"/>
                </a:solidFill>
              </a:rPr>
              <a:t>Deliverables</a:t>
            </a:r>
          </a:p>
          <a:p>
            <a:endParaRPr lang="en-US" dirty="0"/>
          </a:p>
        </p:txBody>
      </p:sp>
      <p:sp>
        <p:nvSpPr>
          <p:cNvPr id="6" name="TextBox 5">
            <a:extLst>
              <a:ext uri="{FF2B5EF4-FFF2-40B4-BE49-F238E27FC236}">
                <a16:creationId xmlns:a16="http://schemas.microsoft.com/office/drawing/2014/main" id="{3D887789-89BD-4A35-B5EE-05FA9722FEBC}"/>
              </a:ext>
            </a:extLst>
          </p:cNvPr>
          <p:cNvSpPr txBox="1"/>
          <p:nvPr/>
        </p:nvSpPr>
        <p:spPr>
          <a:xfrm>
            <a:off x="1314220" y="1886645"/>
            <a:ext cx="8829091" cy="1077218"/>
          </a:xfrm>
          <a:prstGeom prst="rect">
            <a:avLst/>
          </a:prstGeom>
          <a:noFill/>
        </p:spPr>
        <p:txBody>
          <a:bodyPr wrap="square">
            <a:spAutoFit/>
          </a:bodyPr>
          <a:lstStyle/>
          <a:p>
            <a:pPr marL="285750" indent="-285750">
              <a:buFont typeface="Arial" panose="020B0604020202020204" pitchFamily="34" charset="0"/>
              <a:buChar char="•"/>
            </a:pPr>
            <a:r>
              <a:rPr lang="en-US" sz="1600" b="0" i="0" dirty="0">
                <a:solidFill>
                  <a:srgbClr val="1F2328"/>
                </a:solidFill>
                <a:effectLst/>
                <a:latin typeface="Abadi" panose="020B0604020202020204" pitchFamily="34" charset="0"/>
              </a:rPr>
              <a:t>Clean and validated downtime dataset</a:t>
            </a:r>
          </a:p>
          <a:p>
            <a:pPr marL="285750" indent="-285750">
              <a:buFont typeface="Arial" panose="020B0604020202020204" pitchFamily="34" charset="0"/>
              <a:buChar char="•"/>
            </a:pPr>
            <a:r>
              <a:rPr lang="en-US" sz="1600" b="0" i="0" dirty="0">
                <a:solidFill>
                  <a:srgbClr val="1F2328"/>
                </a:solidFill>
                <a:effectLst/>
                <a:latin typeface="Abadi" panose="020B0604020202020204" pitchFamily="34" charset="0"/>
              </a:rPr>
              <a:t>Star schema data model in Power BI</a:t>
            </a:r>
          </a:p>
          <a:p>
            <a:pPr marL="285750" indent="-285750">
              <a:buFont typeface="Arial" panose="020B0604020202020204" pitchFamily="34" charset="0"/>
              <a:buChar char="•"/>
            </a:pPr>
            <a:r>
              <a:rPr lang="en-US" sz="1600" b="0" i="0" dirty="0">
                <a:solidFill>
                  <a:srgbClr val="1F2328"/>
                </a:solidFill>
                <a:effectLst/>
                <a:latin typeface="Abadi" panose="020B0604020202020204" pitchFamily="34" charset="0"/>
              </a:rPr>
              <a:t>Interactive dashboard with KPIs and filters</a:t>
            </a:r>
          </a:p>
          <a:p>
            <a:pPr marL="285750" indent="-285750">
              <a:buFont typeface="Arial" panose="020B0604020202020204" pitchFamily="34" charset="0"/>
              <a:buChar char="•"/>
            </a:pPr>
            <a:r>
              <a:rPr lang="en-US" sz="1600" b="0" i="0" dirty="0">
                <a:solidFill>
                  <a:srgbClr val="1F2328"/>
                </a:solidFill>
                <a:effectLst/>
                <a:latin typeface="Abadi" panose="020B0604020202020204" pitchFamily="34" charset="0"/>
              </a:rPr>
              <a:t>Documentation and presentation slides for stakeholders</a:t>
            </a:r>
          </a:p>
        </p:txBody>
      </p:sp>
      <p:sp>
        <p:nvSpPr>
          <p:cNvPr id="9" name="TextBox 8">
            <a:extLst>
              <a:ext uri="{FF2B5EF4-FFF2-40B4-BE49-F238E27FC236}">
                <a16:creationId xmlns:a16="http://schemas.microsoft.com/office/drawing/2014/main" id="{BD191E57-E405-4E6D-A5CA-3936A1254FE9}"/>
              </a:ext>
            </a:extLst>
          </p:cNvPr>
          <p:cNvSpPr txBox="1"/>
          <p:nvPr/>
        </p:nvSpPr>
        <p:spPr>
          <a:xfrm>
            <a:off x="1367161" y="2844225"/>
            <a:ext cx="7395099" cy="1538883"/>
          </a:xfrm>
          <a:prstGeom prst="rect">
            <a:avLst/>
          </a:prstGeom>
          <a:noFill/>
        </p:spPr>
        <p:txBody>
          <a:bodyPr wrap="square">
            <a:spAutoFit/>
          </a:bodyPr>
          <a:lstStyle/>
          <a:p>
            <a:endParaRPr lang="ar-EG" sz="1600" dirty="0"/>
          </a:p>
          <a:p>
            <a:r>
              <a:rPr lang="en-US" sz="1600" dirty="0"/>
              <a:t>Final Outcome</a:t>
            </a:r>
          </a:p>
          <a:p>
            <a:r>
              <a:rPr lang="en-US" sz="1600" dirty="0"/>
              <a:t>A comprehensive Power BI dashboard providing management with data-driven insights into downtime performance, root cause identification, and actionable strategies for </a:t>
            </a:r>
            <a:r>
              <a:rPr lang="en-US" sz="1600"/>
              <a:t>operational efficiency</a:t>
            </a:r>
            <a:endParaRPr lang="en-US" sz="1600" dirty="0"/>
          </a:p>
          <a:p>
            <a:endParaRPr lang="en-US" dirty="0"/>
          </a:p>
        </p:txBody>
      </p:sp>
    </p:spTree>
    <p:extLst>
      <p:ext uri="{BB962C8B-B14F-4D97-AF65-F5344CB8AC3E}">
        <p14:creationId xmlns:p14="http://schemas.microsoft.com/office/powerpoint/2010/main" val="35372300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6F61A0-4362-42D2-84BE-F3AA20C2CAA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8" name="TextBox 7">
            <a:extLst>
              <a:ext uri="{FF2B5EF4-FFF2-40B4-BE49-F238E27FC236}">
                <a16:creationId xmlns:a16="http://schemas.microsoft.com/office/drawing/2014/main" id="{A3B61886-C0EF-4ADE-8B12-0EBE71792A07}"/>
              </a:ext>
            </a:extLst>
          </p:cNvPr>
          <p:cNvSpPr txBox="1"/>
          <p:nvPr/>
        </p:nvSpPr>
        <p:spPr>
          <a:xfrm>
            <a:off x="4994576" y="500394"/>
            <a:ext cx="2202847" cy="461665"/>
          </a:xfrm>
          <a:prstGeom prst="rect">
            <a:avLst/>
          </a:prstGeom>
          <a:noFill/>
        </p:spPr>
        <p:txBody>
          <a:bodyPr wrap="none" rtlCol="0">
            <a:spAutoFit/>
          </a:bodyPr>
          <a:lstStyle/>
          <a:p>
            <a:pPr algn="ctr"/>
            <a:r>
              <a:rPr lang="en-US" sz="2400" b="1">
                <a:solidFill>
                  <a:srgbClr val="047954"/>
                </a:solidFill>
              </a:rPr>
              <a:t>Project Team </a:t>
            </a:r>
            <a:endParaRPr lang="en-US" sz="2400"/>
          </a:p>
        </p:txBody>
      </p:sp>
      <p:graphicFrame>
        <p:nvGraphicFramePr>
          <p:cNvPr id="10" name="Table 9">
            <a:extLst>
              <a:ext uri="{FF2B5EF4-FFF2-40B4-BE49-F238E27FC236}">
                <a16:creationId xmlns:a16="http://schemas.microsoft.com/office/drawing/2014/main" id="{3AA79992-7A1B-C63D-18E5-EEE0988B93C9}"/>
              </a:ext>
            </a:extLst>
          </p:cNvPr>
          <p:cNvGraphicFramePr>
            <a:graphicFrameLocks noGrp="1"/>
          </p:cNvGraphicFramePr>
          <p:nvPr>
            <p:extLst>
              <p:ext uri="{D42A27DB-BD31-4B8C-83A1-F6EECF244321}">
                <p14:modId xmlns:p14="http://schemas.microsoft.com/office/powerpoint/2010/main" val="1589671529"/>
              </p:ext>
            </p:extLst>
          </p:nvPr>
        </p:nvGraphicFramePr>
        <p:xfrm>
          <a:off x="497940" y="1584357"/>
          <a:ext cx="10774378" cy="3440318"/>
        </p:xfrm>
        <a:graphic>
          <a:graphicData uri="http://schemas.openxmlformats.org/drawingml/2006/table">
            <a:tbl>
              <a:tblPr>
                <a:tableStyleId>{08FB837D-C827-4EFA-A057-4D05807E0F7C}</a:tableStyleId>
              </a:tblPr>
              <a:tblGrid>
                <a:gridCol w="5387189">
                  <a:extLst>
                    <a:ext uri="{9D8B030D-6E8A-4147-A177-3AD203B41FA5}">
                      <a16:colId xmlns:a16="http://schemas.microsoft.com/office/drawing/2014/main" val="1660784591"/>
                    </a:ext>
                  </a:extLst>
                </a:gridCol>
                <a:gridCol w="5387189">
                  <a:extLst>
                    <a:ext uri="{9D8B030D-6E8A-4147-A177-3AD203B41FA5}">
                      <a16:colId xmlns:a16="http://schemas.microsoft.com/office/drawing/2014/main" val="406054132"/>
                    </a:ext>
                  </a:extLst>
                </a:gridCol>
              </a:tblGrid>
              <a:tr h="491474">
                <a:tc>
                  <a:txBody>
                    <a:bodyPr/>
                    <a:lstStyle/>
                    <a:p>
                      <a:pPr>
                        <a:buNone/>
                      </a:pPr>
                      <a:r>
                        <a:rPr lang="en-US" b="1">
                          <a:effectLst/>
                        </a:rPr>
                        <a:t>Name</a:t>
                      </a:r>
                    </a:p>
                  </a:txBody>
                  <a:tcPr marL="123825" marR="123825" marT="57150" marB="57150" anchor="ctr"/>
                </a:tc>
                <a:tc>
                  <a:txBody>
                    <a:bodyPr/>
                    <a:lstStyle/>
                    <a:p>
                      <a:pPr>
                        <a:buNone/>
                      </a:pPr>
                      <a:r>
                        <a:rPr lang="en-US" b="1">
                          <a:effectLst/>
                        </a:rPr>
                        <a:t>Role</a:t>
                      </a:r>
                    </a:p>
                  </a:txBody>
                  <a:tcPr marL="123825" marR="123825" marT="57150" marB="57150" anchor="ctr"/>
                </a:tc>
                <a:extLst>
                  <a:ext uri="{0D108BD9-81ED-4DB2-BD59-A6C34878D82A}">
                    <a16:rowId xmlns:a16="http://schemas.microsoft.com/office/drawing/2014/main" val="1659749675"/>
                  </a:ext>
                </a:extLst>
              </a:tr>
              <a:tr h="491474">
                <a:tc>
                  <a:txBody>
                    <a:bodyPr/>
                    <a:lstStyle/>
                    <a:p>
                      <a:pPr>
                        <a:buNone/>
                      </a:pPr>
                      <a:r>
                        <a:rPr lang="en-US" b="1">
                          <a:effectLst/>
                        </a:rPr>
                        <a:t>Malek Mohammed Hamed</a:t>
                      </a:r>
                      <a:endParaRPr lang="en-US">
                        <a:effectLst/>
                      </a:endParaRPr>
                    </a:p>
                  </a:txBody>
                  <a:tcPr marL="123825" marR="123825" marT="57150" marB="57150" anchor="ctr"/>
                </a:tc>
                <a:tc>
                  <a:txBody>
                    <a:bodyPr/>
                    <a:lstStyle/>
                    <a:p>
                      <a:pPr>
                        <a:buNone/>
                      </a:pPr>
                      <a:r>
                        <a:rPr lang="en-US">
                          <a:effectLst/>
                        </a:rPr>
                        <a:t>Team Leader</a:t>
                      </a:r>
                    </a:p>
                  </a:txBody>
                  <a:tcPr marL="123825" marR="123825" marT="57150" marB="57150" anchor="ctr"/>
                </a:tc>
                <a:extLst>
                  <a:ext uri="{0D108BD9-81ED-4DB2-BD59-A6C34878D82A}">
                    <a16:rowId xmlns:a16="http://schemas.microsoft.com/office/drawing/2014/main" val="183062914"/>
                  </a:ext>
                </a:extLst>
              </a:tr>
              <a:tr h="491474">
                <a:tc>
                  <a:txBody>
                    <a:bodyPr/>
                    <a:lstStyle/>
                    <a:p>
                      <a:pPr>
                        <a:buNone/>
                      </a:pPr>
                      <a:r>
                        <a:rPr lang="en-US" b="1">
                          <a:effectLst/>
                        </a:rPr>
                        <a:t>Azza Amen Mohamed Amen</a:t>
                      </a:r>
                      <a:endParaRPr lang="en-US">
                        <a:effectLst/>
                      </a:endParaRPr>
                    </a:p>
                  </a:txBody>
                  <a:tcPr marL="123825" marR="123825" marT="57150" marB="57150" anchor="ctr"/>
                </a:tc>
                <a:tc>
                  <a:txBody>
                    <a:bodyPr/>
                    <a:lstStyle/>
                    <a:p>
                      <a:pPr>
                        <a:buNone/>
                      </a:pPr>
                      <a:r>
                        <a:rPr lang="en-US">
                          <a:effectLst/>
                        </a:rPr>
                        <a:t>Data Engineering &amp; Visualization</a:t>
                      </a:r>
                    </a:p>
                  </a:txBody>
                  <a:tcPr marL="123825" marR="123825" marT="57150" marB="57150" anchor="ctr"/>
                </a:tc>
                <a:extLst>
                  <a:ext uri="{0D108BD9-81ED-4DB2-BD59-A6C34878D82A}">
                    <a16:rowId xmlns:a16="http://schemas.microsoft.com/office/drawing/2014/main" val="429785905"/>
                  </a:ext>
                </a:extLst>
              </a:tr>
              <a:tr h="491474">
                <a:tc>
                  <a:txBody>
                    <a:bodyPr/>
                    <a:lstStyle/>
                    <a:p>
                      <a:pPr>
                        <a:buNone/>
                      </a:pPr>
                      <a:r>
                        <a:rPr lang="en-US" b="1">
                          <a:effectLst/>
                        </a:rPr>
                        <a:t>Rana Wagih Hussein</a:t>
                      </a:r>
                      <a:endParaRPr lang="en-US">
                        <a:effectLst/>
                      </a:endParaRPr>
                    </a:p>
                  </a:txBody>
                  <a:tcPr marL="123825" marR="123825" marT="57150" marB="57150" anchor="ctr"/>
                </a:tc>
                <a:tc>
                  <a:txBody>
                    <a:bodyPr/>
                    <a:lstStyle/>
                    <a:p>
                      <a:pPr>
                        <a:buNone/>
                      </a:pPr>
                      <a:r>
                        <a:rPr lang="en-US">
                          <a:effectLst/>
                        </a:rPr>
                        <a:t>Data Analysis</a:t>
                      </a:r>
                    </a:p>
                  </a:txBody>
                  <a:tcPr marL="123825" marR="123825" marT="57150" marB="57150" anchor="ctr"/>
                </a:tc>
                <a:extLst>
                  <a:ext uri="{0D108BD9-81ED-4DB2-BD59-A6C34878D82A}">
                    <a16:rowId xmlns:a16="http://schemas.microsoft.com/office/drawing/2014/main" val="1361430080"/>
                  </a:ext>
                </a:extLst>
              </a:tr>
              <a:tr h="491474">
                <a:tc>
                  <a:txBody>
                    <a:bodyPr/>
                    <a:lstStyle/>
                    <a:p>
                      <a:pPr>
                        <a:buNone/>
                      </a:pPr>
                      <a:r>
                        <a:rPr lang="en-US" b="1">
                          <a:effectLst/>
                        </a:rPr>
                        <a:t>Islam Mohamed Yassein</a:t>
                      </a:r>
                      <a:endParaRPr lang="en-US">
                        <a:effectLst/>
                      </a:endParaRPr>
                    </a:p>
                  </a:txBody>
                  <a:tcPr marL="123825" marR="123825" marT="57150" marB="57150" anchor="ctr"/>
                </a:tc>
                <a:tc>
                  <a:txBody>
                    <a:bodyPr/>
                    <a:lstStyle/>
                    <a:p>
                      <a:pPr>
                        <a:buNone/>
                      </a:pPr>
                      <a:r>
                        <a:rPr lang="en-US">
                          <a:effectLst/>
                        </a:rPr>
                        <a:t>Business Insights &amp; Visualization</a:t>
                      </a:r>
                    </a:p>
                  </a:txBody>
                  <a:tcPr marL="123825" marR="123825" marT="57150" marB="57150" anchor="ctr"/>
                </a:tc>
                <a:extLst>
                  <a:ext uri="{0D108BD9-81ED-4DB2-BD59-A6C34878D82A}">
                    <a16:rowId xmlns:a16="http://schemas.microsoft.com/office/drawing/2014/main" val="2973147249"/>
                  </a:ext>
                </a:extLst>
              </a:tr>
              <a:tr h="491474">
                <a:tc>
                  <a:txBody>
                    <a:bodyPr/>
                    <a:lstStyle/>
                    <a:p>
                      <a:pPr>
                        <a:buNone/>
                      </a:pPr>
                      <a:r>
                        <a:rPr lang="en-US" b="1">
                          <a:effectLst/>
                        </a:rPr>
                        <a:t>Mahmoud Elaraby Mohamed</a:t>
                      </a:r>
                      <a:endParaRPr lang="en-US">
                        <a:effectLst/>
                      </a:endParaRPr>
                    </a:p>
                  </a:txBody>
                  <a:tcPr marL="123825" marR="123825" marT="57150" marB="57150" anchor="ctr"/>
                </a:tc>
                <a:tc>
                  <a:txBody>
                    <a:bodyPr/>
                    <a:lstStyle/>
                    <a:p>
                      <a:pPr>
                        <a:buNone/>
                      </a:pPr>
                      <a:r>
                        <a:rPr lang="en-US">
                          <a:effectLst/>
                        </a:rPr>
                        <a:t>Data Engineering &amp; Project Support</a:t>
                      </a:r>
                    </a:p>
                  </a:txBody>
                  <a:tcPr marL="123825" marR="123825" marT="57150" marB="57150" anchor="ctr"/>
                </a:tc>
                <a:extLst>
                  <a:ext uri="{0D108BD9-81ED-4DB2-BD59-A6C34878D82A}">
                    <a16:rowId xmlns:a16="http://schemas.microsoft.com/office/drawing/2014/main" val="1831990487"/>
                  </a:ext>
                </a:extLst>
              </a:tr>
              <a:tr h="491474">
                <a:tc>
                  <a:txBody>
                    <a:bodyPr/>
                    <a:lstStyle/>
                    <a:p>
                      <a:pPr>
                        <a:buNone/>
                      </a:pPr>
                      <a:r>
                        <a:rPr lang="en-US" b="1">
                          <a:effectLst/>
                        </a:rPr>
                        <a:t>Nada Abdullah Abdullah</a:t>
                      </a:r>
                      <a:endParaRPr lang="en-US">
                        <a:effectLst/>
                      </a:endParaRPr>
                    </a:p>
                  </a:txBody>
                  <a:tcPr marL="123825" marR="123825" marT="57150" marB="57150" anchor="ctr"/>
                </a:tc>
                <a:tc>
                  <a:txBody>
                    <a:bodyPr/>
                    <a:lstStyle/>
                    <a:p>
                      <a:pPr>
                        <a:buNone/>
                      </a:pPr>
                      <a:r>
                        <a:rPr lang="en-US" dirty="0">
                          <a:effectLst/>
                        </a:rPr>
                        <a:t>Visualization Support</a:t>
                      </a:r>
                    </a:p>
                  </a:txBody>
                  <a:tcPr marL="123825" marR="123825" marT="57150" marB="57150" anchor="ctr"/>
                </a:tc>
                <a:extLst>
                  <a:ext uri="{0D108BD9-81ED-4DB2-BD59-A6C34878D82A}">
                    <a16:rowId xmlns:a16="http://schemas.microsoft.com/office/drawing/2014/main" val="2623115940"/>
                  </a:ext>
                </a:extLst>
              </a:tr>
            </a:tbl>
          </a:graphicData>
        </a:graphic>
      </p:graphicFrame>
      <p:sp>
        <p:nvSpPr>
          <p:cNvPr id="15" name="TextBox 14">
            <a:extLst>
              <a:ext uri="{FF2B5EF4-FFF2-40B4-BE49-F238E27FC236}">
                <a16:creationId xmlns:a16="http://schemas.microsoft.com/office/drawing/2014/main" id="{479BE05C-14DD-2368-8316-3E3700A4540D}"/>
              </a:ext>
            </a:extLst>
          </p:cNvPr>
          <p:cNvSpPr txBox="1"/>
          <p:nvPr/>
        </p:nvSpPr>
        <p:spPr>
          <a:xfrm>
            <a:off x="568106" y="5273643"/>
            <a:ext cx="1577565" cy="677108"/>
          </a:xfrm>
          <a:prstGeom prst="rect">
            <a:avLst/>
          </a:prstGeom>
          <a:noFill/>
        </p:spPr>
        <p:txBody>
          <a:bodyPr wrap="square">
            <a:spAutoFit/>
          </a:bodyPr>
          <a:lstStyle/>
          <a:p>
            <a:pPr algn="l">
              <a:spcBef>
                <a:spcPts val="1800"/>
              </a:spcBef>
              <a:spcAft>
                <a:spcPts val="1200"/>
              </a:spcAft>
              <a:buNone/>
            </a:pPr>
            <a:r>
              <a:rPr lang="en-US" b="1" i="0" dirty="0">
                <a:solidFill>
                  <a:schemeClr val="tx1"/>
                </a:solidFill>
                <a:effectLst/>
                <a:latin typeface="+mj-lt"/>
              </a:rPr>
              <a:t>Instructor</a:t>
            </a:r>
          </a:p>
          <a:p>
            <a:pPr algn="l">
              <a:spcAft>
                <a:spcPts val="1200"/>
              </a:spcAft>
              <a:buNone/>
            </a:pPr>
            <a:r>
              <a:rPr lang="en-US" b="1" i="0" dirty="0">
                <a:solidFill>
                  <a:schemeClr val="tx1"/>
                </a:solidFill>
                <a:effectLst/>
                <a:latin typeface="+mj-lt"/>
              </a:rPr>
              <a:t>Kareem Bakli</a:t>
            </a:r>
            <a:endParaRPr lang="en-US" b="0" i="0" dirty="0">
              <a:solidFill>
                <a:schemeClr val="tx1"/>
              </a:solidFill>
              <a:effectLst/>
              <a:latin typeface="+mj-lt"/>
            </a:endParaRPr>
          </a:p>
        </p:txBody>
      </p:sp>
    </p:spTree>
    <p:extLst>
      <p:ext uri="{BB962C8B-B14F-4D97-AF65-F5344CB8AC3E}">
        <p14:creationId xmlns:p14="http://schemas.microsoft.com/office/powerpoint/2010/main" val="171151251"/>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BD465C-E5CE-4C48-AA52-1C3BF953C0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3" name="TextBox 2">
            <a:extLst>
              <a:ext uri="{FF2B5EF4-FFF2-40B4-BE49-F238E27FC236}">
                <a16:creationId xmlns:a16="http://schemas.microsoft.com/office/drawing/2014/main" id="{E973B28E-63E2-4103-9B51-A7EDEC6D5548}"/>
              </a:ext>
            </a:extLst>
          </p:cNvPr>
          <p:cNvSpPr txBox="1"/>
          <p:nvPr/>
        </p:nvSpPr>
        <p:spPr>
          <a:xfrm>
            <a:off x="3522065" y="3047157"/>
            <a:ext cx="4702445" cy="1569660"/>
          </a:xfrm>
          <a:prstGeom prst="rect">
            <a:avLst/>
          </a:prstGeom>
          <a:noFill/>
        </p:spPr>
        <p:txBody>
          <a:bodyPr wrap="square" rtlCol="0">
            <a:spAutoFit/>
          </a:bodyPr>
          <a:lstStyle/>
          <a:p>
            <a:pPr algn="ctr"/>
            <a:r>
              <a:rPr lang="en-US" sz="4800" dirty="0">
                <a:solidFill>
                  <a:srgbClr val="047954"/>
                </a:solidFill>
                <a:latin typeface="Arial Rounded MT Bold" panose="020F0704030504030204" pitchFamily="34" charset="0"/>
              </a:rPr>
              <a:t>Thank You for Your Attention</a:t>
            </a:r>
          </a:p>
        </p:txBody>
      </p:sp>
    </p:spTree>
    <p:extLst>
      <p:ext uri="{BB962C8B-B14F-4D97-AF65-F5344CB8AC3E}">
        <p14:creationId xmlns:p14="http://schemas.microsoft.com/office/powerpoint/2010/main" val="165850708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267</TotalTime>
  <Words>1028</Words>
  <Application>Microsoft Office PowerPoint</Application>
  <PresentationFormat>Widescreen</PresentationFormat>
  <Paragraphs>141</Paragraphs>
  <Slides>17</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Caveat SemiBold</vt:lpstr>
      <vt:lpstr>Times New Roman</vt:lpstr>
      <vt:lpstr>Calibri</vt:lpstr>
      <vt:lpstr>Abadi</vt:lpstr>
      <vt:lpstr>Arial</vt:lpstr>
      <vt:lpstr>Constantia</vt:lpstr>
      <vt:lpstr>Arial Rounded MT Bold</vt:lpstr>
      <vt:lpstr>Office Theme</vt:lpstr>
      <vt:lpstr>PowerPoint Presentation</vt:lpstr>
      <vt:lpstr>PowerPoint Presentation</vt:lpstr>
      <vt:lpstr>PowerPoint Presentation</vt:lpstr>
      <vt:lpstr>Proposed Solution: To address the recurring downtime issues identified in our analysis, we propose the following data-driven solution: Data Analysis and Monitoring: Conduct comprehensive data analysis to pinpoint the primary downtime causes, focusing on product lines, products, and specific operational processes. Leverage historical data to identify patterns and predict potential downtime events.</vt:lpstr>
      <vt:lpstr>PowerPoint Presentation</vt:lpstr>
      <vt:lpstr>PowerPoint Presentation</vt:lpstr>
      <vt:lpstr>PowerPoint Presentation</vt:lpstr>
      <vt:lpstr>Database Design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SAMA</dc:creator>
  <cp:lastModifiedBy>Malek hamed hafez hamed</cp:lastModifiedBy>
  <cp:revision>8</cp:revision>
  <dcterms:created xsi:type="dcterms:W3CDTF">2024-03-14T10:03:54Z</dcterms:created>
  <dcterms:modified xsi:type="dcterms:W3CDTF">2025-11-14T23:55:40Z</dcterms:modified>
</cp:coreProperties>
</file>