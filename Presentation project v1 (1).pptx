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9"/>
  </p:notesMasterIdLst>
  <p:sldIdLst>
    <p:sldId id="257" r:id="rId2"/>
    <p:sldId id="285" r:id="rId3"/>
    <p:sldId id="281" r:id="rId4"/>
    <p:sldId id="272" r:id="rId5"/>
    <p:sldId id="270" r:id="rId6"/>
    <p:sldId id="273" r:id="rId7"/>
    <p:sldId id="282" r:id="rId8"/>
    <p:sldId id="284" r:id="rId9"/>
    <p:sldId id="271" r:id="rId10"/>
    <p:sldId id="278" r:id="rId11"/>
    <p:sldId id="279" r:id="rId12"/>
    <p:sldId id="280" r:id="rId13"/>
    <p:sldId id="286" r:id="rId14"/>
    <p:sldId id="287" r:id="rId15"/>
    <p:sldId id="275" r:id="rId16"/>
    <p:sldId id="276" r:id="rId17"/>
    <p:sldId id="277" r:id="rId18"/>
  </p:sldIdLst>
  <p:sldSz cx="12192000" cy="6858000"/>
  <p:notesSz cx="6858000" cy="9144000"/>
  <p:embeddedFontLst>
    <p:embeddedFont>
      <p:font typeface="Abadi" panose="020B0604020104020204" pitchFamily="34" charset="0"/>
      <p:regular r:id="rId20"/>
    </p:embeddedFont>
    <p:embeddedFont>
      <p:font typeface="Arial Rounded MT Bold" panose="020F0704030504030204" pitchFamily="34" charset="0"/>
      <p:regular r:id="rId21"/>
    </p:embeddedFont>
    <p:embeddedFont>
      <p:font typeface="Caveat SemiBold" panose="020B0604020202020204" charset="0"/>
      <p:regular r:id="rId22"/>
      <p:bold r:id="rId23"/>
    </p:embeddedFont>
    <p:embeddedFont>
      <p:font typeface="Constantia" panose="02030602050306030303" pitchFamily="18"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2" roundtripDataSignature="AMtx7mj+pFHUbAQgkysDrKIyvjBG1gnmO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795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5256" autoAdjust="0"/>
  </p:normalViewPr>
  <p:slideViewPr>
    <p:cSldViewPr snapToGrid="0">
      <p:cViewPr varScale="1">
        <p:scale>
          <a:sx n="74" d="100"/>
          <a:sy n="74" d="100"/>
        </p:scale>
        <p:origin x="732"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4df671e9f6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3" name="Google Shape;113;g34df671e9f6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7" name="Google Shape;187;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a:extLst>
            <a:ext uri="{FF2B5EF4-FFF2-40B4-BE49-F238E27FC236}">
              <a16:creationId xmlns:a16="http://schemas.microsoft.com/office/drawing/2014/main" id="{82AAAC7B-A08F-3780-02F9-2E84FAB9DDD3}"/>
            </a:ext>
          </a:extLst>
        </p:cNvPr>
        <p:cNvGrpSpPr/>
        <p:nvPr/>
      </p:nvGrpSpPr>
      <p:grpSpPr>
        <a:xfrm>
          <a:off x="0" y="0"/>
          <a:ext cx="0" cy="0"/>
          <a:chOff x="0" y="0"/>
          <a:chExt cx="0" cy="0"/>
        </a:xfrm>
      </p:grpSpPr>
      <p:sp>
        <p:nvSpPr>
          <p:cNvPr id="186" name="Google Shape;186;p6:notes">
            <a:extLst>
              <a:ext uri="{FF2B5EF4-FFF2-40B4-BE49-F238E27FC236}">
                <a16:creationId xmlns:a16="http://schemas.microsoft.com/office/drawing/2014/main" id="{3E5D5531-ED65-1D28-671E-BAB462873D1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7" name="Google Shape;187;p6:notes">
            <a:extLst>
              <a:ext uri="{FF2B5EF4-FFF2-40B4-BE49-F238E27FC236}">
                <a16:creationId xmlns:a16="http://schemas.microsoft.com/office/drawing/2014/main" id="{DA951AB1-CCAD-20FD-09B1-4FAA487F61C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042893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0" name="Google Shape;250;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a:extLst>
            <a:ext uri="{FF2B5EF4-FFF2-40B4-BE49-F238E27FC236}">
              <a16:creationId xmlns:a16="http://schemas.microsoft.com/office/drawing/2014/main" id="{D95E2C72-9C20-ACE8-61EF-97531022A840}"/>
            </a:ext>
          </a:extLst>
        </p:cNvPr>
        <p:cNvGrpSpPr/>
        <p:nvPr/>
      </p:nvGrpSpPr>
      <p:grpSpPr>
        <a:xfrm>
          <a:off x="0" y="0"/>
          <a:ext cx="0" cy="0"/>
          <a:chOff x="0" y="0"/>
          <a:chExt cx="0" cy="0"/>
        </a:xfrm>
      </p:grpSpPr>
      <p:sp>
        <p:nvSpPr>
          <p:cNvPr id="186" name="Google Shape;186;p6:notes">
            <a:extLst>
              <a:ext uri="{FF2B5EF4-FFF2-40B4-BE49-F238E27FC236}">
                <a16:creationId xmlns:a16="http://schemas.microsoft.com/office/drawing/2014/main" id="{0E602DCC-6103-55DB-2FD5-35F9FD3BB95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7" name="Google Shape;187;p6:notes">
            <a:extLst>
              <a:ext uri="{FF2B5EF4-FFF2-40B4-BE49-F238E27FC236}">
                <a16:creationId xmlns:a16="http://schemas.microsoft.com/office/drawing/2014/main" id="{CB70A7F8-78B6-7EB5-8306-42E8C185DD0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611534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a:extLst>
            <a:ext uri="{FF2B5EF4-FFF2-40B4-BE49-F238E27FC236}">
              <a16:creationId xmlns:a16="http://schemas.microsoft.com/office/drawing/2014/main" id="{3193E18F-8204-7F61-0954-D01975F47331}"/>
            </a:ext>
          </a:extLst>
        </p:cNvPr>
        <p:cNvGrpSpPr/>
        <p:nvPr/>
      </p:nvGrpSpPr>
      <p:grpSpPr>
        <a:xfrm>
          <a:off x="0" y="0"/>
          <a:ext cx="0" cy="0"/>
          <a:chOff x="0" y="0"/>
          <a:chExt cx="0" cy="0"/>
        </a:xfrm>
      </p:grpSpPr>
      <p:sp>
        <p:nvSpPr>
          <p:cNvPr id="186" name="Google Shape;186;p6:notes">
            <a:extLst>
              <a:ext uri="{FF2B5EF4-FFF2-40B4-BE49-F238E27FC236}">
                <a16:creationId xmlns:a16="http://schemas.microsoft.com/office/drawing/2014/main" id="{8704196A-51A2-46A2-3FE4-C3785245A1C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87" name="Google Shape;187;p6:notes">
            <a:extLst>
              <a:ext uri="{FF2B5EF4-FFF2-40B4-BE49-F238E27FC236}">
                <a16:creationId xmlns:a16="http://schemas.microsoft.com/office/drawing/2014/main" id="{407D27F3-D5D9-6C34-2968-E0807FF8851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352895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7" name="Google Shape;187;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475638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0"/>
        <p:cNvGrpSpPr/>
        <p:nvPr/>
      </p:nvGrpSpPr>
      <p:grpSpPr>
        <a:xfrm>
          <a:off x="0" y="0"/>
          <a:ext cx="0" cy="0"/>
          <a:chOff x="0" y="0"/>
          <a:chExt cx="0" cy="0"/>
        </a:xfrm>
      </p:grpSpPr>
      <p:sp>
        <p:nvSpPr>
          <p:cNvPr id="21" name="Google Shape;21;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14"/>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4"/>
        <p:cNvGrpSpPr/>
        <p:nvPr/>
      </p:nvGrpSpPr>
      <p:grpSpPr>
        <a:xfrm>
          <a:off x="0" y="0"/>
          <a:ext cx="0" cy="0"/>
          <a:chOff x="0" y="0"/>
          <a:chExt cx="0" cy="0"/>
        </a:xfrm>
      </p:grpSpPr>
      <p:sp>
        <p:nvSpPr>
          <p:cNvPr id="25" name="Google Shape;25;p1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1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7" name="Google Shape;2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5"/>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3"/>
        <p:cNvGrpSpPr/>
        <p:nvPr/>
      </p:nvGrpSpPr>
      <p:grpSpPr>
        <a:xfrm>
          <a:off x="0" y="0"/>
          <a:ext cx="0" cy="0"/>
          <a:chOff x="0" y="0"/>
          <a:chExt cx="0" cy="0"/>
        </a:xfrm>
      </p:grpSpPr>
      <p:pic>
        <p:nvPicPr>
          <p:cNvPr id="44" name="Google Shape;44;p18"/>
          <p:cNvPicPr preferRelativeResize="0"/>
          <p:nvPr/>
        </p:nvPicPr>
        <p:blipFill rotWithShape="1">
          <a:blip r:embed="rId2">
            <a:alphaModFix/>
          </a:blip>
          <a:srcRect/>
          <a:stretch/>
        </p:blipFill>
        <p:spPr>
          <a:xfrm>
            <a:off x="-6350" y="0"/>
            <a:ext cx="12192000" cy="6858000"/>
          </a:xfrm>
          <a:prstGeom prst="rect">
            <a:avLst/>
          </a:prstGeom>
          <a:noFill/>
          <a:ln>
            <a:noFill/>
          </a:ln>
        </p:spPr>
      </p:pic>
      <p:pic>
        <p:nvPicPr>
          <p:cNvPr id="45" name="Google Shape;45;p18"/>
          <p:cNvPicPr preferRelativeResize="0"/>
          <p:nvPr/>
        </p:nvPicPr>
        <p:blipFill rotWithShape="1">
          <a:blip r:embed="rId3">
            <a:alphaModFix/>
          </a:blip>
          <a:srcRect/>
          <a:stretch/>
        </p:blipFill>
        <p:spPr>
          <a:xfrm>
            <a:off x="10711512" y="330213"/>
            <a:ext cx="1284576" cy="637759"/>
          </a:xfrm>
          <a:prstGeom prst="rect">
            <a:avLst/>
          </a:prstGeom>
          <a:noFill/>
          <a:ln>
            <a:noFill/>
          </a:ln>
        </p:spPr>
      </p:pic>
      <p:sp>
        <p:nvSpPr>
          <p:cNvPr id="46" name="Google Shape;46;p18"/>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8"/>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8" name="Google Shape;48;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8"/>
          <p:cNvSpPr/>
          <p:nvPr/>
        </p:nvSpPr>
        <p:spPr>
          <a:xfrm>
            <a:off x="838200" y="6338919"/>
            <a:ext cx="2743200" cy="382556"/>
          </a:xfrm>
          <a:custGeom>
            <a:avLst/>
            <a:gdLst/>
            <a:ahLst/>
            <a:cxnLst/>
            <a:rect l="l" t="t" r="r" b="b"/>
            <a:pathLst>
              <a:path w="1026026" h="189485" extrusionOk="0">
                <a:moveTo>
                  <a:pt x="0" y="0"/>
                </a:moveTo>
                <a:lnTo>
                  <a:pt x="1026026" y="0"/>
                </a:lnTo>
                <a:lnTo>
                  <a:pt x="1026026" y="189485"/>
                </a:lnTo>
                <a:lnTo>
                  <a:pt x="0" y="189485"/>
                </a:lnTo>
                <a:close/>
              </a:path>
            </a:pathLst>
          </a:custGeom>
          <a:solidFill>
            <a:srgbClr val="1869A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0" name="Google Shape;50;p18"/>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51" name="Google Shape;51;p18"/>
          <p:cNvPicPr preferRelativeResize="0"/>
          <p:nvPr/>
        </p:nvPicPr>
        <p:blipFill rotWithShape="1">
          <a:blip r:embed="rId4">
            <a:alphaModFix/>
          </a:blip>
          <a:srcRect/>
          <a:stretch/>
        </p:blipFill>
        <p:spPr>
          <a:xfrm>
            <a:off x="93317" y="0"/>
            <a:ext cx="1489765" cy="1386637"/>
          </a:xfrm>
          <a:prstGeom prst="rect">
            <a:avLst/>
          </a:prstGeom>
          <a:noFill/>
          <a:ln>
            <a:noFill/>
          </a:ln>
        </p:spPr>
      </p:pic>
      <p:sp>
        <p:nvSpPr>
          <p:cNvPr id="52" name="Google Shape;52;p18"/>
          <p:cNvSpPr/>
          <p:nvPr/>
        </p:nvSpPr>
        <p:spPr>
          <a:xfrm>
            <a:off x="10933155" y="6344015"/>
            <a:ext cx="466090" cy="431923"/>
          </a:xfrm>
          <a:custGeom>
            <a:avLst/>
            <a:gdLst/>
            <a:ahLst/>
            <a:cxnLst/>
            <a:rect l="l" t="t" r="r" b="b"/>
            <a:pathLst>
              <a:path w="1026026" h="189485" extrusionOk="0">
                <a:moveTo>
                  <a:pt x="0" y="0"/>
                </a:moveTo>
                <a:lnTo>
                  <a:pt x="1026026" y="0"/>
                </a:lnTo>
                <a:lnTo>
                  <a:pt x="1026026" y="189485"/>
                </a:lnTo>
                <a:lnTo>
                  <a:pt x="0" y="189485"/>
                </a:lnTo>
                <a:close/>
              </a:path>
            </a:pathLst>
          </a:custGeom>
          <a:solidFill>
            <a:srgbClr val="1869A6"/>
          </a:solidFill>
          <a:ln>
            <a:noFill/>
          </a:ln>
        </p:spPr>
      </p:sp>
      <p:sp>
        <p:nvSpPr>
          <p:cNvPr id="53" name="Google Shape;53;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4"/>
        <p:cNvGrpSpPr/>
        <p:nvPr/>
      </p:nvGrpSpPr>
      <p:grpSpPr>
        <a:xfrm>
          <a:off x="0" y="0"/>
          <a:ext cx="0" cy="0"/>
          <a:chOff x="0" y="0"/>
          <a:chExt cx="0" cy="0"/>
        </a:xfrm>
      </p:grpSpPr>
      <p:sp>
        <p:nvSpPr>
          <p:cNvPr id="55" name="Google Shape;55;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9"/>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19"/>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 name="Google Shape;58;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9"/>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61"/>
        <p:cNvGrpSpPr/>
        <p:nvPr/>
      </p:nvGrpSpPr>
      <p:grpSpPr>
        <a:xfrm>
          <a:off x="0" y="0"/>
          <a:ext cx="0" cy="0"/>
          <a:chOff x="0" y="0"/>
          <a:chExt cx="0" cy="0"/>
        </a:xfrm>
      </p:grpSpPr>
      <p:sp>
        <p:nvSpPr>
          <p:cNvPr id="62" name="Google Shape;62;p20"/>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0"/>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4" name="Google Shape;64;p20"/>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20"/>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6" name="Google Shape;66;p20"/>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7" name="Google Shape;67;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20"/>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0"/>
        <p:cNvGrpSpPr/>
        <p:nvPr/>
      </p:nvGrpSpPr>
      <p:grpSpPr>
        <a:xfrm>
          <a:off x="0" y="0"/>
          <a:ext cx="0" cy="0"/>
          <a:chOff x="0" y="0"/>
          <a:chExt cx="0" cy="0"/>
        </a:xfrm>
      </p:grpSpPr>
      <p:sp>
        <p:nvSpPr>
          <p:cNvPr id="71" name="Google Shape;71;p2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2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3" name="Google Shape;73;p2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4" name="Google Shape;74;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21"/>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7"/>
        <p:cNvGrpSpPr/>
        <p:nvPr/>
      </p:nvGrpSpPr>
      <p:grpSpPr>
        <a:xfrm>
          <a:off x="0" y="0"/>
          <a:ext cx="0" cy="0"/>
          <a:chOff x="0" y="0"/>
          <a:chExt cx="0" cy="0"/>
        </a:xfrm>
      </p:grpSpPr>
      <p:sp>
        <p:nvSpPr>
          <p:cNvPr id="78" name="Google Shape;78;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22"/>
          <p:cNvSpPr>
            <a:spLocks noGrp="1"/>
          </p:cNvSpPr>
          <p:nvPr>
            <p:ph type="pic" idx="2"/>
          </p:nvPr>
        </p:nvSpPr>
        <p:spPr>
          <a:xfrm>
            <a:off x="5183188" y="987425"/>
            <a:ext cx="6172200" cy="4873625"/>
          </a:xfrm>
          <a:prstGeom prst="rect">
            <a:avLst/>
          </a:prstGeom>
          <a:noFill/>
          <a:ln>
            <a:noFill/>
          </a:ln>
        </p:spPr>
      </p:sp>
      <p:sp>
        <p:nvSpPr>
          <p:cNvPr id="80" name="Google Shape;80;p2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81" name="Google Shape;81;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22"/>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4"/>
        <p:cNvGrpSpPr/>
        <p:nvPr/>
      </p:nvGrpSpPr>
      <p:grpSpPr>
        <a:xfrm>
          <a:off x="0" y="0"/>
          <a:ext cx="0" cy="0"/>
          <a:chOff x="0" y="0"/>
          <a:chExt cx="0" cy="0"/>
        </a:xfrm>
      </p:grpSpPr>
      <p:sp>
        <p:nvSpPr>
          <p:cNvPr id="85" name="Google Shape;85;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23"/>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23"/>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9" name="Google Shape;89;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0"/>
        <p:cNvGrpSpPr/>
        <p:nvPr/>
      </p:nvGrpSpPr>
      <p:grpSpPr>
        <a:xfrm>
          <a:off x="0" y="0"/>
          <a:ext cx="0" cy="0"/>
          <a:chOff x="0" y="0"/>
          <a:chExt cx="0" cy="0"/>
        </a:xfrm>
      </p:grpSpPr>
      <p:sp>
        <p:nvSpPr>
          <p:cNvPr id="91" name="Google Shape;91;p24"/>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4"/>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3" name="Google Shape;93;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4" name="Google Shape;94;p24"/>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5" name="Google Shape;95;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96"/>
        <p:cNvGrpSpPr/>
        <p:nvPr/>
      </p:nvGrpSpPr>
      <p:grpSpPr>
        <a:xfrm>
          <a:off x="0" y="0"/>
          <a:ext cx="0" cy="0"/>
          <a:chOff x="0" y="0"/>
          <a:chExt cx="0" cy="0"/>
        </a:xfrm>
      </p:grpSpPr>
      <p:sp>
        <p:nvSpPr>
          <p:cNvPr id="97" name="Google Shape;97;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9" name="Google Shape;99;p25"/>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13"/>
          <p:cNvPicPr preferRelativeResize="0"/>
          <p:nvPr/>
        </p:nvPicPr>
        <p:blipFill rotWithShape="1">
          <a:blip r:embed="rId12">
            <a:alphaModFix/>
          </a:blip>
          <a:srcRect/>
          <a:stretch/>
        </p:blipFill>
        <p:spPr>
          <a:xfrm>
            <a:off x="0" y="0"/>
            <a:ext cx="12192000" cy="6858000"/>
          </a:xfrm>
          <a:prstGeom prst="rect">
            <a:avLst/>
          </a:prstGeom>
          <a:noFill/>
          <a:ln>
            <a:noFill/>
          </a:ln>
        </p:spPr>
      </p:pic>
      <p:pic>
        <p:nvPicPr>
          <p:cNvPr id="11" name="Google Shape;11;p13"/>
          <p:cNvPicPr preferRelativeResize="0"/>
          <p:nvPr/>
        </p:nvPicPr>
        <p:blipFill rotWithShape="1">
          <a:blip r:embed="rId13">
            <a:alphaModFix/>
          </a:blip>
          <a:srcRect/>
          <a:stretch/>
        </p:blipFill>
        <p:spPr>
          <a:xfrm>
            <a:off x="10711512" y="330213"/>
            <a:ext cx="1284576" cy="637759"/>
          </a:xfrm>
          <a:prstGeom prst="rect">
            <a:avLst/>
          </a:prstGeom>
          <a:noFill/>
          <a:ln>
            <a:noFill/>
          </a:ln>
        </p:spPr>
      </p:pic>
      <p:sp>
        <p:nvSpPr>
          <p:cNvPr id="12" name="Google Shape;12;p13"/>
          <p:cNvSpPr/>
          <p:nvPr/>
        </p:nvSpPr>
        <p:spPr>
          <a:xfrm>
            <a:off x="838200" y="6338919"/>
            <a:ext cx="2743200" cy="382556"/>
          </a:xfrm>
          <a:custGeom>
            <a:avLst/>
            <a:gdLst/>
            <a:ahLst/>
            <a:cxnLst/>
            <a:rect l="l" t="t" r="r" b="b"/>
            <a:pathLst>
              <a:path w="1026026" h="189485" extrusionOk="0">
                <a:moveTo>
                  <a:pt x="0" y="0"/>
                </a:moveTo>
                <a:lnTo>
                  <a:pt x="1026026" y="0"/>
                </a:lnTo>
                <a:lnTo>
                  <a:pt x="1026026" y="189485"/>
                </a:lnTo>
                <a:lnTo>
                  <a:pt x="0" y="189485"/>
                </a:lnTo>
                <a:close/>
              </a:path>
            </a:pathLst>
          </a:custGeom>
          <a:solidFill>
            <a:srgbClr val="1869A6"/>
          </a:solidFill>
          <a:ln>
            <a:noFill/>
          </a:ln>
        </p:spPr>
        <p:txBody>
          <a:bodyPr/>
          <a:lstStyle/>
          <a:p>
            <a:endParaRPr lang="en-US"/>
          </a:p>
        </p:txBody>
      </p:sp>
      <p:pic>
        <p:nvPicPr>
          <p:cNvPr id="13" name="Google Shape;13;p13"/>
          <p:cNvPicPr preferRelativeResize="0"/>
          <p:nvPr/>
        </p:nvPicPr>
        <p:blipFill rotWithShape="1">
          <a:blip r:embed="rId14">
            <a:alphaModFix/>
          </a:blip>
          <a:srcRect/>
          <a:stretch/>
        </p:blipFill>
        <p:spPr>
          <a:xfrm>
            <a:off x="93317" y="0"/>
            <a:ext cx="1489765" cy="1386637"/>
          </a:xfrm>
          <a:prstGeom prst="rect">
            <a:avLst/>
          </a:prstGeom>
          <a:noFill/>
          <a:ln>
            <a:noFill/>
          </a:ln>
        </p:spPr>
      </p:pic>
      <p:sp>
        <p:nvSpPr>
          <p:cNvPr id="14" name="Google Shape;14;p13"/>
          <p:cNvSpPr/>
          <p:nvPr/>
        </p:nvSpPr>
        <p:spPr>
          <a:xfrm>
            <a:off x="10974189" y="6344015"/>
            <a:ext cx="466090" cy="431923"/>
          </a:xfrm>
          <a:custGeom>
            <a:avLst/>
            <a:gdLst/>
            <a:ahLst/>
            <a:cxnLst/>
            <a:rect l="l" t="t" r="r" b="b"/>
            <a:pathLst>
              <a:path w="1026026" h="189485" extrusionOk="0">
                <a:moveTo>
                  <a:pt x="0" y="0"/>
                </a:moveTo>
                <a:lnTo>
                  <a:pt x="1026026" y="0"/>
                </a:lnTo>
                <a:lnTo>
                  <a:pt x="1026026" y="189485"/>
                </a:lnTo>
                <a:lnTo>
                  <a:pt x="0" y="189485"/>
                </a:lnTo>
                <a:close/>
              </a:path>
            </a:pathLst>
          </a:custGeom>
          <a:solidFill>
            <a:srgbClr val="1869A6"/>
          </a:solidFill>
          <a:ln>
            <a:noFill/>
          </a:ln>
        </p:spPr>
        <p:txBody>
          <a:bodyPr/>
          <a:lstStyle/>
          <a:p>
            <a:endParaRPr lang="en-US"/>
          </a:p>
        </p:txBody>
      </p:sp>
      <p:sp>
        <p:nvSpPr>
          <p:cNvPr id="15" name="Google Shape;15;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6" name="Google Shape;16;p1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7" name="Google Shape;17;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8" name="Google Shape;18;p13"/>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9" name="Google Shape;19;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tmp"/><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tmp"/><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4"/>
        <p:cNvGrpSpPr/>
        <p:nvPr/>
      </p:nvGrpSpPr>
      <p:grpSpPr>
        <a:xfrm>
          <a:off x="0" y="0"/>
          <a:ext cx="0" cy="0"/>
          <a:chOff x="0" y="0"/>
          <a:chExt cx="0" cy="0"/>
        </a:xfrm>
      </p:grpSpPr>
      <p:sp>
        <p:nvSpPr>
          <p:cNvPr id="115" name="Google Shape;115;g34df671e9f6_0_0"/>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p>
            <a:endParaRPr lang="en-US" sz="1600" dirty="0">
              <a:solidFill>
                <a:schemeClr val="bg1"/>
              </a:solidFill>
              <a:latin typeface="Constantia" panose="02030602050306030303" pitchFamily="18" charset="0"/>
            </a:endParaRPr>
          </a:p>
        </p:txBody>
      </p:sp>
      <p:sp>
        <p:nvSpPr>
          <p:cNvPr id="117" name="Google Shape;117;g34df671e9f6_0_0"/>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a:t>
            </a:fld>
            <a:endParaRPr/>
          </a:p>
        </p:txBody>
      </p:sp>
      <p:sp>
        <p:nvSpPr>
          <p:cNvPr id="118" name="Google Shape;118;g34df671e9f6_0_0"/>
          <p:cNvSpPr txBox="1"/>
          <p:nvPr/>
        </p:nvSpPr>
        <p:spPr>
          <a:xfrm>
            <a:off x="3725400" y="825731"/>
            <a:ext cx="4741200" cy="2763700"/>
          </a:xfrm>
          <a:prstGeom prst="rect">
            <a:avLst/>
          </a:prstGeom>
          <a:noFill/>
          <a:ln>
            <a:noFill/>
          </a:ln>
          <a:effectLst>
            <a:outerShdw blurRad="50800" dist="50800" dir="5400000" algn="ctr" rotWithShape="0">
              <a:schemeClr val="accent6">
                <a:lumMod val="40000"/>
                <a:lumOff val="60000"/>
              </a:schemeClr>
            </a:outerShdw>
          </a:effectLst>
        </p:spPr>
        <p:txBody>
          <a:bodyPr spcFirstLastPara="1" wrap="square" lIns="91425" tIns="45700" rIns="91425" bIns="45700" anchor="ctr" anchorCtr="0">
            <a:noAutofit/>
            <a:scene3d>
              <a:camera prst="orthographicFront"/>
              <a:lightRig rig="threePt" dir="t"/>
            </a:scene3d>
            <a:sp3d prstMaterial="clear"/>
          </a:bodyPr>
          <a:lstStyle/>
          <a:p>
            <a:pPr marL="0" marR="0" lvl="0" indent="0" algn="ctr" rtl="0">
              <a:lnSpc>
                <a:spcPct val="90000"/>
              </a:lnSpc>
              <a:spcBef>
                <a:spcPts val="0"/>
              </a:spcBef>
              <a:spcAft>
                <a:spcPts val="0"/>
              </a:spcAft>
              <a:buClr>
                <a:srgbClr val="0D0D0D"/>
              </a:buClr>
              <a:buSzPts val="2000"/>
              <a:buFont typeface="Arial"/>
              <a:buNone/>
            </a:pPr>
            <a:r>
              <a:rPr lang="en-US" sz="3800" b="1">
                <a:solidFill>
                  <a:srgbClr val="0D0D0D"/>
                </a:solidFill>
              </a:rPr>
              <a:t>                </a:t>
            </a:r>
            <a:r>
              <a:rPr lang="en-US" sz="4400" b="1">
                <a:solidFill>
                  <a:schemeClr val="accent6">
                    <a:lumMod val="50000"/>
                  </a:schemeClr>
                </a:solidFill>
                <a:effectLst>
                  <a:glow rad="101600">
                    <a:schemeClr val="accent6">
                      <a:lumMod val="50000"/>
                      <a:alpha val="29000"/>
                    </a:schemeClr>
                  </a:glow>
                  <a:outerShdw blurRad="50800" dist="50800" dir="5400000" sx="1000" sy="1000" algn="ctr" rotWithShape="0">
                    <a:srgbClr val="000000">
                      <a:alpha val="98000"/>
                    </a:srgbClr>
                  </a:outerShdw>
                </a:effectLst>
                <a:latin typeface="Arial" panose="020B0604020202020204" pitchFamily="34" charset="0"/>
                <a:ea typeface="Times New Roman"/>
                <a:cs typeface="Arial" panose="020B0604020202020204" pitchFamily="34" charset="0"/>
                <a:sym typeface="Times New Roman"/>
              </a:rPr>
              <a:t>Manufacturing Downtime  </a:t>
            </a:r>
          </a:p>
          <a:p>
            <a:pPr marL="0" marR="0" lvl="0" indent="0" algn="ctr" rtl="0">
              <a:lnSpc>
                <a:spcPct val="90000"/>
              </a:lnSpc>
              <a:spcBef>
                <a:spcPts val="0"/>
              </a:spcBef>
              <a:spcAft>
                <a:spcPts val="0"/>
              </a:spcAft>
              <a:buClr>
                <a:srgbClr val="0D0D0D"/>
              </a:buClr>
              <a:buSzPts val="2000"/>
              <a:buFont typeface="Arial"/>
              <a:buNone/>
            </a:pPr>
            <a:r>
              <a:rPr lang="en-US" sz="4400" b="1">
                <a:solidFill>
                  <a:schemeClr val="accent6">
                    <a:lumMod val="50000"/>
                  </a:schemeClr>
                </a:solidFill>
                <a:effectLst>
                  <a:glow rad="101600">
                    <a:schemeClr val="accent6">
                      <a:lumMod val="50000"/>
                      <a:alpha val="29000"/>
                    </a:schemeClr>
                  </a:glow>
                  <a:outerShdw blurRad="50800" dist="50800" dir="5400000" sx="1000" sy="1000" algn="ctr" rotWithShape="0">
                    <a:srgbClr val="000000">
                      <a:alpha val="98000"/>
                    </a:srgbClr>
                  </a:outerShdw>
                </a:effectLst>
                <a:latin typeface="Arial" panose="020B0604020202020204" pitchFamily="34" charset="0"/>
                <a:ea typeface="Times New Roman"/>
                <a:cs typeface="Arial" panose="020B0604020202020204" pitchFamily="34" charset="0"/>
                <a:sym typeface="Times New Roman"/>
              </a:rPr>
              <a:t>Project</a:t>
            </a:r>
            <a:r>
              <a:rPr lang="en-US" sz="3300" b="1">
                <a:solidFill>
                  <a:schemeClr val="accent6">
                    <a:lumMod val="50000"/>
                  </a:schemeClr>
                </a:solidFill>
                <a:effectLst>
                  <a:glow rad="101600">
                    <a:schemeClr val="accent6">
                      <a:lumMod val="50000"/>
                      <a:alpha val="29000"/>
                    </a:schemeClr>
                  </a:glow>
                  <a:outerShdw blurRad="50800" dist="50800" dir="5400000" sx="1000" sy="1000" algn="ctr" rotWithShape="0">
                    <a:srgbClr val="000000">
                      <a:alpha val="98000"/>
                    </a:srgbClr>
                  </a:outerShdw>
                </a:effectLst>
                <a:latin typeface="Arial" panose="020B0604020202020204" pitchFamily="34" charset="0"/>
                <a:ea typeface="Times New Roman"/>
                <a:cs typeface="Arial" panose="020B0604020202020204" pitchFamily="34" charset="0"/>
                <a:sym typeface="Times New Roman"/>
              </a:rPr>
              <a:t>                                        </a:t>
            </a:r>
            <a:r>
              <a:rPr lang="en-US" sz="1800">
                <a:solidFill>
                  <a:schemeClr val="accent6">
                    <a:lumMod val="50000"/>
                  </a:schemeClr>
                </a:solidFill>
                <a:effectLst>
                  <a:glow rad="101600">
                    <a:schemeClr val="accent6">
                      <a:lumMod val="50000"/>
                      <a:alpha val="29000"/>
                    </a:schemeClr>
                  </a:glow>
                  <a:outerShdw blurRad="50800" dist="50800" dir="5400000" sx="1000" sy="1000" algn="ctr" rotWithShape="0">
                    <a:srgbClr val="000000">
                      <a:alpha val="98000"/>
                    </a:srgbClr>
                  </a:outerShdw>
                </a:effectLst>
                <a:latin typeface="Arial" panose="020B0604020202020204" pitchFamily="34" charset="0"/>
                <a:cs typeface="Arial" panose="020B0604020202020204" pitchFamily="34" charset="0"/>
              </a:rPr>
              <a:t> </a:t>
            </a:r>
          </a:p>
          <a:p>
            <a:pPr marL="0" marR="0" lvl="0" indent="0" algn="l" rtl="0">
              <a:lnSpc>
                <a:spcPct val="90000"/>
              </a:lnSpc>
              <a:spcBef>
                <a:spcPts val="1000"/>
              </a:spcBef>
              <a:spcAft>
                <a:spcPts val="0"/>
              </a:spcAft>
              <a:buNone/>
            </a:pPr>
            <a:r>
              <a:rPr lang="en-US" sz="1800" b="0" i="0" u="none" strike="noStrike" cap="none">
                <a:solidFill>
                  <a:srgbClr val="D7B119"/>
                </a:solidFill>
                <a:effectLst>
                  <a:glow rad="101600">
                    <a:schemeClr val="accent6">
                      <a:lumMod val="50000"/>
                      <a:alpha val="29000"/>
                    </a:schemeClr>
                  </a:glow>
                </a:effectLst>
                <a:latin typeface="Arial" panose="020B0604020202020204" pitchFamily="34" charset="0"/>
                <a:cs typeface="Arial" panose="020B0604020202020204" pitchFamily="34" charset="0"/>
                <a:sym typeface="Arial"/>
              </a:rPr>
              <a:t> </a:t>
            </a:r>
            <a:endParaRPr sz="1400" b="0" i="0" u="none" strike="noStrike" cap="none">
              <a:solidFill>
                <a:srgbClr val="D7B119"/>
              </a:solidFill>
              <a:effectLst>
                <a:glow rad="101600">
                  <a:schemeClr val="accent6">
                    <a:lumMod val="50000"/>
                    <a:alpha val="29000"/>
                  </a:schemeClr>
                </a:glow>
              </a:effectLst>
              <a:latin typeface="Arial" panose="020B0604020202020204" pitchFamily="34" charset="0"/>
              <a:cs typeface="Arial" panose="020B0604020202020204" pitchFamily="34" charset="0"/>
              <a:sym typeface="Arial"/>
            </a:endParaRPr>
          </a:p>
          <a:p>
            <a:pPr marL="457200" marR="0" lvl="0" indent="0" algn="l" rtl="0">
              <a:lnSpc>
                <a:spcPct val="90000"/>
              </a:lnSpc>
              <a:spcBef>
                <a:spcPts val="100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1000"/>
              </a:spcBef>
              <a:spcAft>
                <a:spcPts val="0"/>
              </a:spcAft>
              <a:buClr>
                <a:schemeClr val="dk1"/>
              </a:buClr>
              <a:buSzPts val="2800"/>
              <a:buFont typeface="Arial"/>
              <a:buNone/>
            </a:pPr>
            <a:r>
              <a:rPr lang="en-US" sz="2800">
                <a:solidFill>
                  <a:schemeClr val="dk1"/>
                </a:solidFill>
                <a:latin typeface="Calibri"/>
                <a:ea typeface="Calibri"/>
                <a:cs typeface="Calibri"/>
                <a:sym typeface="Calibri"/>
              </a:rPr>
              <a:t>                      </a:t>
            </a:r>
            <a:endParaRPr sz="2800" i="0" u="none" strike="noStrike" cap="none">
              <a:solidFill>
                <a:schemeClr val="dk1"/>
              </a:solidFill>
              <a:latin typeface="Caveat SemiBold"/>
              <a:ea typeface="Caveat SemiBold"/>
              <a:cs typeface="Caveat SemiBold"/>
              <a:sym typeface="Caveat SemiBold"/>
            </a:endParaRPr>
          </a:p>
        </p:txBody>
      </p:sp>
      <p:sp>
        <p:nvSpPr>
          <p:cNvPr id="121" name="Google Shape;121;g34df671e9f6_0_0"/>
          <p:cNvSpPr txBox="1"/>
          <p:nvPr/>
        </p:nvSpPr>
        <p:spPr>
          <a:xfrm>
            <a:off x="4830050" y="1668775"/>
            <a:ext cx="2743200" cy="861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4400" b="1">
              <a:solidFill>
                <a:srgbClr val="0D0D0D"/>
              </a:solidFill>
              <a:effectLst>
                <a:glow rad="1066800">
                  <a:schemeClr val="accent4">
                    <a:satMod val="175000"/>
                    <a:alpha val="40000"/>
                  </a:schemeClr>
                </a:glow>
              </a:effectLst>
              <a:latin typeface="Times New Roman"/>
              <a:ea typeface="Times New Roman"/>
              <a:cs typeface="Times New Roman"/>
              <a:sym typeface="Times New Roman"/>
            </a:endParaRPr>
          </a:p>
        </p:txBody>
      </p:sp>
      <p:sp>
        <p:nvSpPr>
          <p:cNvPr id="122" name="Google Shape;122;g34df671e9f6_0_0"/>
          <p:cNvSpPr txBox="1"/>
          <p:nvPr/>
        </p:nvSpPr>
        <p:spPr>
          <a:xfrm>
            <a:off x="5307200" y="2254013"/>
            <a:ext cx="1788900" cy="769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3800" b="1">
              <a:solidFill>
                <a:schemeClr val="dk1"/>
              </a:solidFill>
              <a:latin typeface="Times New Roman"/>
              <a:ea typeface="Times New Roman"/>
              <a:cs typeface="Times New Roman"/>
              <a:sym typeface="Times New Roman"/>
            </a:endParaRPr>
          </a:p>
        </p:txBody>
      </p:sp>
      <p:sp>
        <p:nvSpPr>
          <p:cNvPr id="123" name="Google Shape;123;g34df671e9f6_0_0"/>
          <p:cNvSpPr txBox="1"/>
          <p:nvPr/>
        </p:nvSpPr>
        <p:spPr>
          <a:xfrm>
            <a:off x="292062" y="2274026"/>
            <a:ext cx="2539988" cy="615523"/>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800" b="1" dirty="0">
                <a:solidFill>
                  <a:srgbClr val="38761D"/>
                </a:solidFill>
                <a:latin typeface="Arial" panose="020B0604020202020204" pitchFamily="34" charset="0"/>
                <a:ea typeface="Times New Roman"/>
                <a:cs typeface="Arial" panose="020B0604020202020204" pitchFamily="34" charset="0"/>
                <a:sym typeface="Times New Roman"/>
              </a:rPr>
              <a:t>presented by</a:t>
            </a:r>
            <a:r>
              <a:rPr lang="en-US" sz="2800" dirty="0">
                <a:solidFill>
                  <a:srgbClr val="38761D"/>
                </a:solidFill>
                <a:latin typeface="Arial" panose="020B0604020202020204" pitchFamily="34" charset="0"/>
                <a:ea typeface="Times New Roman"/>
                <a:cs typeface="Arial" panose="020B0604020202020204" pitchFamily="34" charset="0"/>
                <a:sym typeface="Times New Roman"/>
              </a:rPr>
              <a:t>:</a:t>
            </a:r>
            <a:endParaRPr sz="2800" dirty="0">
              <a:solidFill>
                <a:srgbClr val="38761D"/>
              </a:solidFill>
              <a:latin typeface="Arial" panose="020B0604020202020204" pitchFamily="34" charset="0"/>
              <a:ea typeface="Times New Roman"/>
              <a:cs typeface="Arial" panose="020B0604020202020204" pitchFamily="34" charset="0"/>
              <a:sym typeface="Times New Roman"/>
            </a:endParaRPr>
          </a:p>
        </p:txBody>
      </p:sp>
      <p:sp>
        <p:nvSpPr>
          <p:cNvPr id="125" name="Google Shape;125;g34df671e9f6_0_0"/>
          <p:cNvSpPr txBox="1"/>
          <p:nvPr/>
        </p:nvSpPr>
        <p:spPr>
          <a:xfrm>
            <a:off x="89489" y="2889549"/>
            <a:ext cx="4629349" cy="2031295"/>
          </a:xfrm>
          <a:prstGeom prst="rect">
            <a:avLst/>
          </a:prstGeom>
          <a:noFill/>
          <a:ln>
            <a:noFill/>
          </a:ln>
        </p:spPr>
        <p:txBody>
          <a:bodyPr spcFirstLastPara="1" wrap="square" lIns="91425" tIns="91425" rIns="91425" bIns="91425" anchor="t" anchorCtr="0">
            <a:spAutoFit/>
          </a:bodyPr>
          <a:lstStyle/>
          <a:p>
            <a:pPr lvl="0"/>
            <a:r>
              <a:rPr lang="en-US" sz="2000" dirty="0">
                <a:solidFill>
                  <a:schemeClr val="dk1"/>
                </a:solidFill>
                <a:latin typeface="Arial" panose="020B0604020202020204" pitchFamily="34" charset="0"/>
                <a:ea typeface="Times New Roman"/>
                <a:cs typeface="Arial" panose="020B0604020202020204" pitchFamily="34" charset="0"/>
                <a:sym typeface="Times New Roman"/>
              </a:rPr>
              <a:t>Malek Mohammed Hamed	</a:t>
            </a:r>
          </a:p>
          <a:p>
            <a:pPr lvl="0"/>
            <a:r>
              <a:rPr lang="en-US" sz="2000" dirty="0">
                <a:solidFill>
                  <a:schemeClr val="dk1"/>
                </a:solidFill>
                <a:latin typeface="Arial" panose="020B0604020202020204" pitchFamily="34" charset="0"/>
                <a:ea typeface="Times New Roman"/>
                <a:cs typeface="Arial" panose="020B0604020202020204" pitchFamily="34" charset="0"/>
                <a:sym typeface="Times New Roman"/>
              </a:rPr>
              <a:t>Azza Amen Mohamed Amen </a:t>
            </a:r>
          </a:p>
          <a:p>
            <a:pPr lvl="0"/>
            <a:r>
              <a:rPr lang="en-US" sz="2000" dirty="0">
                <a:solidFill>
                  <a:schemeClr val="dk1"/>
                </a:solidFill>
                <a:latin typeface="Arial" panose="020B0604020202020204" pitchFamily="34" charset="0"/>
                <a:ea typeface="Times New Roman"/>
                <a:cs typeface="Arial" panose="020B0604020202020204" pitchFamily="34" charset="0"/>
                <a:sym typeface="Times New Roman"/>
              </a:rPr>
              <a:t>Rana Wagih Hussein	</a:t>
            </a:r>
          </a:p>
          <a:p>
            <a:pPr lvl="0"/>
            <a:r>
              <a:rPr lang="en-US" sz="2000" dirty="0">
                <a:solidFill>
                  <a:schemeClr val="dk1"/>
                </a:solidFill>
                <a:latin typeface="Arial" panose="020B0604020202020204" pitchFamily="34" charset="0"/>
                <a:ea typeface="Times New Roman"/>
                <a:cs typeface="Arial" panose="020B0604020202020204" pitchFamily="34" charset="0"/>
                <a:sym typeface="Times New Roman"/>
              </a:rPr>
              <a:t>Islam Mohamed </a:t>
            </a:r>
            <a:r>
              <a:rPr lang="en-US" sz="2000" dirty="0" err="1">
                <a:solidFill>
                  <a:schemeClr val="dk1"/>
                </a:solidFill>
                <a:latin typeface="Arial" panose="020B0604020202020204" pitchFamily="34" charset="0"/>
                <a:ea typeface="Times New Roman"/>
                <a:cs typeface="Arial" panose="020B0604020202020204" pitchFamily="34" charset="0"/>
                <a:sym typeface="Times New Roman"/>
              </a:rPr>
              <a:t>Yassein</a:t>
            </a:r>
            <a:r>
              <a:rPr lang="en-US" sz="2000" dirty="0">
                <a:solidFill>
                  <a:schemeClr val="dk1"/>
                </a:solidFill>
                <a:latin typeface="Arial" panose="020B0604020202020204" pitchFamily="34" charset="0"/>
                <a:ea typeface="Times New Roman"/>
                <a:cs typeface="Arial" panose="020B0604020202020204" pitchFamily="34" charset="0"/>
                <a:sym typeface="Times New Roman"/>
              </a:rPr>
              <a:t>	</a:t>
            </a:r>
          </a:p>
          <a:p>
            <a:pPr lvl="0"/>
            <a:r>
              <a:rPr lang="en-US" sz="2000" dirty="0">
                <a:solidFill>
                  <a:schemeClr val="dk1"/>
                </a:solidFill>
                <a:latin typeface="Arial" panose="020B0604020202020204" pitchFamily="34" charset="0"/>
                <a:ea typeface="Times New Roman"/>
                <a:cs typeface="Arial" panose="020B0604020202020204" pitchFamily="34" charset="0"/>
                <a:sym typeface="Times New Roman"/>
              </a:rPr>
              <a:t>Mahmoud Elaraby Mohamed	</a:t>
            </a:r>
          </a:p>
          <a:p>
            <a:pPr lvl="0"/>
            <a:r>
              <a:rPr lang="en-US" sz="2000" dirty="0">
                <a:solidFill>
                  <a:schemeClr val="dk1"/>
                </a:solidFill>
                <a:latin typeface="Arial" panose="020B0604020202020204" pitchFamily="34" charset="0"/>
                <a:ea typeface="Times New Roman"/>
                <a:cs typeface="Arial" panose="020B0604020202020204" pitchFamily="34" charset="0"/>
                <a:sym typeface="Times New Roman"/>
              </a:rPr>
              <a:t>Nada Abdullah </a:t>
            </a:r>
            <a:r>
              <a:rPr lang="en-US" sz="2000" dirty="0" err="1">
                <a:solidFill>
                  <a:schemeClr val="dk1"/>
                </a:solidFill>
                <a:latin typeface="Arial" panose="020B0604020202020204" pitchFamily="34" charset="0"/>
                <a:ea typeface="Times New Roman"/>
                <a:cs typeface="Arial" panose="020B0604020202020204" pitchFamily="34" charset="0"/>
                <a:sym typeface="Times New Roman"/>
              </a:rPr>
              <a:t>Abdullah</a:t>
            </a:r>
            <a:endParaRPr sz="2000" dirty="0">
              <a:solidFill>
                <a:schemeClr val="dk1"/>
              </a:solidFill>
              <a:latin typeface="Arial" panose="020B0604020202020204" pitchFamily="34" charset="0"/>
              <a:ea typeface="Times New Roman"/>
              <a:cs typeface="Arial" panose="020B0604020202020204" pitchFamily="34" charset="0"/>
              <a:sym typeface="Times New Roman"/>
            </a:endParaRPr>
          </a:p>
        </p:txBody>
      </p:sp>
      <p:sp>
        <p:nvSpPr>
          <p:cNvPr id="14" name="Rectangle: Rounded Corners 13">
            <a:extLst>
              <a:ext uri="{FF2B5EF4-FFF2-40B4-BE49-F238E27FC236}">
                <a16:creationId xmlns:a16="http://schemas.microsoft.com/office/drawing/2014/main" id="{FC71E615-C4C0-4067-810C-1ACD3A80A816}"/>
              </a:ext>
            </a:extLst>
          </p:cNvPr>
          <p:cNvSpPr/>
          <p:nvPr/>
        </p:nvSpPr>
        <p:spPr>
          <a:xfrm rot="2960464">
            <a:off x="6478036" y="2493109"/>
            <a:ext cx="1785415" cy="6884674"/>
          </a:xfrm>
          <a:prstGeom prst="roundRect">
            <a:avLst>
              <a:gd name="adj" fmla="val 50000"/>
            </a:avLst>
          </a:prstGeom>
          <a:blipFill dpi="0" rotWithShape="0">
            <a:blip r:embed="rId3"/>
            <a:srcRect/>
            <a:stretch>
              <a:fillRect/>
            </a:stretch>
          </a:blipFill>
          <a:ln>
            <a:noFill/>
          </a:ln>
          <a:effectLst>
            <a:outerShdw blurRad="63500" sx="102000" sy="102000" algn="ctr" rotWithShape="0">
              <a:schemeClr val="accent6">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Rounded Corners 26">
            <a:extLst>
              <a:ext uri="{FF2B5EF4-FFF2-40B4-BE49-F238E27FC236}">
                <a16:creationId xmlns:a16="http://schemas.microsoft.com/office/drawing/2014/main" id="{222E121D-BC39-4F7B-BC64-97C617F6A596}"/>
              </a:ext>
            </a:extLst>
          </p:cNvPr>
          <p:cNvSpPr/>
          <p:nvPr/>
        </p:nvSpPr>
        <p:spPr>
          <a:xfrm rot="2996901">
            <a:off x="11406514" y="-1045262"/>
            <a:ext cx="1785415" cy="5626738"/>
          </a:xfrm>
          <a:prstGeom prst="roundRect">
            <a:avLst>
              <a:gd name="adj" fmla="val 50000"/>
            </a:avLst>
          </a:prstGeom>
          <a:solidFill>
            <a:schemeClr val="accent6">
              <a:lumMod val="60000"/>
              <a:lumOff val="40000"/>
              <a:alpha val="78000"/>
            </a:schemeClr>
          </a:solidFill>
          <a:ln>
            <a:noFill/>
          </a:ln>
          <a:effectLst>
            <a:outerShdw blurRad="63500" sx="102000" sy="102000" algn="ctr" rotWithShape="0">
              <a:schemeClr val="accent6">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Rounded Corners 27">
            <a:extLst>
              <a:ext uri="{FF2B5EF4-FFF2-40B4-BE49-F238E27FC236}">
                <a16:creationId xmlns:a16="http://schemas.microsoft.com/office/drawing/2014/main" id="{43151C12-AC6F-43C9-A3E9-10D63DADC56A}"/>
              </a:ext>
            </a:extLst>
          </p:cNvPr>
          <p:cNvSpPr/>
          <p:nvPr/>
        </p:nvSpPr>
        <p:spPr>
          <a:xfrm rot="2996901">
            <a:off x="11299292" y="1482450"/>
            <a:ext cx="1785415" cy="5626738"/>
          </a:xfrm>
          <a:prstGeom prst="roundRect">
            <a:avLst>
              <a:gd name="adj" fmla="val 50000"/>
            </a:avLst>
          </a:prstGeom>
          <a:solidFill>
            <a:schemeClr val="accent6">
              <a:lumMod val="60000"/>
              <a:lumOff val="40000"/>
              <a:alpha val="78000"/>
            </a:schemeClr>
          </a:solidFill>
          <a:ln>
            <a:noFill/>
          </a:ln>
          <a:effectLst>
            <a:outerShdw blurRad="63500" sx="102000" sy="102000" algn="ctr" rotWithShape="0">
              <a:schemeClr val="accent6">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EF06C866-F090-487E-90E5-62EFAEF7C0E0}"/>
              </a:ext>
            </a:extLst>
          </p:cNvPr>
          <p:cNvSpPr txBox="1"/>
          <p:nvPr/>
        </p:nvSpPr>
        <p:spPr>
          <a:xfrm>
            <a:off x="143918" y="4981339"/>
            <a:ext cx="4525400" cy="954107"/>
          </a:xfrm>
          <a:prstGeom prst="rect">
            <a:avLst/>
          </a:prstGeom>
          <a:noFill/>
        </p:spPr>
        <p:txBody>
          <a:bodyPr wrap="square" rtlCol="0">
            <a:spAutoFit/>
          </a:bodyPr>
          <a:lstStyle/>
          <a:p>
            <a:r>
              <a:rPr lang="en-US" sz="2000" b="1" dirty="0">
                <a:solidFill>
                  <a:schemeClr val="accent6">
                    <a:lumMod val="50000"/>
                  </a:schemeClr>
                </a:solidFill>
              </a:rPr>
              <a:t>Data Source:</a:t>
            </a:r>
            <a:br>
              <a:rPr lang="en-US" sz="2000" dirty="0">
                <a:solidFill>
                  <a:schemeClr val="accent6">
                    <a:lumMod val="50000"/>
                  </a:schemeClr>
                </a:solidFill>
              </a:rPr>
            </a:br>
            <a:r>
              <a:rPr lang="en-US" sz="1800" dirty="0"/>
              <a:t>Real factory logs provided by DEPI  improved by AI</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8">
                                            <p:txEl>
                                              <p:pRg st="0" end="0"/>
                                            </p:txEl>
                                          </p:spTgt>
                                        </p:tgtEl>
                                        <p:attrNameLst>
                                          <p:attrName>style.visibility</p:attrName>
                                        </p:attrNameLst>
                                      </p:cBhvr>
                                      <p:to>
                                        <p:strVal val="visible"/>
                                      </p:to>
                                    </p:set>
                                    <p:animEffect transition="in" filter="fade">
                                      <p:cBhvr>
                                        <p:cTn id="7" dur="500"/>
                                        <p:tgtEl>
                                          <p:spTgt spid="118">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18">
                                            <p:txEl>
                                              <p:pRg st="1" end="1"/>
                                            </p:txEl>
                                          </p:spTgt>
                                        </p:tgtEl>
                                        <p:attrNameLst>
                                          <p:attrName>style.visibility</p:attrName>
                                        </p:attrNameLst>
                                      </p:cBhvr>
                                      <p:to>
                                        <p:strVal val="visible"/>
                                      </p:to>
                                    </p:set>
                                    <p:animEffect transition="in" filter="fade">
                                      <p:cBhvr>
                                        <p:cTn id="10" dur="500"/>
                                        <p:tgtEl>
                                          <p:spTgt spid="118">
                                            <p:txEl>
                                              <p:pRg st="1" end="1"/>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118">
                                            <p:txEl>
                                              <p:pRg st="2" end="2"/>
                                            </p:txEl>
                                          </p:spTgt>
                                        </p:tgtEl>
                                        <p:attrNameLst>
                                          <p:attrName>style.visibility</p:attrName>
                                        </p:attrNameLst>
                                      </p:cBhvr>
                                      <p:to>
                                        <p:strVal val="visible"/>
                                      </p:to>
                                    </p:set>
                                    <p:animEffect transition="in" filter="wipe(down)">
                                      <p:cBhvr>
                                        <p:cTn id="13" dur="500"/>
                                        <p:tgtEl>
                                          <p:spTgt spid="118">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nodeType="clickEffect">
                                  <p:stCondLst>
                                    <p:cond delay="0"/>
                                  </p:stCondLst>
                                  <p:childTnLst>
                                    <p:set>
                                      <p:cBhvr>
                                        <p:cTn id="17" dur="1" fill="hold">
                                          <p:stCondLst>
                                            <p:cond delay="0"/>
                                          </p:stCondLst>
                                        </p:cTn>
                                        <p:tgtEl>
                                          <p:spTgt spid="123">
                                            <p:txEl>
                                              <p:pRg st="0" end="0"/>
                                            </p:txEl>
                                          </p:spTgt>
                                        </p:tgtEl>
                                        <p:attrNameLst>
                                          <p:attrName>style.visibility</p:attrName>
                                        </p:attrNameLst>
                                      </p:cBhvr>
                                      <p:to>
                                        <p:strVal val="visible"/>
                                      </p:to>
                                    </p:set>
                                    <p:animEffect transition="in" filter="fade">
                                      <p:cBhvr>
                                        <p:cTn id="18" dur="1000"/>
                                        <p:tgtEl>
                                          <p:spTgt spid="123">
                                            <p:txEl>
                                              <p:pRg st="0" end="0"/>
                                            </p:txEl>
                                          </p:spTgt>
                                        </p:tgtEl>
                                      </p:cBhvr>
                                    </p:animEffect>
                                    <p:anim calcmode="lin" valueType="num">
                                      <p:cBhvr>
                                        <p:cTn id="19" dur="1000" fill="hold"/>
                                        <p:tgtEl>
                                          <p:spTgt spid="123">
                                            <p:txEl>
                                              <p:pRg st="0" end="0"/>
                                            </p:txEl>
                                          </p:spTgt>
                                        </p:tgtEl>
                                        <p:attrNameLst>
                                          <p:attrName>ppt_x</p:attrName>
                                        </p:attrNameLst>
                                      </p:cBhvr>
                                      <p:tavLst>
                                        <p:tav tm="0">
                                          <p:val>
                                            <p:strVal val="#ppt_x"/>
                                          </p:val>
                                        </p:tav>
                                        <p:tav tm="100000">
                                          <p:val>
                                            <p:strVal val="#ppt_x"/>
                                          </p:val>
                                        </p:tav>
                                      </p:tavLst>
                                    </p:anim>
                                    <p:anim calcmode="lin" valueType="num">
                                      <p:cBhvr>
                                        <p:cTn id="20" dur="1000" fill="hold"/>
                                        <p:tgtEl>
                                          <p:spTgt spid="12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125">
                                            <p:txEl>
                                              <p:pRg st="0" end="0"/>
                                            </p:txEl>
                                          </p:spTgt>
                                        </p:tgtEl>
                                        <p:attrNameLst>
                                          <p:attrName>style.visibility</p:attrName>
                                        </p:attrNameLst>
                                      </p:cBhvr>
                                      <p:to>
                                        <p:strVal val="visible"/>
                                      </p:to>
                                    </p:set>
                                    <p:animEffect transition="in" filter="fade">
                                      <p:cBhvr>
                                        <p:cTn id="25" dur="1000"/>
                                        <p:tgtEl>
                                          <p:spTgt spid="125">
                                            <p:txEl>
                                              <p:pRg st="0" end="0"/>
                                            </p:txEl>
                                          </p:spTgt>
                                        </p:tgtEl>
                                      </p:cBhvr>
                                    </p:animEffect>
                                    <p:anim calcmode="lin" valueType="num">
                                      <p:cBhvr>
                                        <p:cTn id="26" dur="1000" fill="hold"/>
                                        <p:tgtEl>
                                          <p:spTgt spid="125">
                                            <p:txEl>
                                              <p:pRg st="0" end="0"/>
                                            </p:txEl>
                                          </p:spTgt>
                                        </p:tgtEl>
                                        <p:attrNameLst>
                                          <p:attrName>ppt_x</p:attrName>
                                        </p:attrNameLst>
                                      </p:cBhvr>
                                      <p:tavLst>
                                        <p:tav tm="0">
                                          <p:val>
                                            <p:strVal val="#ppt_x"/>
                                          </p:val>
                                        </p:tav>
                                        <p:tav tm="100000">
                                          <p:val>
                                            <p:strVal val="#ppt_x"/>
                                          </p:val>
                                        </p:tav>
                                      </p:tavLst>
                                    </p:anim>
                                    <p:anim calcmode="lin" valueType="num">
                                      <p:cBhvr>
                                        <p:cTn id="27" dur="1000" fill="hold"/>
                                        <p:tgtEl>
                                          <p:spTgt spid="12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125">
                                            <p:txEl>
                                              <p:pRg st="1" end="1"/>
                                            </p:txEl>
                                          </p:spTgt>
                                        </p:tgtEl>
                                        <p:attrNameLst>
                                          <p:attrName>style.visibility</p:attrName>
                                        </p:attrNameLst>
                                      </p:cBhvr>
                                      <p:to>
                                        <p:strVal val="visible"/>
                                      </p:to>
                                    </p:set>
                                    <p:animEffect transition="in" filter="fade">
                                      <p:cBhvr>
                                        <p:cTn id="32" dur="1000"/>
                                        <p:tgtEl>
                                          <p:spTgt spid="125">
                                            <p:txEl>
                                              <p:pRg st="1" end="1"/>
                                            </p:txEl>
                                          </p:spTgt>
                                        </p:tgtEl>
                                      </p:cBhvr>
                                    </p:animEffect>
                                    <p:anim calcmode="lin" valueType="num">
                                      <p:cBhvr>
                                        <p:cTn id="33" dur="1000" fill="hold"/>
                                        <p:tgtEl>
                                          <p:spTgt spid="125">
                                            <p:txEl>
                                              <p:pRg st="1" end="1"/>
                                            </p:txEl>
                                          </p:spTgt>
                                        </p:tgtEl>
                                        <p:attrNameLst>
                                          <p:attrName>ppt_x</p:attrName>
                                        </p:attrNameLst>
                                      </p:cBhvr>
                                      <p:tavLst>
                                        <p:tav tm="0">
                                          <p:val>
                                            <p:strVal val="#ppt_x"/>
                                          </p:val>
                                        </p:tav>
                                        <p:tav tm="100000">
                                          <p:val>
                                            <p:strVal val="#ppt_x"/>
                                          </p:val>
                                        </p:tav>
                                      </p:tavLst>
                                    </p:anim>
                                    <p:anim calcmode="lin" valueType="num">
                                      <p:cBhvr>
                                        <p:cTn id="34" dur="1000" fill="hold"/>
                                        <p:tgtEl>
                                          <p:spTgt spid="12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nodeType="clickEffect">
                                  <p:stCondLst>
                                    <p:cond delay="0"/>
                                  </p:stCondLst>
                                  <p:childTnLst>
                                    <p:set>
                                      <p:cBhvr>
                                        <p:cTn id="38" dur="1" fill="hold">
                                          <p:stCondLst>
                                            <p:cond delay="0"/>
                                          </p:stCondLst>
                                        </p:cTn>
                                        <p:tgtEl>
                                          <p:spTgt spid="125">
                                            <p:txEl>
                                              <p:pRg st="2" end="2"/>
                                            </p:txEl>
                                          </p:spTgt>
                                        </p:tgtEl>
                                        <p:attrNameLst>
                                          <p:attrName>style.visibility</p:attrName>
                                        </p:attrNameLst>
                                      </p:cBhvr>
                                      <p:to>
                                        <p:strVal val="visible"/>
                                      </p:to>
                                    </p:set>
                                    <p:animEffect transition="in" filter="fade">
                                      <p:cBhvr>
                                        <p:cTn id="39" dur="1000"/>
                                        <p:tgtEl>
                                          <p:spTgt spid="125">
                                            <p:txEl>
                                              <p:pRg st="2" end="2"/>
                                            </p:txEl>
                                          </p:spTgt>
                                        </p:tgtEl>
                                      </p:cBhvr>
                                    </p:animEffect>
                                    <p:anim calcmode="lin" valueType="num">
                                      <p:cBhvr>
                                        <p:cTn id="40" dur="1000" fill="hold"/>
                                        <p:tgtEl>
                                          <p:spTgt spid="125">
                                            <p:txEl>
                                              <p:pRg st="2" end="2"/>
                                            </p:txEl>
                                          </p:spTgt>
                                        </p:tgtEl>
                                        <p:attrNameLst>
                                          <p:attrName>ppt_x</p:attrName>
                                        </p:attrNameLst>
                                      </p:cBhvr>
                                      <p:tavLst>
                                        <p:tav tm="0">
                                          <p:val>
                                            <p:strVal val="#ppt_x"/>
                                          </p:val>
                                        </p:tav>
                                        <p:tav tm="100000">
                                          <p:val>
                                            <p:strVal val="#ppt_x"/>
                                          </p:val>
                                        </p:tav>
                                      </p:tavLst>
                                    </p:anim>
                                    <p:anim calcmode="lin" valueType="num">
                                      <p:cBhvr>
                                        <p:cTn id="41" dur="1000" fill="hold"/>
                                        <p:tgtEl>
                                          <p:spTgt spid="12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nodeType="clickEffect">
                                  <p:stCondLst>
                                    <p:cond delay="0"/>
                                  </p:stCondLst>
                                  <p:childTnLst>
                                    <p:set>
                                      <p:cBhvr>
                                        <p:cTn id="45" dur="1" fill="hold">
                                          <p:stCondLst>
                                            <p:cond delay="0"/>
                                          </p:stCondLst>
                                        </p:cTn>
                                        <p:tgtEl>
                                          <p:spTgt spid="125">
                                            <p:txEl>
                                              <p:pRg st="3" end="3"/>
                                            </p:txEl>
                                          </p:spTgt>
                                        </p:tgtEl>
                                        <p:attrNameLst>
                                          <p:attrName>style.visibility</p:attrName>
                                        </p:attrNameLst>
                                      </p:cBhvr>
                                      <p:to>
                                        <p:strVal val="visible"/>
                                      </p:to>
                                    </p:set>
                                    <p:animEffect transition="in" filter="fade">
                                      <p:cBhvr>
                                        <p:cTn id="46" dur="1000"/>
                                        <p:tgtEl>
                                          <p:spTgt spid="125">
                                            <p:txEl>
                                              <p:pRg st="3" end="3"/>
                                            </p:txEl>
                                          </p:spTgt>
                                        </p:tgtEl>
                                      </p:cBhvr>
                                    </p:animEffect>
                                    <p:anim calcmode="lin" valueType="num">
                                      <p:cBhvr>
                                        <p:cTn id="47" dur="1000" fill="hold"/>
                                        <p:tgtEl>
                                          <p:spTgt spid="125">
                                            <p:txEl>
                                              <p:pRg st="3" end="3"/>
                                            </p:txEl>
                                          </p:spTgt>
                                        </p:tgtEl>
                                        <p:attrNameLst>
                                          <p:attrName>ppt_x</p:attrName>
                                        </p:attrNameLst>
                                      </p:cBhvr>
                                      <p:tavLst>
                                        <p:tav tm="0">
                                          <p:val>
                                            <p:strVal val="#ppt_x"/>
                                          </p:val>
                                        </p:tav>
                                        <p:tav tm="100000">
                                          <p:val>
                                            <p:strVal val="#ppt_x"/>
                                          </p:val>
                                        </p:tav>
                                      </p:tavLst>
                                    </p:anim>
                                    <p:anim calcmode="lin" valueType="num">
                                      <p:cBhvr>
                                        <p:cTn id="48" dur="1000" fill="hold"/>
                                        <p:tgtEl>
                                          <p:spTgt spid="12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42" presetClass="entr" presetSubtype="0" fill="hold" nodeType="clickEffect">
                                  <p:stCondLst>
                                    <p:cond delay="0"/>
                                  </p:stCondLst>
                                  <p:childTnLst>
                                    <p:set>
                                      <p:cBhvr>
                                        <p:cTn id="52" dur="1" fill="hold">
                                          <p:stCondLst>
                                            <p:cond delay="0"/>
                                          </p:stCondLst>
                                        </p:cTn>
                                        <p:tgtEl>
                                          <p:spTgt spid="125">
                                            <p:txEl>
                                              <p:pRg st="4" end="4"/>
                                            </p:txEl>
                                          </p:spTgt>
                                        </p:tgtEl>
                                        <p:attrNameLst>
                                          <p:attrName>style.visibility</p:attrName>
                                        </p:attrNameLst>
                                      </p:cBhvr>
                                      <p:to>
                                        <p:strVal val="visible"/>
                                      </p:to>
                                    </p:set>
                                    <p:animEffect transition="in" filter="fade">
                                      <p:cBhvr>
                                        <p:cTn id="53" dur="1000"/>
                                        <p:tgtEl>
                                          <p:spTgt spid="125">
                                            <p:txEl>
                                              <p:pRg st="4" end="4"/>
                                            </p:txEl>
                                          </p:spTgt>
                                        </p:tgtEl>
                                      </p:cBhvr>
                                    </p:animEffect>
                                    <p:anim calcmode="lin" valueType="num">
                                      <p:cBhvr>
                                        <p:cTn id="54" dur="1000" fill="hold"/>
                                        <p:tgtEl>
                                          <p:spTgt spid="125">
                                            <p:txEl>
                                              <p:pRg st="4" end="4"/>
                                            </p:txEl>
                                          </p:spTgt>
                                        </p:tgtEl>
                                        <p:attrNameLst>
                                          <p:attrName>ppt_x</p:attrName>
                                        </p:attrNameLst>
                                      </p:cBhvr>
                                      <p:tavLst>
                                        <p:tav tm="0">
                                          <p:val>
                                            <p:strVal val="#ppt_x"/>
                                          </p:val>
                                        </p:tav>
                                        <p:tav tm="100000">
                                          <p:val>
                                            <p:strVal val="#ppt_x"/>
                                          </p:val>
                                        </p:tav>
                                      </p:tavLst>
                                    </p:anim>
                                    <p:anim calcmode="lin" valueType="num">
                                      <p:cBhvr>
                                        <p:cTn id="55" dur="1000" fill="hold"/>
                                        <p:tgtEl>
                                          <p:spTgt spid="12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42" presetClass="entr" presetSubtype="0" fill="hold" nodeType="clickEffect">
                                  <p:stCondLst>
                                    <p:cond delay="0"/>
                                  </p:stCondLst>
                                  <p:childTnLst>
                                    <p:set>
                                      <p:cBhvr>
                                        <p:cTn id="59" dur="1" fill="hold">
                                          <p:stCondLst>
                                            <p:cond delay="0"/>
                                          </p:stCondLst>
                                        </p:cTn>
                                        <p:tgtEl>
                                          <p:spTgt spid="125">
                                            <p:txEl>
                                              <p:pRg st="5" end="5"/>
                                            </p:txEl>
                                          </p:spTgt>
                                        </p:tgtEl>
                                        <p:attrNameLst>
                                          <p:attrName>style.visibility</p:attrName>
                                        </p:attrNameLst>
                                      </p:cBhvr>
                                      <p:to>
                                        <p:strVal val="visible"/>
                                      </p:to>
                                    </p:set>
                                    <p:animEffect transition="in" filter="fade">
                                      <p:cBhvr>
                                        <p:cTn id="60" dur="1000"/>
                                        <p:tgtEl>
                                          <p:spTgt spid="125">
                                            <p:txEl>
                                              <p:pRg st="5" end="5"/>
                                            </p:txEl>
                                          </p:spTgt>
                                        </p:tgtEl>
                                      </p:cBhvr>
                                    </p:animEffect>
                                    <p:anim calcmode="lin" valueType="num">
                                      <p:cBhvr>
                                        <p:cTn id="61" dur="1000" fill="hold"/>
                                        <p:tgtEl>
                                          <p:spTgt spid="125">
                                            <p:txEl>
                                              <p:pRg st="5" end="5"/>
                                            </p:txEl>
                                          </p:spTgt>
                                        </p:tgtEl>
                                        <p:attrNameLst>
                                          <p:attrName>ppt_x</p:attrName>
                                        </p:attrNameLst>
                                      </p:cBhvr>
                                      <p:tavLst>
                                        <p:tav tm="0">
                                          <p:val>
                                            <p:strVal val="#ppt_x"/>
                                          </p:val>
                                        </p:tav>
                                        <p:tav tm="100000">
                                          <p:val>
                                            <p:strVal val="#ppt_x"/>
                                          </p:val>
                                        </p:tav>
                                      </p:tavLst>
                                    </p:anim>
                                    <p:anim calcmode="lin" valueType="num">
                                      <p:cBhvr>
                                        <p:cTn id="62" dur="1000" fill="hold"/>
                                        <p:tgtEl>
                                          <p:spTgt spid="125">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15">
                                            <p:txEl>
                                              <p:pRg st="0" end="0"/>
                                            </p:txEl>
                                          </p:spTgt>
                                        </p:tgtEl>
                                        <p:attrNameLst>
                                          <p:attrName>style.visibility</p:attrName>
                                        </p:attrNameLst>
                                      </p:cBhvr>
                                      <p:to>
                                        <p:strVal val="visible"/>
                                      </p:to>
                                    </p:set>
                                    <p:animEffect transition="in" filter="fade">
                                      <p:cBhvr>
                                        <p:cTn id="67" dur="500"/>
                                        <p:tgtEl>
                                          <p:spTgt spid="15">
                                            <p:txEl>
                                              <p:pRg st="0" end="0"/>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53" presetClass="entr" presetSubtype="16" fill="hold" grpId="0" nodeType="clickEffect">
                                  <p:stCondLst>
                                    <p:cond delay="0"/>
                                  </p:stCondLst>
                                  <p:childTnLst>
                                    <p:set>
                                      <p:cBhvr>
                                        <p:cTn id="71" dur="1" fill="hold">
                                          <p:stCondLst>
                                            <p:cond delay="0"/>
                                          </p:stCondLst>
                                        </p:cTn>
                                        <p:tgtEl>
                                          <p:spTgt spid="27"/>
                                        </p:tgtEl>
                                        <p:attrNameLst>
                                          <p:attrName>style.visibility</p:attrName>
                                        </p:attrNameLst>
                                      </p:cBhvr>
                                      <p:to>
                                        <p:strVal val="visible"/>
                                      </p:to>
                                    </p:set>
                                    <p:anim calcmode="lin" valueType="num">
                                      <p:cBhvr>
                                        <p:cTn id="72" dur="500" fill="hold"/>
                                        <p:tgtEl>
                                          <p:spTgt spid="27"/>
                                        </p:tgtEl>
                                        <p:attrNameLst>
                                          <p:attrName>ppt_w</p:attrName>
                                        </p:attrNameLst>
                                      </p:cBhvr>
                                      <p:tavLst>
                                        <p:tav tm="0">
                                          <p:val>
                                            <p:fltVal val="0"/>
                                          </p:val>
                                        </p:tav>
                                        <p:tav tm="100000">
                                          <p:val>
                                            <p:strVal val="#ppt_w"/>
                                          </p:val>
                                        </p:tav>
                                      </p:tavLst>
                                    </p:anim>
                                    <p:anim calcmode="lin" valueType="num">
                                      <p:cBhvr>
                                        <p:cTn id="73" dur="500" fill="hold"/>
                                        <p:tgtEl>
                                          <p:spTgt spid="27"/>
                                        </p:tgtEl>
                                        <p:attrNameLst>
                                          <p:attrName>ppt_h</p:attrName>
                                        </p:attrNameLst>
                                      </p:cBhvr>
                                      <p:tavLst>
                                        <p:tav tm="0">
                                          <p:val>
                                            <p:fltVal val="0"/>
                                          </p:val>
                                        </p:tav>
                                        <p:tav tm="100000">
                                          <p:val>
                                            <p:strVal val="#ppt_h"/>
                                          </p:val>
                                        </p:tav>
                                      </p:tavLst>
                                    </p:anim>
                                    <p:animEffect transition="in" filter="fade">
                                      <p:cBhvr>
                                        <p:cTn id="74" dur="500"/>
                                        <p:tgtEl>
                                          <p:spTgt spid="27"/>
                                        </p:tgtEl>
                                      </p:cBhvr>
                                    </p:animEffect>
                                  </p:childTnLst>
                                </p:cTn>
                              </p:par>
                              <p:par>
                                <p:cTn id="75" presetID="53" presetClass="entr" presetSubtype="16" fill="hold" grpId="0" nodeType="withEffect">
                                  <p:stCondLst>
                                    <p:cond delay="0"/>
                                  </p:stCondLst>
                                  <p:childTnLst>
                                    <p:set>
                                      <p:cBhvr>
                                        <p:cTn id="76" dur="1" fill="hold">
                                          <p:stCondLst>
                                            <p:cond delay="0"/>
                                          </p:stCondLst>
                                        </p:cTn>
                                        <p:tgtEl>
                                          <p:spTgt spid="28"/>
                                        </p:tgtEl>
                                        <p:attrNameLst>
                                          <p:attrName>style.visibility</p:attrName>
                                        </p:attrNameLst>
                                      </p:cBhvr>
                                      <p:to>
                                        <p:strVal val="visible"/>
                                      </p:to>
                                    </p:set>
                                    <p:anim calcmode="lin" valueType="num">
                                      <p:cBhvr>
                                        <p:cTn id="77" dur="500" fill="hold"/>
                                        <p:tgtEl>
                                          <p:spTgt spid="28"/>
                                        </p:tgtEl>
                                        <p:attrNameLst>
                                          <p:attrName>ppt_w</p:attrName>
                                        </p:attrNameLst>
                                      </p:cBhvr>
                                      <p:tavLst>
                                        <p:tav tm="0">
                                          <p:val>
                                            <p:fltVal val="0"/>
                                          </p:val>
                                        </p:tav>
                                        <p:tav tm="100000">
                                          <p:val>
                                            <p:strVal val="#ppt_w"/>
                                          </p:val>
                                        </p:tav>
                                      </p:tavLst>
                                    </p:anim>
                                    <p:anim calcmode="lin" valueType="num">
                                      <p:cBhvr>
                                        <p:cTn id="78" dur="500" fill="hold"/>
                                        <p:tgtEl>
                                          <p:spTgt spid="28"/>
                                        </p:tgtEl>
                                        <p:attrNameLst>
                                          <p:attrName>ppt_h</p:attrName>
                                        </p:attrNameLst>
                                      </p:cBhvr>
                                      <p:tavLst>
                                        <p:tav tm="0">
                                          <p:val>
                                            <p:fltVal val="0"/>
                                          </p:val>
                                        </p:tav>
                                        <p:tav tm="100000">
                                          <p:val>
                                            <p:strVal val="#ppt_h"/>
                                          </p:val>
                                        </p:tav>
                                      </p:tavLst>
                                    </p:anim>
                                    <p:animEffect transition="in" filter="fade">
                                      <p:cBhvr>
                                        <p:cTn id="79" dur="500"/>
                                        <p:tgtEl>
                                          <p:spTgt spid="28"/>
                                        </p:tgtEl>
                                      </p:cBhvr>
                                    </p:animEffect>
                                  </p:childTnLst>
                                </p:cTn>
                              </p:par>
                              <p:par>
                                <p:cTn id="80" presetID="53" presetClass="entr" presetSubtype="16" fill="hold" grpId="0" nodeType="withEffect">
                                  <p:stCondLst>
                                    <p:cond delay="0"/>
                                  </p:stCondLst>
                                  <p:childTnLst>
                                    <p:set>
                                      <p:cBhvr>
                                        <p:cTn id="81" dur="1" fill="hold">
                                          <p:stCondLst>
                                            <p:cond delay="0"/>
                                          </p:stCondLst>
                                        </p:cTn>
                                        <p:tgtEl>
                                          <p:spTgt spid="14"/>
                                        </p:tgtEl>
                                        <p:attrNameLst>
                                          <p:attrName>style.visibility</p:attrName>
                                        </p:attrNameLst>
                                      </p:cBhvr>
                                      <p:to>
                                        <p:strVal val="visible"/>
                                      </p:to>
                                    </p:set>
                                    <p:anim calcmode="lin" valueType="num">
                                      <p:cBhvr>
                                        <p:cTn id="82" dur="500" fill="hold"/>
                                        <p:tgtEl>
                                          <p:spTgt spid="14"/>
                                        </p:tgtEl>
                                        <p:attrNameLst>
                                          <p:attrName>ppt_w</p:attrName>
                                        </p:attrNameLst>
                                      </p:cBhvr>
                                      <p:tavLst>
                                        <p:tav tm="0">
                                          <p:val>
                                            <p:fltVal val="0"/>
                                          </p:val>
                                        </p:tav>
                                        <p:tav tm="100000">
                                          <p:val>
                                            <p:strVal val="#ppt_w"/>
                                          </p:val>
                                        </p:tav>
                                      </p:tavLst>
                                    </p:anim>
                                    <p:anim calcmode="lin" valueType="num">
                                      <p:cBhvr>
                                        <p:cTn id="83" dur="500" fill="hold"/>
                                        <p:tgtEl>
                                          <p:spTgt spid="14"/>
                                        </p:tgtEl>
                                        <p:attrNameLst>
                                          <p:attrName>ppt_h</p:attrName>
                                        </p:attrNameLst>
                                      </p:cBhvr>
                                      <p:tavLst>
                                        <p:tav tm="0">
                                          <p:val>
                                            <p:fltVal val="0"/>
                                          </p:val>
                                        </p:tav>
                                        <p:tav tm="100000">
                                          <p:val>
                                            <p:strVal val="#ppt_h"/>
                                          </p:val>
                                        </p:tav>
                                      </p:tavLst>
                                    </p:anim>
                                    <p:animEffect transition="in" filter="fade">
                                      <p:cBhvr>
                                        <p:cTn id="8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27" grpId="0" animBg="1"/>
      <p:bldP spid="28"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91" name="Google Shape;191;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r>
              <a:rPr lang="en-US" sz="1600">
                <a:solidFill>
                  <a:schemeClr val="bg1"/>
                </a:solidFill>
                <a:latin typeface="Constantia" panose="02030602050306030303" pitchFamily="18" charset="0"/>
              </a:rPr>
              <a:t>9 may 2025</a:t>
            </a:r>
          </a:p>
        </p:txBody>
      </p:sp>
      <p:sp>
        <p:nvSpPr>
          <p:cNvPr id="193" name="Google Shape;193;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a:t>
            </a:fld>
            <a:endParaRPr/>
          </a:p>
        </p:txBody>
      </p:sp>
      <p:sp>
        <p:nvSpPr>
          <p:cNvPr id="2" name="TextBox 1">
            <a:extLst>
              <a:ext uri="{FF2B5EF4-FFF2-40B4-BE49-F238E27FC236}">
                <a16:creationId xmlns:a16="http://schemas.microsoft.com/office/drawing/2014/main" id="{F347EE81-9E80-443E-B91B-235ADFEF1495}"/>
              </a:ext>
            </a:extLst>
          </p:cNvPr>
          <p:cNvSpPr txBox="1"/>
          <p:nvPr/>
        </p:nvSpPr>
        <p:spPr>
          <a:xfrm>
            <a:off x="1735810" y="464949"/>
            <a:ext cx="3510898" cy="584775"/>
          </a:xfrm>
          <a:prstGeom prst="rect">
            <a:avLst/>
          </a:prstGeom>
          <a:noFill/>
        </p:spPr>
        <p:txBody>
          <a:bodyPr wrap="none" rtlCol="0">
            <a:spAutoFit/>
          </a:bodyPr>
          <a:lstStyle/>
          <a:p>
            <a:r>
              <a:rPr lang="en-US" sz="3200" b="1" dirty="0">
                <a:solidFill>
                  <a:schemeClr val="accent6">
                    <a:lumMod val="50000"/>
                  </a:schemeClr>
                </a:solidFill>
              </a:rPr>
              <a:t>Project Overview</a:t>
            </a:r>
          </a:p>
        </p:txBody>
      </p:sp>
      <p:sp>
        <p:nvSpPr>
          <p:cNvPr id="3" name="TextBox 2">
            <a:extLst>
              <a:ext uri="{FF2B5EF4-FFF2-40B4-BE49-F238E27FC236}">
                <a16:creationId xmlns:a16="http://schemas.microsoft.com/office/drawing/2014/main" id="{66FCC6FE-E0AB-49A9-BC0C-E4A492EB4062}"/>
              </a:ext>
            </a:extLst>
          </p:cNvPr>
          <p:cNvSpPr txBox="1"/>
          <p:nvPr/>
        </p:nvSpPr>
        <p:spPr>
          <a:xfrm>
            <a:off x="218267" y="1744567"/>
            <a:ext cx="8171131" cy="3046988"/>
          </a:xfrm>
          <a:prstGeom prst="rect">
            <a:avLst/>
          </a:prstGeom>
          <a:noFill/>
        </p:spPr>
        <p:txBody>
          <a:bodyPr wrap="square" rtlCol="0">
            <a:spAutoFit/>
          </a:bodyPr>
          <a:lstStyle/>
          <a:p>
            <a:r>
              <a:rPr lang="en-US" sz="1600" dirty="0"/>
              <a:t>This project focuses on analyzing downtime across manufacturing lines to identify performance bottlenecks, reveal key factors influencing interruptions, and enhance decision‑making through Power BI dashboards.</a:t>
            </a:r>
          </a:p>
          <a:p>
            <a:r>
              <a:rPr lang="en-US" sz="1600" b="1" dirty="0"/>
              <a:t>Objectives</a:t>
            </a:r>
          </a:p>
          <a:p>
            <a:r>
              <a:rPr lang="en-US" sz="1600" dirty="0"/>
              <a:t>Analyze downtime patterns across lines, operators, and products.</a:t>
            </a:r>
          </a:p>
          <a:p>
            <a:r>
              <a:rPr lang="en-US" sz="1600" dirty="0"/>
              <a:t>Identify top downtime causes and quantify their impact on production.</a:t>
            </a:r>
          </a:p>
          <a:p>
            <a:r>
              <a:rPr lang="en-US" sz="1600" dirty="0"/>
              <a:t>Develop interactive dashboards in Power BI for management insights.</a:t>
            </a:r>
          </a:p>
          <a:p>
            <a:r>
              <a:rPr lang="en-US" sz="1600" dirty="0"/>
              <a:t>Support process improvement through data‑driven visualization and KPIs.</a:t>
            </a:r>
          </a:p>
          <a:p>
            <a:r>
              <a:rPr lang="en-US" sz="1600" b="1" dirty="0"/>
              <a:t>Scope</a:t>
            </a:r>
          </a:p>
          <a:p>
            <a:r>
              <a:rPr lang="en-US" sz="1600" dirty="0"/>
              <a:t>Covers all recorded downtime events across lines, operators, products, and contributing factors, including temporal trends (by date, shift</a:t>
            </a:r>
          </a:p>
          <a:p>
            <a:endParaRPr lang="en-US" sz="1600" dirty="0"/>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fade">
                                      <p:cBhvr>
                                        <p:cTn id="28" dur="1000"/>
                                        <p:tgtEl>
                                          <p:spTgt spid="3">
                                            <p:txEl>
                                              <p:pRg st="2" end="2"/>
                                            </p:txEl>
                                          </p:spTgt>
                                        </p:tgtEl>
                                      </p:cBhvr>
                                    </p:animEffect>
                                    <p:anim calcmode="lin" valueType="num">
                                      <p:cBhvr>
                                        <p:cTn id="2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animEffect transition="in" filter="fade">
                                      <p:cBhvr>
                                        <p:cTn id="35" dur="1000"/>
                                        <p:tgtEl>
                                          <p:spTgt spid="3">
                                            <p:txEl>
                                              <p:pRg st="3" end="3"/>
                                            </p:txEl>
                                          </p:spTgt>
                                        </p:tgtEl>
                                      </p:cBhvr>
                                    </p:animEffect>
                                    <p:anim calcmode="lin" valueType="num">
                                      <p:cBhvr>
                                        <p:cTn id="36"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4" end="4"/>
                                            </p:txEl>
                                          </p:spTgt>
                                        </p:tgtEl>
                                        <p:attrNameLst>
                                          <p:attrName>style.visibility</p:attrName>
                                        </p:attrNameLst>
                                      </p:cBhvr>
                                      <p:to>
                                        <p:strVal val="visible"/>
                                      </p:to>
                                    </p:set>
                                    <p:animEffect transition="in" filter="fade">
                                      <p:cBhvr>
                                        <p:cTn id="42" dur="1000"/>
                                        <p:tgtEl>
                                          <p:spTgt spid="3">
                                            <p:txEl>
                                              <p:pRg st="4" end="4"/>
                                            </p:txEl>
                                          </p:spTgt>
                                        </p:tgtEl>
                                      </p:cBhvr>
                                    </p:animEffect>
                                    <p:anim calcmode="lin" valueType="num">
                                      <p:cBhvr>
                                        <p:cTn id="4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3">
                                            <p:txEl>
                                              <p:pRg st="5" end="5"/>
                                            </p:txEl>
                                          </p:spTgt>
                                        </p:tgtEl>
                                        <p:attrNameLst>
                                          <p:attrName>style.visibility</p:attrName>
                                        </p:attrNameLst>
                                      </p:cBhvr>
                                      <p:to>
                                        <p:strVal val="visible"/>
                                      </p:to>
                                    </p:set>
                                    <p:animEffect transition="in" filter="fade">
                                      <p:cBhvr>
                                        <p:cTn id="49" dur="1000"/>
                                        <p:tgtEl>
                                          <p:spTgt spid="3">
                                            <p:txEl>
                                              <p:pRg st="5" end="5"/>
                                            </p:txEl>
                                          </p:spTgt>
                                        </p:tgtEl>
                                      </p:cBhvr>
                                    </p:animEffect>
                                    <p:anim calcmode="lin" valueType="num">
                                      <p:cBhvr>
                                        <p:cTn id="50"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3">
                                            <p:txEl>
                                              <p:pRg st="6" end="6"/>
                                            </p:txEl>
                                          </p:spTgt>
                                        </p:tgtEl>
                                        <p:attrNameLst>
                                          <p:attrName>style.visibility</p:attrName>
                                        </p:attrNameLst>
                                      </p:cBhvr>
                                      <p:to>
                                        <p:strVal val="visible"/>
                                      </p:to>
                                    </p:set>
                                    <p:animEffect transition="in" filter="fade">
                                      <p:cBhvr>
                                        <p:cTn id="56" dur="1000"/>
                                        <p:tgtEl>
                                          <p:spTgt spid="3">
                                            <p:txEl>
                                              <p:pRg st="6" end="6"/>
                                            </p:txEl>
                                          </p:spTgt>
                                        </p:tgtEl>
                                      </p:cBhvr>
                                    </p:animEffect>
                                    <p:anim calcmode="lin" valueType="num">
                                      <p:cBhvr>
                                        <p:cTn id="57"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3">
                                            <p:txEl>
                                              <p:pRg st="7" end="7"/>
                                            </p:txEl>
                                          </p:spTgt>
                                        </p:tgtEl>
                                        <p:attrNameLst>
                                          <p:attrName>style.visibility</p:attrName>
                                        </p:attrNameLst>
                                      </p:cBhvr>
                                      <p:to>
                                        <p:strVal val="visible"/>
                                      </p:to>
                                    </p:set>
                                    <p:animEffect transition="in" filter="fade">
                                      <p:cBhvr>
                                        <p:cTn id="63" dur="1000"/>
                                        <p:tgtEl>
                                          <p:spTgt spid="3">
                                            <p:txEl>
                                              <p:pRg st="7" end="7"/>
                                            </p:txEl>
                                          </p:spTgt>
                                        </p:tgtEl>
                                      </p:cBhvr>
                                    </p:animEffect>
                                    <p:anim calcmode="lin" valueType="num">
                                      <p:cBhvr>
                                        <p:cTn id="64"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8">
          <a:extLst>
            <a:ext uri="{FF2B5EF4-FFF2-40B4-BE49-F238E27FC236}">
              <a16:creationId xmlns:a16="http://schemas.microsoft.com/office/drawing/2014/main" id="{1A85368A-91B0-A5F1-B089-EBD64C824A1B}"/>
            </a:ext>
          </a:extLst>
        </p:cNvPr>
        <p:cNvGrpSpPr/>
        <p:nvPr/>
      </p:nvGrpSpPr>
      <p:grpSpPr>
        <a:xfrm>
          <a:off x="0" y="0"/>
          <a:ext cx="0" cy="0"/>
          <a:chOff x="0" y="0"/>
          <a:chExt cx="0" cy="0"/>
        </a:xfrm>
      </p:grpSpPr>
      <p:sp>
        <p:nvSpPr>
          <p:cNvPr id="191" name="Google Shape;191;p6">
            <a:extLst>
              <a:ext uri="{FF2B5EF4-FFF2-40B4-BE49-F238E27FC236}">
                <a16:creationId xmlns:a16="http://schemas.microsoft.com/office/drawing/2014/main" id="{72A64F7B-43C5-F5F5-88A9-B38192912F2E}"/>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r>
              <a:rPr lang="en-US" sz="1600">
                <a:solidFill>
                  <a:schemeClr val="bg1"/>
                </a:solidFill>
                <a:latin typeface="Constantia" panose="02030602050306030303" pitchFamily="18" charset="0"/>
              </a:rPr>
              <a:t>9 may 2025</a:t>
            </a:r>
          </a:p>
        </p:txBody>
      </p:sp>
      <p:sp>
        <p:nvSpPr>
          <p:cNvPr id="193" name="Google Shape;193;p6">
            <a:extLst>
              <a:ext uri="{FF2B5EF4-FFF2-40B4-BE49-F238E27FC236}">
                <a16:creationId xmlns:a16="http://schemas.microsoft.com/office/drawing/2014/main" id="{EFB0F399-2E51-1A68-E17B-E04F59F544D9}"/>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a:t>
            </a:fld>
            <a:endParaRPr/>
          </a:p>
        </p:txBody>
      </p:sp>
      <p:sp>
        <p:nvSpPr>
          <p:cNvPr id="2" name="TextBox 1">
            <a:extLst>
              <a:ext uri="{FF2B5EF4-FFF2-40B4-BE49-F238E27FC236}">
                <a16:creationId xmlns:a16="http://schemas.microsoft.com/office/drawing/2014/main" id="{4B884281-55B9-688F-E906-3D689328E052}"/>
              </a:ext>
            </a:extLst>
          </p:cNvPr>
          <p:cNvSpPr txBox="1"/>
          <p:nvPr/>
        </p:nvSpPr>
        <p:spPr>
          <a:xfrm>
            <a:off x="1735810" y="464949"/>
            <a:ext cx="3600666" cy="584775"/>
          </a:xfrm>
          <a:prstGeom prst="rect">
            <a:avLst/>
          </a:prstGeom>
          <a:noFill/>
        </p:spPr>
        <p:txBody>
          <a:bodyPr wrap="none" rtlCol="0">
            <a:spAutoFit/>
          </a:bodyPr>
          <a:lstStyle/>
          <a:p>
            <a:r>
              <a:rPr lang="en-US" sz="3200" b="1" dirty="0">
                <a:solidFill>
                  <a:schemeClr val="accent6">
                    <a:lumMod val="50000"/>
                  </a:schemeClr>
                </a:solidFill>
              </a:rPr>
              <a:t>Literature Review</a:t>
            </a:r>
          </a:p>
        </p:txBody>
      </p:sp>
      <p:sp>
        <p:nvSpPr>
          <p:cNvPr id="3" name="TextBox 2">
            <a:extLst>
              <a:ext uri="{FF2B5EF4-FFF2-40B4-BE49-F238E27FC236}">
                <a16:creationId xmlns:a16="http://schemas.microsoft.com/office/drawing/2014/main" id="{3784F4A4-84A5-A14F-7647-C595C230C437}"/>
              </a:ext>
            </a:extLst>
          </p:cNvPr>
          <p:cNvSpPr txBox="1"/>
          <p:nvPr/>
        </p:nvSpPr>
        <p:spPr>
          <a:xfrm>
            <a:off x="218267" y="1744567"/>
            <a:ext cx="11379221" cy="4447884"/>
          </a:xfrm>
          <a:prstGeom prst="rect">
            <a:avLst/>
          </a:prstGeom>
          <a:noFill/>
        </p:spPr>
        <p:txBody>
          <a:bodyPr wrap="square" rtlCol="0">
            <a:spAutoFit/>
          </a:bodyPr>
          <a:lstStyle/>
          <a:p>
            <a:pPr>
              <a:lnSpc>
                <a:spcPct val="200000"/>
              </a:lnSpc>
            </a:pPr>
            <a:r>
              <a:rPr lang="en-US" sz="1600" b="1" dirty="0"/>
              <a:t>Downtime Analysis in Manufacturing Systems</a:t>
            </a:r>
            <a:endParaRPr lang="en-US" sz="1600" dirty="0"/>
          </a:p>
          <a:p>
            <a:pPr>
              <a:lnSpc>
                <a:spcPct val="200000"/>
              </a:lnSpc>
            </a:pPr>
            <a:r>
              <a:rPr lang="en-US" sz="1600" dirty="0"/>
              <a:t>Downtime analysis is a cornerstone of productivity optimization in modern manufacturing. Research shows that </a:t>
            </a:r>
            <a:r>
              <a:rPr lang="en-US" sz="1600" b="1" dirty="0"/>
              <a:t>accurately recording, categorizing, and analyzing downtime events</a:t>
            </a:r>
            <a:r>
              <a:rPr lang="en-US" sz="1600" dirty="0"/>
              <a:t> enables organizations to identify inefficiencies and prioritize improvement actions. For example, studies highlight the importance of breaking downtime into dimensions such as </a:t>
            </a:r>
            <a:r>
              <a:rPr lang="en-US" sz="1600" b="1" dirty="0"/>
              <a:t>machine, line, shift, and operator</a:t>
            </a:r>
            <a:r>
              <a:rPr lang="en-US" sz="1600" dirty="0"/>
              <a:t> to isolate recurring patterns and understand operational bottlenecks.</a:t>
            </a:r>
            <a:br>
              <a:rPr lang="en-US" sz="1600" dirty="0"/>
            </a:br>
            <a:r>
              <a:rPr lang="en-US" sz="1600" dirty="0"/>
              <a:t>In relation to this project, the </a:t>
            </a:r>
            <a:r>
              <a:rPr lang="en-US" sz="1600" b="1" dirty="0"/>
              <a:t>dataset includes detailed downtime logs</a:t>
            </a:r>
            <a:r>
              <a:rPr lang="en-US" sz="1600" dirty="0"/>
              <a:t> (machine ID, line, shift, operator, and reason), providing a structured foundation to perform this type of multi-dimensional analysis. By aggregating downtime duration and frequency, and computing metrics, the project aligns with proven analytical frameworks used in industrial performance studies.</a:t>
            </a:r>
          </a:p>
        </p:txBody>
      </p:sp>
    </p:spTree>
    <p:extLst>
      <p:ext uri="{BB962C8B-B14F-4D97-AF65-F5344CB8AC3E}">
        <p14:creationId xmlns:p14="http://schemas.microsoft.com/office/powerpoint/2010/main" val="387029133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93160-5FE3-4C5C-B12B-6A53F7A98586}"/>
              </a:ext>
            </a:extLst>
          </p:cNvPr>
          <p:cNvSpPr>
            <a:spLocks noGrp="1"/>
          </p:cNvSpPr>
          <p:nvPr>
            <p:ph type="ctrTitle"/>
          </p:nvPr>
        </p:nvSpPr>
        <p:spPr>
          <a:xfrm>
            <a:off x="407406" y="1557196"/>
            <a:ext cx="8664166" cy="2453490"/>
          </a:xfrm>
        </p:spPr>
        <p:txBody>
          <a:bodyPr>
            <a:normAutofit/>
          </a:bodyPr>
          <a:lstStyle/>
          <a:p>
            <a:pPr algn="l"/>
            <a:r>
              <a:rPr lang="en-US" sz="2400" b="1" dirty="0"/>
              <a:t>Proposed Solution:</a:t>
            </a:r>
            <a:br>
              <a:rPr lang="en-US" sz="2400" b="1" dirty="0"/>
            </a:br>
            <a:r>
              <a:rPr lang="en-US" sz="1800" dirty="0"/>
              <a:t>To address the recurring downtime issues identified in our analysis, we propose the following data-driven solution:</a:t>
            </a:r>
            <a:br>
              <a:rPr lang="en-US" sz="1800" dirty="0"/>
            </a:br>
            <a:r>
              <a:rPr lang="en-US" sz="2400" b="1" dirty="0"/>
              <a:t>Data Analysis and Monitoring</a:t>
            </a:r>
            <a:r>
              <a:rPr lang="en-US" sz="2800" b="1" dirty="0"/>
              <a:t>:</a:t>
            </a:r>
            <a:br>
              <a:rPr lang="en-US" sz="2800" dirty="0"/>
            </a:br>
            <a:r>
              <a:rPr lang="en-US" sz="1800" dirty="0"/>
              <a:t>Conduct comprehensive data analysis to pinpoint the primary downtime causes, focusing on product lines, products, and specific operational processes.</a:t>
            </a:r>
            <a:br>
              <a:rPr lang="en-US" sz="1800" dirty="0"/>
            </a:br>
            <a:r>
              <a:rPr lang="en-US" sz="1800" dirty="0"/>
              <a:t>Leverage historical data to identify patterns and predict potential downtime events.</a:t>
            </a:r>
          </a:p>
        </p:txBody>
      </p:sp>
      <p:sp>
        <p:nvSpPr>
          <p:cNvPr id="4" name="Slide Number Placeholder 3">
            <a:extLst>
              <a:ext uri="{FF2B5EF4-FFF2-40B4-BE49-F238E27FC236}">
                <a16:creationId xmlns:a16="http://schemas.microsoft.com/office/drawing/2014/main" id="{F2D5C840-A7C8-41FB-8EEE-13E082B6D26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a:p>
        </p:txBody>
      </p:sp>
      <p:sp>
        <p:nvSpPr>
          <p:cNvPr id="7" name="TextBox 6">
            <a:extLst>
              <a:ext uri="{FF2B5EF4-FFF2-40B4-BE49-F238E27FC236}">
                <a16:creationId xmlns:a16="http://schemas.microsoft.com/office/drawing/2014/main" id="{5738C8A8-67F0-4676-B1CF-F5EA73E3F41F}"/>
              </a:ext>
            </a:extLst>
          </p:cNvPr>
          <p:cNvSpPr txBox="1"/>
          <p:nvPr/>
        </p:nvSpPr>
        <p:spPr>
          <a:xfrm>
            <a:off x="1653989" y="6356350"/>
            <a:ext cx="1506070" cy="553998"/>
          </a:xfrm>
          <a:prstGeom prst="rect">
            <a:avLst/>
          </a:prstGeom>
          <a:noFill/>
        </p:spPr>
        <p:txBody>
          <a:bodyPr wrap="square" rtlCol="0">
            <a:spAutoFit/>
          </a:bodyPr>
          <a:lstStyle/>
          <a:p>
            <a:r>
              <a:rPr lang="en-US" sz="1600">
                <a:solidFill>
                  <a:schemeClr val="bg1"/>
                </a:solidFill>
                <a:latin typeface="Constantia" panose="02030602050306030303" pitchFamily="18" charset="0"/>
              </a:rPr>
              <a:t>9 may 2025</a:t>
            </a:r>
          </a:p>
          <a:p>
            <a:endParaRPr lang="en-US"/>
          </a:p>
        </p:txBody>
      </p:sp>
    </p:spTree>
    <p:extLst>
      <p:ext uri="{BB962C8B-B14F-4D97-AF65-F5344CB8AC3E}">
        <p14:creationId xmlns:p14="http://schemas.microsoft.com/office/powerpoint/2010/main" val="122867440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12"/>
          <p:cNvSpPr txBox="1">
            <a:spLocks noGrp="1"/>
          </p:cNvSpPr>
          <p:nvPr>
            <p:ph type="dt" idx="10"/>
          </p:nvPr>
        </p:nvSpPr>
        <p:spPr>
          <a:xfrm>
            <a:off x="838200" y="6465981"/>
            <a:ext cx="2743200" cy="365125"/>
          </a:xfrm>
          <a:prstGeom prst="rect">
            <a:avLst/>
          </a:prstGeom>
          <a:noFill/>
          <a:ln>
            <a:noFill/>
          </a:ln>
        </p:spPr>
        <p:txBody>
          <a:bodyPr spcFirstLastPara="1" wrap="square" lIns="91425" tIns="45700" rIns="91425" bIns="45700" anchor="ctr" anchorCtr="0">
            <a:noAutofit/>
          </a:bodyPr>
          <a:lstStyle/>
          <a:p>
            <a:r>
              <a:rPr lang="en-US" sz="1600">
                <a:solidFill>
                  <a:schemeClr val="bg1"/>
                </a:solidFill>
                <a:latin typeface="Constantia" panose="02030602050306030303" pitchFamily="18" charset="0"/>
              </a:rPr>
              <a:t>9 may 2025</a:t>
            </a:r>
          </a:p>
          <a:p>
            <a:pPr marL="0" lvl="0" indent="0" algn="ctr" rtl="0">
              <a:lnSpc>
                <a:spcPct val="100000"/>
              </a:lnSpc>
              <a:spcBef>
                <a:spcPts val="0"/>
              </a:spcBef>
              <a:spcAft>
                <a:spcPts val="0"/>
              </a:spcAft>
              <a:buSzPts val="1400"/>
              <a:buNone/>
            </a:pPr>
            <a:endParaRPr/>
          </a:p>
        </p:txBody>
      </p:sp>
      <p:sp>
        <p:nvSpPr>
          <p:cNvPr id="254" name="Google Shape;254;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a:t>
            </a:fld>
            <a:endParaRPr/>
          </a:p>
        </p:txBody>
      </p:sp>
      <p:sp>
        <p:nvSpPr>
          <p:cNvPr id="2" name="TextBox 1">
            <a:extLst>
              <a:ext uri="{FF2B5EF4-FFF2-40B4-BE49-F238E27FC236}">
                <a16:creationId xmlns:a16="http://schemas.microsoft.com/office/drawing/2014/main" id="{A661706F-B3D0-4D59-863C-07A1723740DA}"/>
              </a:ext>
            </a:extLst>
          </p:cNvPr>
          <p:cNvSpPr txBox="1"/>
          <p:nvPr/>
        </p:nvSpPr>
        <p:spPr>
          <a:xfrm>
            <a:off x="0" y="1227436"/>
            <a:ext cx="6651814" cy="1785104"/>
          </a:xfrm>
          <a:prstGeom prst="rect">
            <a:avLst/>
          </a:prstGeom>
          <a:noFill/>
        </p:spPr>
        <p:txBody>
          <a:bodyPr wrap="square" rtlCol="0">
            <a:spAutoFit/>
          </a:bodyPr>
          <a:lstStyle/>
          <a:p>
            <a:r>
              <a:rPr kumimoji="0" lang="en-US" altLang="en-US" sz="1600" b="1" i="0" u="none" strike="noStrike" cap="none" normalizeH="0" baseline="0" dirty="0">
                <a:ln>
                  <a:noFill/>
                </a:ln>
                <a:solidFill>
                  <a:schemeClr val="tx1"/>
                </a:solidFill>
                <a:effectLst/>
                <a:latin typeface="Arial" panose="020B0604020202020204" pitchFamily="34" charset="0"/>
              </a:rPr>
              <a:t>Learning from Real-World Applications:</a:t>
            </a:r>
            <a:br>
              <a:rPr kumimoji="0" lang="en-US" altLang="en-US" sz="1600" b="0" i="0" u="none" strike="noStrike" cap="none" normalizeH="0" baseline="0" dirty="0">
                <a:ln>
                  <a:noFill/>
                </a:ln>
                <a:solidFill>
                  <a:schemeClr val="tx1"/>
                </a:solidFill>
                <a:effectLst/>
                <a:latin typeface="Arial" panose="020B0604020202020204" pitchFamily="34" charset="0"/>
              </a:rPr>
            </a:br>
            <a:r>
              <a:rPr kumimoji="0" lang="en-US" altLang="en-US" sz="1600" b="0" i="0" u="none" strike="noStrike" cap="none" normalizeH="0" baseline="0" dirty="0">
                <a:ln>
                  <a:noFill/>
                </a:ln>
                <a:solidFill>
                  <a:schemeClr val="tx1"/>
                </a:solidFill>
                <a:effectLst/>
                <a:latin typeface="Arial" panose="020B0604020202020204" pitchFamily="34" charset="0"/>
              </a:rPr>
              <a:t>Similar to SCG Chemicals' successful implementation of a centralized data platform, our proposed solution leverages data analysis to transform fragmented information into actionable insights. By identifying recurring downtime patterns, we can prioritize intervention areas and ultimately reduce operational disruptions.</a:t>
            </a:r>
          </a:p>
          <a:p>
            <a:endParaRPr lang="en-US" dirty="0"/>
          </a:p>
        </p:txBody>
      </p:sp>
      <p:sp>
        <p:nvSpPr>
          <p:cNvPr id="3" name="TextBox 2">
            <a:extLst>
              <a:ext uri="{FF2B5EF4-FFF2-40B4-BE49-F238E27FC236}">
                <a16:creationId xmlns:a16="http://schemas.microsoft.com/office/drawing/2014/main" id="{9ED122C8-297E-4B12-BE6E-0748CF8B8A84}"/>
              </a:ext>
            </a:extLst>
          </p:cNvPr>
          <p:cNvSpPr txBox="1"/>
          <p:nvPr/>
        </p:nvSpPr>
        <p:spPr>
          <a:xfrm>
            <a:off x="0" y="3373880"/>
            <a:ext cx="7812741" cy="1538883"/>
          </a:xfrm>
          <a:prstGeom prst="rect">
            <a:avLst/>
          </a:prstGeom>
          <a:noFill/>
        </p:spPr>
        <p:txBody>
          <a:bodyPr wrap="square" rtlCol="0">
            <a:spAutoFit/>
          </a:bodyPr>
          <a:lstStyle/>
          <a:p>
            <a:r>
              <a:rPr lang="en-US" sz="1600" b="1" dirty="0"/>
              <a:t>SCG Chemicals: Achieving Near-Zero Downtime</a:t>
            </a:r>
          </a:p>
          <a:p>
            <a:r>
              <a:rPr lang="en-US" sz="1600" dirty="0"/>
              <a:t>SCG Chemicals, a leading petrochemical company in Thailand, implemented a Digital Reliability Platform to address recurring production downtimes.</a:t>
            </a:r>
            <a:br>
              <a:rPr lang="en-US" sz="1600" dirty="0"/>
            </a:br>
            <a:r>
              <a:rPr lang="en-US" sz="1600" dirty="0"/>
              <a:t>Partnering with AVEVA, they developed a centralized data platform that transformed scattered data into actionable insights.</a:t>
            </a:r>
          </a:p>
          <a:p>
            <a:endParaRPr lang="en-US" dirty="0"/>
          </a:p>
        </p:txBody>
      </p:sp>
      <p:sp>
        <p:nvSpPr>
          <p:cNvPr id="13" name="TextBox 12">
            <a:extLst>
              <a:ext uri="{FF2B5EF4-FFF2-40B4-BE49-F238E27FC236}">
                <a16:creationId xmlns:a16="http://schemas.microsoft.com/office/drawing/2014/main" id="{F2C6F970-1F95-4D53-BD8F-F341B80935BD}"/>
              </a:ext>
            </a:extLst>
          </p:cNvPr>
          <p:cNvSpPr txBox="1"/>
          <p:nvPr/>
        </p:nvSpPr>
        <p:spPr>
          <a:xfrm>
            <a:off x="0" y="2791623"/>
            <a:ext cx="5419163" cy="677108"/>
          </a:xfrm>
          <a:prstGeom prst="rect">
            <a:avLst/>
          </a:prstGeom>
          <a:noFill/>
        </p:spPr>
        <p:txBody>
          <a:bodyPr wrap="square" rtlCol="0">
            <a:spAutoFit/>
          </a:bodyPr>
          <a:lstStyle/>
          <a:p>
            <a:r>
              <a:rPr lang="en-US" sz="2400" b="1">
                <a:solidFill>
                  <a:srgbClr val="047954"/>
                </a:solidFill>
              </a:rPr>
              <a:t>Unique Value – Real-World Example</a:t>
            </a:r>
          </a:p>
          <a:p>
            <a:endParaRPr lang="en-US">
              <a:solidFill>
                <a:srgbClr val="047954"/>
              </a:solidFill>
            </a:endParaRPr>
          </a:p>
        </p:txBody>
      </p:sp>
      <p:sp>
        <p:nvSpPr>
          <p:cNvPr id="14" name="TextBox 13">
            <a:extLst>
              <a:ext uri="{FF2B5EF4-FFF2-40B4-BE49-F238E27FC236}">
                <a16:creationId xmlns:a16="http://schemas.microsoft.com/office/drawing/2014/main" id="{24D5FAA0-F2B0-4367-B92F-CD491FCCC118}"/>
              </a:ext>
            </a:extLst>
          </p:cNvPr>
          <p:cNvSpPr txBox="1"/>
          <p:nvPr/>
        </p:nvSpPr>
        <p:spPr>
          <a:xfrm>
            <a:off x="0" y="4717150"/>
            <a:ext cx="6508376" cy="1538883"/>
          </a:xfrm>
          <a:prstGeom prst="rect">
            <a:avLst/>
          </a:prstGeom>
          <a:noFill/>
        </p:spPr>
        <p:txBody>
          <a:bodyPr wrap="square" rtlCol="0">
            <a:spAutoFit/>
          </a:bodyPr>
          <a:lstStyle/>
          <a:p>
            <a:r>
              <a:rPr lang="en-US" sz="1600" b="1" dirty="0"/>
              <a:t>Results Achieved:</a:t>
            </a:r>
            <a:endParaRPr lang="en-US" sz="1600" dirty="0"/>
          </a:p>
          <a:p>
            <a:pPr>
              <a:buFont typeface="Arial" panose="020B0604020202020204" pitchFamily="34" charset="0"/>
              <a:buChar char="•"/>
            </a:pPr>
            <a:r>
              <a:rPr lang="en-US" sz="1600" dirty="0"/>
              <a:t>Increased plant reliability from </a:t>
            </a:r>
            <a:r>
              <a:rPr lang="en-US" sz="1600" b="1" dirty="0"/>
              <a:t>98% to nearly </a:t>
            </a:r>
            <a:r>
              <a:rPr lang="en-US" sz="1600" b="1" dirty="0">
                <a:solidFill>
                  <a:srgbClr val="FF0000"/>
                </a:solidFill>
              </a:rPr>
              <a:t>100%</a:t>
            </a:r>
            <a:endParaRPr lang="en-US" sz="1600" dirty="0">
              <a:solidFill>
                <a:srgbClr val="FF0000"/>
              </a:solidFill>
            </a:endParaRPr>
          </a:p>
          <a:p>
            <a:pPr>
              <a:buFont typeface="Arial" panose="020B0604020202020204" pitchFamily="34" charset="0"/>
              <a:buChar char="•"/>
            </a:pPr>
            <a:r>
              <a:rPr lang="en-US" sz="1600" dirty="0"/>
              <a:t>Reduced maintenance costs by </a:t>
            </a:r>
            <a:r>
              <a:rPr lang="en-US" sz="1600" b="1" dirty="0">
                <a:solidFill>
                  <a:srgbClr val="FF0000"/>
                </a:solidFill>
              </a:rPr>
              <a:t>40%</a:t>
            </a:r>
            <a:endParaRPr lang="en-US" sz="1600" dirty="0">
              <a:solidFill>
                <a:srgbClr val="FF0000"/>
              </a:solidFill>
            </a:endParaRPr>
          </a:p>
          <a:p>
            <a:pPr>
              <a:buFont typeface="Arial" panose="020B0604020202020204" pitchFamily="34" charset="0"/>
              <a:buChar char="•"/>
            </a:pPr>
            <a:r>
              <a:rPr lang="en-US" sz="1600" dirty="0"/>
              <a:t>Achieved a </a:t>
            </a:r>
            <a:r>
              <a:rPr lang="en-US" sz="1600" b="1" dirty="0">
                <a:solidFill>
                  <a:srgbClr val="FF0000"/>
                </a:solidFill>
              </a:rPr>
              <a:t>9x return </a:t>
            </a:r>
            <a:r>
              <a:rPr lang="en-US" sz="1600" b="1" dirty="0"/>
              <a:t>on investment</a:t>
            </a:r>
            <a:r>
              <a:rPr lang="en-US" sz="1600" dirty="0"/>
              <a:t> by preventing asset failures</a:t>
            </a:r>
          </a:p>
          <a:p>
            <a:pPr>
              <a:buFont typeface="Arial" panose="020B0604020202020204" pitchFamily="34" charset="0"/>
              <a:buChar char="•"/>
            </a:pPr>
            <a:r>
              <a:rPr lang="en-US" sz="1600" dirty="0"/>
              <a:t>Accelerated data access to </a:t>
            </a:r>
            <a:r>
              <a:rPr lang="en-US" sz="1600" b="1" dirty="0">
                <a:solidFill>
                  <a:srgbClr val="FF0000"/>
                </a:solidFill>
              </a:rPr>
              <a:t>less than 10 seconds</a:t>
            </a:r>
            <a:endParaRPr lang="en-US" sz="1600" dirty="0">
              <a:solidFill>
                <a:srgbClr val="FF0000"/>
              </a:solidFill>
            </a:endParaRPr>
          </a:p>
          <a:p>
            <a:endParaRPr lang="en-US" dirty="0"/>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13">
                                            <p:txEl>
                                              <p:pRg st="0" end="0"/>
                                            </p:txEl>
                                          </p:spTgt>
                                        </p:tgtEl>
                                        <p:attrNameLst>
                                          <p:attrName>style.visibility</p:attrName>
                                        </p:attrNameLst>
                                      </p:cBhvr>
                                      <p:to>
                                        <p:strVal val="visible"/>
                                      </p:to>
                                    </p:set>
                                    <p:animEffect transition="in" filter="wipe(down)">
                                      <p:cBhvr>
                                        <p:cTn id="14" dur="500"/>
                                        <p:tgtEl>
                                          <p:spTgt spid="13">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animEffect transition="in" filter="fade">
                                      <p:cBhvr>
                                        <p:cTn id="19" dur="1000"/>
                                        <p:tgtEl>
                                          <p:spTgt spid="3">
                                            <p:txEl>
                                              <p:pRg st="0" end="0"/>
                                            </p:txEl>
                                          </p:spTgt>
                                        </p:tgtEl>
                                      </p:cBhvr>
                                    </p:animEffect>
                                    <p:anim calcmode="lin" valueType="num">
                                      <p:cBhvr>
                                        <p:cTn id="20"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0" end="0"/>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3">
                                            <p:txEl>
                                              <p:pRg st="1" end="1"/>
                                            </p:txEl>
                                          </p:spTgt>
                                        </p:tgtEl>
                                        <p:attrNameLst>
                                          <p:attrName>style.visibility</p:attrName>
                                        </p:attrNameLst>
                                      </p:cBhvr>
                                      <p:to>
                                        <p:strVal val="visible"/>
                                      </p:to>
                                    </p:set>
                                    <p:animEffect transition="in" filter="fade">
                                      <p:cBhvr>
                                        <p:cTn id="24" dur="1000"/>
                                        <p:tgtEl>
                                          <p:spTgt spid="3">
                                            <p:txEl>
                                              <p:pRg st="1" end="1"/>
                                            </p:txEl>
                                          </p:spTgt>
                                        </p:tgtEl>
                                      </p:cBhvr>
                                    </p:animEffect>
                                    <p:anim calcmode="lin" valueType="num">
                                      <p:cBhvr>
                                        <p:cTn id="2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14">
                                            <p:txEl>
                                              <p:pRg st="0" end="0"/>
                                            </p:txEl>
                                          </p:spTgt>
                                        </p:tgtEl>
                                        <p:attrNameLst>
                                          <p:attrName>style.visibility</p:attrName>
                                        </p:attrNameLst>
                                      </p:cBhvr>
                                      <p:to>
                                        <p:strVal val="visible"/>
                                      </p:to>
                                    </p:set>
                                    <p:animEffect transition="in" filter="fade">
                                      <p:cBhvr>
                                        <p:cTn id="31" dur="1000"/>
                                        <p:tgtEl>
                                          <p:spTgt spid="14">
                                            <p:txEl>
                                              <p:pRg st="0" end="0"/>
                                            </p:txEl>
                                          </p:spTgt>
                                        </p:tgtEl>
                                      </p:cBhvr>
                                    </p:animEffect>
                                    <p:anim calcmode="lin" valueType="num">
                                      <p:cBhvr>
                                        <p:cTn id="32" dur="1000" fill="hold"/>
                                        <p:tgtEl>
                                          <p:spTgt spid="14">
                                            <p:txEl>
                                              <p:pRg st="0" end="0"/>
                                            </p:txEl>
                                          </p:spTgt>
                                        </p:tgtEl>
                                        <p:attrNameLst>
                                          <p:attrName>ppt_x</p:attrName>
                                        </p:attrNameLst>
                                      </p:cBhvr>
                                      <p:tavLst>
                                        <p:tav tm="0">
                                          <p:val>
                                            <p:strVal val="#ppt_x"/>
                                          </p:val>
                                        </p:tav>
                                        <p:tav tm="100000">
                                          <p:val>
                                            <p:strVal val="#ppt_x"/>
                                          </p:val>
                                        </p:tav>
                                      </p:tavLst>
                                    </p:anim>
                                    <p:anim calcmode="lin" valueType="num">
                                      <p:cBhvr>
                                        <p:cTn id="33" dur="1000" fill="hold"/>
                                        <p:tgtEl>
                                          <p:spTgt spid="14">
                                            <p:txEl>
                                              <p:pRg st="0" end="0"/>
                                            </p:txEl>
                                          </p:spTgt>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14">
                                            <p:txEl>
                                              <p:pRg st="1" end="1"/>
                                            </p:txEl>
                                          </p:spTgt>
                                        </p:tgtEl>
                                        <p:attrNameLst>
                                          <p:attrName>style.visibility</p:attrName>
                                        </p:attrNameLst>
                                      </p:cBhvr>
                                      <p:to>
                                        <p:strVal val="visible"/>
                                      </p:to>
                                    </p:set>
                                    <p:animEffect transition="in" filter="fade">
                                      <p:cBhvr>
                                        <p:cTn id="36" dur="1000"/>
                                        <p:tgtEl>
                                          <p:spTgt spid="14">
                                            <p:txEl>
                                              <p:pRg st="1" end="1"/>
                                            </p:txEl>
                                          </p:spTgt>
                                        </p:tgtEl>
                                      </p:cBhvr>
                                    </p:animEffect>
                                    <p:anim calcmode="lin" valueType="num">
                                      <p:cBhvr>
                                        <p:cTn id="37" dur="1000" fill="hold"/>
                                        <p:tgtEl>
                                          <p:spTgt spid="14">
                                            <p:txEl>
                                              <p:pRg st="1" end="1"/>
                                            </p:txEl>
                                          </p:spTgt>
                                        </p:tgtEl>
                                        <p:attrNameLst>
                                          <p:attrName>ppt_x</p:attrName>
                                        </p:attrNameLst>
                                      </p:cBhvr>
                                      <p:tavLst>
                                        <p:tav tm="0">
                                          <p:val>
                                            <p:strVal val="#ppt_x"/>
                                          </p:val>
                                        </p:tav>
                                        <p:tav tm="100000">
                                          <p:val>
                                            <p:strVal val="#ppt_x"/>
                                          </p:val>
                                        </p:tav>
                                      </p:tavLst>
                                    </p:anim>
                                    <p:anim calcmode="lin" valueType="num">
                                      <p:cBhvr>
                                        <p:cTn id="38" dur="1000" fill="hold"/>
                                        <p:tgtEl>
                                          <p:spTgt spid="14">
                                            <p:txEl>
                                              <p:pRg st="1" end="1"/>
                                            </p:txEl>
                                          </p:spTgt>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14">
                                            <p:txEl>
                                              <p:pRg st="2" end="2"/>
                                            </p:txEl>
                                          </p:spTgt>
                                        </p:tgtEl>
                                        <p:attrNameLst>
                                          <p:attrName>style.visibility</p:attrName>
                                        </p:attrNameLst>
                                      </p:cBhvr>
                                      <p:to>
                                        <p:strVal val="visible"/>
                                      </p:to>
                                    </p:set>
                                    <p:animEffect transition="in" filter="fade">
                                      <p:cBhvr>
                                        <p:cTn id="41" dur="1000"/>
                                        <p:tgtEl>
                                          <p:spTgt spid="14">
                                            <p:txEl>
                                              <p:pRg st="2" end="2"/>
                                            </p:txEl>
                                          </p:spTgt>
                                        </p:tgtEl>
                                      </p:cBhvr>
                                    </p:animEffect>
                                    <p:anim calcmode="lin" valueType="num">
                                      <p:cBhvr>
                                        <p:cTn id="42" dur="1000" fill="hold"/>
                                        <p:tgtEl>
                                          <p:spTgt spid="14">
                                            <p:txEl>
                                              <p:pRg st="2" end="2"/>
                                            </p:txEl>
                                          </p:spTgt>
                                        </p:tgtEl>
                                        <p:attrNameLst>
                                          <p:attrName>ppt_x</p:attrName>
                                        </p:attrNameLst>
                                      </p:cBhvr>
                                      <p:tavLst>
                                        <p:tav tm="0">
                                          <p:val>
                                            <p:strVal val="#ppt_x"/>
                                          </p:val>
                                        </p:tav>
                                        <p:tav tm="100000">
                                          <p:val>
                                            <p:strVal val="#ppt_x"/>
                                          </p:val>
                                        </p:tav>
                                      </p:tavLst>
                                    </p:anim>
                                    <p:anim calcmode="lin" valueType="num">
                                      <p:cBhvr>
                                        <p:cTn id="43" dur="1000" fill="hold"/>
                                        <p:tgtEl>
                                          <p:spTgt spid="14">
                                            <p:txEl>
                                              <p:pRg st="2" end="2"/>
                                            </p:txEl>
                                          </p:spTgt>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0"/>
                                  </p:stCondLst>
                                  <p:childTnLst>
                                    <p:set>
                                      <p:cBhvr>
                                        <p:cTn id="45" dur="1" fill="hold">
                                          <p:stCondLst>
                                            <p:cond delay="0"/>
                                          </p:stCondLst>
                                        </p:cTn>
                                        <p:tgtEl>
                                          <p:spTgt spid="14">
                                            <p:txEl>
                                              <p:pRg st="3" end="3"/>
                                            </p:txEl>
                                          </p:spTgt>
                                        </p:tgtEl>
                                        <p:attrNameLst>
                                          <p:attrName>style.visibility</p:attrName>
                                        </p:attrNameLst>
                                      </p:cBhvr>
                                      <p:to>
                                        <p:strVal val="visible"/>
                                      </p:to>
                                    </p:set>
                                    <p:animEffect transition="in" filter="fade">
                                      <p:cBhvr>
                                        <p:cTn id="46" dur="1000"/>
                                        <p:tgtEl>
                                          <p:spTgt spid="14">
                                            <p:txEl>
                                              <p:pRg st="3" end="3"/>
                                            </p:txEl>
                                          </p:spTgt>
                                        </p:tgtEl>
                                      </p:cBhvr>
                                    </p:animEffect>
                                    <p:anim calcmode="lin" valueType="num">
                                      <p:cBhvr>
                                        <p:cTn id="47" dur="1000" fill="hold"/>
                                        <p:tgtEl>
                                          <p:spTgt spid="14">
                                            <p:txEl>
                                              <p:pRg st="3" end="3"/>
                                            </p:txEl>
                                          </p:spTgt>
                                        </p:tgtEl>
                                        <p:attrNameLst>
                                          <p:attrName>ppt_x</p:attrName>
                                        </p:attrNameLst>
                                      </p:cBhvr>
                                      <p:tavLst>
                                        <p:tav tm="0">
                                          <p:val>
                                            <p:strVal val="#ppt_x"/>
                                          </p:val>
                                        </p:tav>
                                        <p:tav tm="100000">
                                          <p:val>
                                            <p:strVal val="#ppt_x"/>
                                          </p:val>
                                        </p:tav>
                                      </p:tavLst>
                                    </p:anim>
                                    <p:anim calcmode="lin" valueType="num">
                                      <p:cBhvr>
                                        <p:cTn id="48" dur="1000" fill="hold"/>
                                        <p:tgtEl>
                                          <p:spTgt spid="14">
                                            <p:txEl>
                                              <p:pRg st="3" end="3"/>
                                            </p:txEl>
                                          </p:spTgt>
                                        </p:tgtEl>
                                        <p:attrNameLst>
                                          <p:attrName>ppt_y</p:attrName>
                                        </p:attrNameLst>
                                      </p:cBhvr>
                                      <p:tavLst>
                                        <p:tav tm="0">
                                          <p:val>
                                            <p:strVal val="#ppt_y+.1"/>
                                          </p:val>
                                        </p:tav>
                                        <p:tav tm="100000">
                                          <p:val>
                                            <p:strVal val="#ppt_y"/>
                                          </p:val>
                                        </p:tav>
                                      </p:tavLst>
                                    </p:anim>
                                  </p:childTnLst>
                                </p:cTn>
                              </p:par>
                              <p:par>
                                <p:cTn id="49" presetID="42" presetClass="entr" presetSubtype="0" fill="hold" nodeType="withEffect">
                                  <p:stCondLst>
                                    <p:cond delay="0"/>
                                  </p:stCondLst>
                                  <p:childTnLst>
                                    <p:set>
                                      <p:cBhvr>
                                        <p:cTn id="50" dur="1" fill="hold">
                                          <p:stCondLst>
                                            <p:cond delay="0"/>
                                          </p:stCondLst>
                                        </p:cTn>
                                        <p:tgtEl>
                                          <p:spTgt spid="14">
                                            <p:txEl>
                                              <p:pRg st="4" end="4"/>
                                            </p:txEl>
                                          </p:spTgt>
                                        </p:tgtEl>
                                        <p:attrNameLst>
                                          <p:attrName>style.visibility</p:attrName>
                                        </p:attrNameLst>
                                      </p:cBhvr>
                                      <p:to>
                                        <p:strVal val="visible"/>
                                      </p:to>
                                    </p:set>
                                    <p:animEffect transition="in" filter="fade">
                                      <p:cBhvr>
                                        <p:cTn id="51" dur="1000"/>
                                        <p:tgtEl>
                                          <p:spTgt spid="14">
                                            <p:txEl>
                                              <p:pRg st="4" end="4"/>
                                            </p:txEl>
                                          </p:spTgt>
                                        </p:tgtEl>
                                      </p:cBhvr>
                                    </p:animEffect>
                                    <p:anim calcmode="lin" valueType="num">
                                      <p:cBhvr>
                                        <p:cTn id="52" dur="1000" fill="hold"/>
                                        <p:tgtEl>
                                          <p:spTgt spid="14">
                                            <p:txEl>
                                              <p:pRg st="4" end="4"/>
                                            </p:txEl>
                                          </p:spTgt>
                                        </p:tgtEl>
                                        <p:attrNameLst>
                                          <p:attrName>ppt_x</p:attrName>
                                        </p:attrNameLst>
                                      </p:cBhvr>
                                      <p:tavLst>
                                        <p:tav tm="0">
                                          <p:val>
                                            <p:strVal val="#ppt_x"/>
                                          </p:val>
                                        </p:tav>
                                        <p:tav tm="100000">
                                          <p:val>
                                            <p:strVal val="#ppt_x"/>
                                          </p:val>
                                        </p:tav>
                                      </p:tavLst>
                                    </p:anim>
                                    <p:anim calcmode="lin" valueType="num">
                                      <p:cBhvr>
                                        <p:cTn id="53" dur="1000" fill="hold"/>
                                        <p:tgtEl>
                                          <p:spTgt spid="14">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1604F68-7177-4B23-BFEF-41E425643C1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a:p>
        </p:txBody>
      </p:sp>
      <p:sp>
        <p:nvSpPr>
          <p:cNvPr id="7" name="TextBox 6">
            <a:extLst>
              <a:ext uri="{FF2B5EF4-FFF2-40B4-BE49-F238E27FC236}">
                <a16:creationId xmlns:a16="http://schemas.microsoft.com/office/drawing/2014/main" id="{57601588-1B74-4321-84B4-4B9F7BED3D1F}"/>
              </a:ext>
            </a:extLst>
          </p:cNvPr>
          <p:cNvSpPr txBox="1"/>
          <p:nvPr/>
        </p:nvSpPr>
        <p:spPr>
          <a:xfrm>
            <a:off x="541538" y="1462506"/>
            <a:ext cx="6467878" cy="1600438"/>
          </a:xfrm>
          <a:prstGeom prst="rect">
            <a:avLst/>
          </a:prstGeom>
          <a:noFill/>
        </p:spPr>
        <p:txBody>
          <a:bodyPr wrap="square" rtlCol="0">
            <a:spAutoFit/>
          </a:bodyPr>
          <a:lstStyle/>
          <a:p>
            <a:r>
              <a:rPr lang="en-US" sz="2000" b="1" dirty="0">
                <a:solidFill>
                  <a:srgbClr val="047954"/>
                </a:solidFill>
              </a:rPr>
              <a:t>Relevance to Our Project:</a:t>
            </a:r>
          </a:p>
          <a:p>
            <a:pPr>
              <a:buFont typeface="Arial" panose="020B0604020202020204" pitchFamily="34" charset="0"/>
              <a:buChar char="•"/>
            </a:pPr>
            <a:r>
              <a:rPr lang="en-US" sz="1600" dirty="0"/>
              <a:t>Our project adopts a similar approach by integrating data analysis to   uncover patterns in downtime.</a:t>
            </a:r>
          </a:p>
          <a:p>
            <a:pPr>
              <a:buFont typeface="Arial" panose="020B0604020202020204" pitchFamily="34" charset="0"/>
              <a:buChar char="•"/>
            </a:pPr>
            <a:r>
              <a:rPr lang="en-US" sz="1600" dirty="0"/>
              <a:t>By analyzing downtime across products, operators, and shifts, we aim to provide actionable insights to minimize disruptions.</a:t>
            </a:r>
          </a:p>
          <a:p>
            <a:r>
              <a:rPr lang="en-US" dirty="0"/>
              <a:t>.</a:t>
            </a:r>
          </a:p>
        </p:txBody>
      </p:sp>
      <p:sp>
        <p:nvSpPr>
          <p:cNvPr id="4" name="TextBox 3">
            <a:extLst>
              <a:ext uri="{FF2B5EF4-FFF2-40B4-BE49-F238E27FC236}">
                <a16:creationId xmlns:a16="http://schemas.microsoft.com/office/drawing/2014/main" id="{84B94DAF-A46B-4D4B-91E5-3C7943EF8164}"/>
              </a:ext>
            </a:extLst>
          </p:cNvPr>
          <p:cNvSpPr txBox="1"/>
          <p:nvPr/>
        </p:nvSpPr>
        <p:spPr>
          <a:xfrm>
            <a:off x="1559858" y="6356350"/>
            <a:ext cx="1425389" cy="553998"/>
          </a:xfrm>
          <a:prstGeom prst="rect">
            <a:avLst/>
          </a:prstGeom>
          <a:noFill/>
        </p:spPr>
        <p:txBody>
          <a:bodyPr wrap="square" rtlCol="0">
            <a:spAutoFit/>
          </a:bodyPr>
          <a:lstStyle/>
          <a:p>
            <a:r>
              <a:rPr lang="en-US" sz="1600">
                <a:solidFill>
                  <a:schemeClr val="bg1"/>
                </a:solidFill>
                <a:latin typeface="Constantia" panose="02030602050306030303" pitchFamily="18" charset="0"/>
              </a:rPr>
              <a:t>9 may 2025</a:t>
            </a:r>
          </a:p>
          <a:p>
            <a:endParaRPr lang="en-US"/>
          </a:p>
        </p:txBody>
      </p:sp>
    </p:spTree>
    <p:extLst>
      <p:ext uri="{BB962C8B-B14F-4D97-AF65-F5344CB8AC3E}">
        <p14:creationId xmlns:p14="http://schemas.microsoft.com/office/powerpoint/2010/main" val="162250556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1000"/>
                                        <p:tgtEl>
                                          <p:spTgt spid="7">
                                            <p:txEl>
                                              <p:pRg st="1" end="1"/>
                                            </p:txEl>
                                          </p:spTgt>
                                        </p:tgtEl>
                                      </p:cBhvr>
                                    </p:animEffect>
                                    <p:anim calcmode="lin" valueType="num">
                                      <p:cBhvr>
                                        <p:cTn id="13"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7">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1000"/>
                                        <p:tgtEl>
                                          <p:spTgt spid="7">
                                            <p:txEl>
                                              <p:pRg st="2" end="2"/>
                                            </p:txEl>
                                          </p:spTgt>
                                        </p:tgtEl>
                                      </p:cBhvr>
                                    </p:animEffect>
                                    <p:anim calcmode="lin" valueType="num">
                                      <p:cBhvr>
                                        <p:cTn id="18"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1000"/>
                                        <p:tgtEl>
                                          <p:spTgt spid="7">
                                            <p:txEl>
                                              <p:pRg st="3" end="3"/>
                                            </p:txEl>
                                          </p:spTgt>
                                        </p:tgtEl>
                                      </p:cBhvr>
                                    </p:animEffect>
                                    <p:anim calcmode="lin" valueType="num">
                                      <p:cBhvr>
                                        <p:cTn id="23"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8">
          <a:extLst>
            <a:ext uri="{FF2B5EF4-FFF2-40B4-BE49-F238E27FC236}">
              <a16:creationId xmlns:a16="http://schemas.microsoft.com/office/drawing/2014/main" id="{B3317E3A-03EF-E4C5-319A-233FAE35B132}"/>
            </a:ext>
          </a:extLst>
        </p:cNvPr>
        <p:cNvGrpSpPr/>
        <p:nvPr/>
      </p:nvGrpSpPr>
      <p:grpSpPr>
        <a:xfrm>
          <a:off x="0" y="0"/>
          <a:ext cx="0" cy="0"/>
          <a:chOff x="0" y="0"/>
          <a:chExt cx="0" cy="0"/>
        </a:xfrm>
      </p:grpSpPr>
      <p:sp>
        <p:nvSpPr>
          <p:cNvPr id="191" name="Google Shape;191;p6">
            <a:extLst>
              <a:ext uri="{FF2B5EF4-FFF2-40B4-BE49-F238E27FC236}">
                <a16:creationId xmlns:a16="http://schemas.microsoft.com/office/drawing/2014/main" id="{DE3795AE-FB14-570B-B5CB-F4D2CAE1D811}"/>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endParaRPr lang="en-US" dirty="0">
              <a:solidFill>
                <a:schemeClr val="bg1"/>
              </a:solidFill>
              <a:latin typeface="Constantia" panose="02030602050306030303" pitchFamily="18" charset="0"/>
            </a:endParaRPr>
          </a:p>
        </p:txBody>
      </p:sp>
      <p:sp>
        <p:nvSpPr>
          <p:cNvPr id="193" name="Google Shape;193;p6">
            <a:extLst>
              <a:ext uri="{FF2B5EF4-FFF2-40B4-BE49-F238E27FC236}">
                <a16:creationId xmlns:a16="http://schemas.microsoft.com/office/drawing/2014/main" id="{AF137ADC-5D7B-ACAA-5506-FD013C2ECFC9}"/>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7</a:t>
            </a:fld>
            <a:endParaRPr/>
          </a:p>
        </p:txBody>
      </p:sp>
      <p:sp>
        <p:nvSpPr>
          <p:cNvPr id="2" name="TextBox 1">
            <a:extLst>
              <a:ext uri="{FF2B5EF4-FFF2-40B4-BE49-F238E27FC236}">
                <a16:creationId xmlns:a16="http://schemas.microsoft.com/office/drawing/2014/main" id="{F3D1B3BF-9257-EC1E-B941-476983D7B1DA}"/>
              </a:ext>
            </a:extLst>
          </p:cNvPr>
          <p:cNvSpPr txBox="1"/>
          <p:nvPr/>
        </p:nvSpPr>
        <p:spPr>
          <a:xfrm>
            <a:off x="4836539" y="320758"/>
            <a:ext cx="1962397" cy="461665"/>
          </a:xfrm>
          <a:prstGeom prst="rect">
            <a:avLst/>
          </a:prstGeom>
          <a:noFill/>
        </p:spPr>
        <p:txBody>
          <a:bodyPr wrap="none" rtlCol="0">
            <a:spAutoFit/>
          </a:bodyPr>
          <a:lstStyle/>
          <a:p>
            <a:r>
              <a:rPr lang="en-US" sz="2400" b="1" dirty="0">
                <a:solidFill>
                  <a:schemeClr val="accent6">
                    <a:lumMod val="50000"/>
                  </a:schemeClr>
                </a:solidFill>
              </a:rPr>
              <a:t>Project Plan</a:t>
            </a:r>
          </a:p>
        </p:txBody>
      </p:sp>
      <p:graphicFrame>
        <p:nvGraphicFramePr>
          <p:cNvPr id="6" name="Table 5">
            <a:extLst>
              <a:ext uri="{FF2B5EF4-FFF2-40B4-BE49-F238E27FC236}">
                <a16:creationId xmlns:a16="http://schemas.microsoft.com/office/drawing/2014/main" id="{D53E28B5-63A7-48F2-9F20-F0079AF4294D}"/>
              </a:ext>
            </a:extLst>
          </p:cNvPr>
          <p:cNvGraphicFramePr>
            <a:graphicFrameLocks noGrp="1"/>
          </p:cNvGraphicFramePr>
          <p:nvPr>
            <p:extLst>
              <p:ext uri="{D42A27DB-BD31-4B8C-83A1-F6EECF244321}">
                <p14:modId xmlns:p14="http://schemas.microsoft.com/office/powerpoint/2010/main" val="692721100"/>
              </p:ext>
            </p:extLst>
          </p:nvPr>
        </p:nvGraphicFramePr>
        <p:xfrm>
          <a:off x="1045029" y="1074198"/>
          <a:ext cx="10234385" cy="5139988"/>
        </p:xfrm>
        <a:graphic>
          <a:graphicData uri="http://schemas.openxmlformats.org/drawingml/2006/table">
            <a:tbl>
              <a:tblPr/>
              <a:tblGrid>
                <a:gridCol w="2509805">
                  <a:extLst>
                    <a:ext uri="{9D8B030D-6E8A-4147-A177-3AD203B41FA5}">
                      <a16:colId xmlns:a16="http://schemas.microsoft.com/office/drawing/2014/main" val="3554802597"/>
                    </a:ext>
                  </a:extLst>
                </a:gridCol>
                <a:gridCol w="2574860">
                  <a:extLst>
                    <a:ext uri="{9D8B030D-6E8A-4147-A177-3AD203B41FA5}">
                      <a16:colId xmlns:a16="http://schemas.microsoft.com/office/drawing/2014/main" val="3717657177"/>
                    </a:ext>
                  </a:extLst>
                </a:gridCol>
                <a:gridCol w="2574860">
                  <a:extLst>
                    <a:ext uri="{9D8B030D-6E8A-4147-A177-3AD203B41FA5}">
                      <a16:colId xmlns:a16="http://schemas.microsoft.com/office/drawing/2014/main" val="3698586412"/>
                    </a:ext>
                  </a:extLst>
                </a:gridCol>
                <a:gridCol w="2574860">
                  <a:extLst>
                    <a:ext uri="{9D8B030D-6E8A-4147-A177-3AD203B41FA5}">
                      <a16:colId xmlns:a16="http://schemas.microsoft.com/office/drawing/2014/main" val="379587930"/>
                    </a:ext>
                  </a:extLst>
                </a:gridCol>
              </a:tblGrid>
              <a:tr h="231696">
                <a:tc>
                  <a:txBody>
                    <a:bodyPr/>
                    <a:lstStyle/>
                    <a:p>
                      <a:pPr algn="l"/>
                      <a:r>
                        <a:rPr lang="en-US" sz="1100" b="1" dirty="0">
                          <a:effectLst/>
                        </a:rPr>
                        <a:t>Phase</a:t>
                      </a:r>
                    </a:p>
                  </a:txBody>
                  <a:tcPr marL="53165" marR="53165" marT="24538" marB="24538" anchor="ctr">
                    <a:lnL w="6096" cap="flat" cmpd="sng" algn="ctr">
                      <a:solidFill>
                        <a:srgbClr val="D1D9E0"/>
                      </a:solidFill>
                      <a:prstDash val="solid"/>
                      <a:round/>
                      <a:headEnd type="none" w="med" len="med"/>
                      <a:tailEnd type="none" w="med" len="med"/>
                    </a:lnL>
                    <a:lnR w="6096" cap="flat" cmpd="sng" algn="ctr">
                      <a:solidFill>
                        <a:srgbClr val="D1D9E0"/>
                      </a:solidFill>
                      <a:prstDash val="solid"/>
                      <a:round/>
                      <a:headEnd type="none" w="med" len="med"/>
                      <a:tailEnd type="none" w="med" len="med"/>
                    </a:lnR>
                    <a:lnT w="6096" cap="flat" cmpd="sng" algn="ctr">
                      <a:solidFill>
                        <a:srgbClr val="D1D9E0"/>
                      </a:solidFill>
                      <a:prstDash val="solid"/>
                      <a:round/>
                      <a:headEnd type="none" w="med" len="med"/>
                      <a:tailEnd type="none" w="med" len="med"/>
                    </a:lnT>
                    <a:lnB w="6096" cap="flat" cmpd="sng" algn="ctr">
                      <a:solidFill>
                        <a:srgbClr val="D1D9E0"/>
                      </a:solidFill>
                      <a:prstDash val="solid"/>
                      <a:round/>
                      <a:headEnd type="none" w="med" len="med"/>
                      <a:tailEnd type="none" w="med" len="med"/>
                    </a:lnB>
                    <a:solidFill>
                      <a:srgbClr val="FFFFFF"/>
                    </a:solidFill>
                  </a:tcPr>
                </a:tc>
                <a:tc>
                  <a:txBody>
                    <a:bodyPr/>
                    <a:lstStyle/>
                    <a:p>
                      <a:pPr algn="ctr"/>
                      <a:r>
                        <a:rPr lang="en-US" sz="1100" b="1">
                          <a:effectLst/>
                        </a:rPr>
                        <a:t>Tasks</a:t>
                      </a:r>
                    </a:p>
                  </a:txBody>
                  <a:tcPr marL="53165" marR="53165" marT="24538" marB="24538" anchor="ctr">
                    <a:lnL w="6096" cap="flat" cmpd="sng" algn="ctr">
                      <a:solidFill>
                        <a:srgbClr val="D1D9E0"/>
                      </a:solidFill>
                      <a:prstDash val="solid"/>
                      <a:round/>
                      <a:headEnd type="none" w="med" len="med"/>
                      <a:tailEnd type="none" w="med" len="med"/>
                    </a:lnL>
                    <a:lnR w="6096" cap="flat" cmpd="sng" algn="ctr">
                      <a:solidFill>
                        <a:srgbClr val="D1D9E0"/>
                      </a:solidFill>
                      <a:prstDash val="solid"/>
                      <a:round/>
                      <a:headEnd type="none" w="med" len="med"/>
                      <a:tailEnd type="none" w="med" len="med"/>
                    </a:lnR>
                    <a:lnT w="6096" cap="flat" cmpd="sng" algn="ctr">
                      <a:solidFill>
                        <a:srgbClr val="D1D9E0"/>
                      </a:solidFill>
                      <a:prstDash val="solid"/>
                      <a:round/>
                      <a:headEnd type="none" w="med" len="med"/>
                      <a:tailEnd type="none" w="med" len="med"/>
                    </a:lnT>
                    <a:lnB w="6096" cap="flat" cmpd="sng" algn="ctr">
                      <a:solidFill>
                        <a:srgbClr val="D1D9E0"/>
                      </a:solidFill>
                      <a:prstDash val="solid"/>
                      <a:round/>
                      <a:headEnd type="none" w="med" len="med"/>
                      <a:tailEnd type="none" w="med" len="med"/>
                    </a:lnB>
                    <a:solidFill>
                      <a:srgbClr val="FFFFFF"/>
                    </a:solidFill>
                  </a:tcPr>
                </a:tc>
                <a:tc>
                  <a:txBody>
                    <a:bodyPr/>
                    <a:lstStyle/>
                    <a:p>
                      <a:pPr algn="ctr"/>
                      <a:r>
                        <a:rPr lang="en-US" sz="1100" b="1">
                          <a:effectLst/>
                        </a:rPr>
                        <a:t>Duration</a:t>
                      </a:r>
                    </a:p>
                  </a:txBody>
                  <a:tcPr marL="53165" marR="53165" marT="24538" marB="24538" anchor="ctr">
                    <a:lnL w="6096" cap="flat" cmpd="sng" algn="ctr">
                      <a:solidFill>
                        <a:srgbClr val="D1D9E0"/>
                      </a:solidFill>
                      <a:prstDash val="solid"/>
                      <a:round/>
                      <a:headEnd type="none" w="med" len="med"/>
                      <a:tailEnd type="none" w="med" len="med"/>
                    </a:lnL>
                    <a:lnR w="6096" cap="flat" cmpd="sng" algn="ctr">
                      <a:solidFill>
                        <a:srgbClr val="D1D9E0"/>
                      </a:solidFill>
                      <a:prstDash val="solid"/>
                      <a:round/>
                      <a:headEnd type="none" w="med" len="med"/>
                      <a:tailEnd type="none" w="med" len="med"/>
                    </a:lnR>
                    <a:lnT w="6096" cap="flat" cmpd="sng" algn="ctr">
                      <a:solidFill>
                        <a:srgbClr val="D1D9E0"/>
                      </a:solidFill>
                      <a:prstDash val="solid"/>
                      <a:round/>
                      <a:headEnd type="none" w="med" len="med"/>
                      <a:tailEnd type="none" w="med" len="med"/>
                    </a:lnT>
                    <a:lnB w="6096" cap="flat" cmpd="sng" algn="ctr">
                      <a:solidFill>
                        <a:srgbClr val="D1D9E0"/>
                      </a:solidFill>
                      <a:prstDash val="solid"/>
                      <a:round/>
                      <a:headEnd type="none" w="med" len="med"/>
                      <a:tailEnd type="none" w="med" len="med"/>
                    </a:lnB>
                    <a:solidFill>
                      <a:srgbClr val="FFFFFF"/>
                    </a:solidFill>
                  </a:tcPr>
                </a:tc>
                <a:tc>
                  <a:txBody>
                    <a:bodyPr/>
                    <a:lstStyle/>
                    <a:p>
                      <a:pPr algn="ctr"/>
                      <a:r>
                        <a:rPr lang="en-US" sz="1100" b="1">
                          <a:effectLst/>
                        </a:rPr>
                        <a:t>Milestone</a:t>
                      </a:r>
                    </a:p>
                  </a:txBody>
                  <a:tcPr marL="53165" marR="53165" marT="24538" marB="24538" anchor="ctr">
                    <a:lnL w="6096" cap="flat" cmpd="sng" algn="ctr">
                      <a:solidFill>
                        <a:srgbClr val="D1D9E0"/>
                      </a:solidFill>
                      <a:prstDash val="solid"/>
                      <a:round/>
                      <a:headEnd type="none" w="med" len="med"/>
                      <a:tailEnd type="none" w="med" len="med"/>
                    </a:lnL>
                    <a:lnR w="6096" cap="flat" cmpd="sng" algn="ctr">
                      <a:solidFill>
                        <a:srgbClr val="D1D9E0"/>
                      </a:solidFill>
                      <a:prstDash val="solid"/>
                      <a:round/>
                      <a:headEnd type="none" w="med" len="med"/>
                      <a:tailEnd type="none" w="med" len="med"/>
                    </a:lnR>
                    <a:lnT w="6096" cap="flat" cmpd="sng" algn="ctr">
                      <a:solidFill>
                        <a:srgbClr val="D1D9E0"/>
                      </a:solidFill>
                      <a:prstDash val="solid"/>
                      <a:round/>
                      <a:headEnd type="none" w="med" len="med"/>
                      <a:tailEnd type="none" w="med" len="med"/>
                    </a:lnT>
                    <a:lnB w="6096"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2386440048"/>
                  </a:ext>
                </a:extLst>
              </a:tr>
              <a:tr h="574776">
                <a:tc>
                  <a:txBody>
                    <a:bodyPr/>
                    <a:lstStyle/>
                    <a:p>
                      <a:pPr algn="l"/>
                      <a:r>
                        <a:rPr lang="en-US" sz="1100" b="1" dirty="0">
                          <a:effectLst/>
                        </a:rPr>
                        <a:t>1 – Data Collection</a:t>
                      </a:r>
                      <a:endParaRPr lang="en-US" sz="1100" dirty="0">
                        <a:effectLst/>
                      </a:endParaRPr>
                    </a:p>
                  </a:txBody>
                  <a:tcPr marL="53165" marR="53165" marT="24538" marB="24538" anchor="ctr">
                    <a:lnL w="6096" cap="flat" cmpd="sng" algn="ctr">
                      <a:solidFill>
                        <a:srgbClr val="D1D9E0"/>
                      </a:solidFill>
                      <a:prstDash val="solid"/>
                      <a:round/>
                      <a:headEnd type="none" w="med" len="med"/>
                      <a:tailEnd type="none" w="med" len="med"/>
                    </a:lnL>
                    <a:lnR w="6096" cap="flat" cmpd="sng" algn="ctr">
                      <a:solidFill>
                        <a:srgbClr val="D1D9E0"/>
                      </a:solidFill>
                      <a:prstDash val="solid"/>
                      <a:round/>
                      <a:headEnd type="none" w="med" len="med"/>
                      <a:tailEnd type="none" w="med" len="med"/>
                    </a:lnR>
                    <a:lnT w="6096" cap="flat" cmpd="sng" algn="ctr">
                      <a:solidFill>
                        <a:srgbClr val="D1D9E0"/>
                      </a:solidFill>
                      <a:prstDash val="solid"/>
                      <a:round/>
                      <a:headEnd type="none" w="med" len="med"/>
                      <a:tailEnd type="none" w="med" len="med"/>
                    </a:lnT>
                    <a:lnB w="6096" cap="flat" cmpd="sng" algn="ctr">
                      <a:solidFill>
                        <a:srgbClr val="D1D9E0"/>
                      </a:solidFill>
                      <a:prstDash val="solid"/>
                      <a:round/>
                      <a:headEnd type="none" w="med" len="med"/>
                      <a:tailEnd type="none" w="med" len="med"/>
                    </a:lnB>
                    <a:solidFill>
                      <a:srgbClr val="FFFFFF"/>
                    </a:solidFill>
                  </a:tcPr>
                </a:tc>
                <a:tc>
                  <a:txBody>
                    <a:bodyPr/>
                    <a:lstStyle/>
                    <a:p>
                      <a:pPr algn="ctr"/>
                      <a:r>
                        <a:rPr lang="en-US" sz="1100" dirty="0">
                          <a:effectLst/>
                        </a:rPr>
                        <a:t>Gather downtime logs, machine details, shift schedules, operator info, and maintenance records</a:t>
                      </a:r>
                    </a:p>
                  </a:txBody>
                  <a:tcPr marL="53165" marR="53165" marT="24538" marB="24538" anchor="ctr">
                    <a:lnL w="6096" cap="flat" cmpd="sng" algn="ctr">
                      <a:solidFill>
                        <a:srgbClr val="D1D9E0"/>
                      </a:solidFill>
                      <a:prstDash val="solid"/>
                      <a:round/>
                      <a:headEnd type="none" w="med" len="med"/>
                      <a:tailEnd type="none" w="med" len="med"/>
                    </a:lnL>
                    <a:lnR w="6096" cap="flat" cmpd="sng" algn="ctr">
                      <a:solidFill>
                        <a:srgbClr val="D1D9E0"/>
                      </a:solidFill>
                      <a:prstDash val="solid"/>
                      <a:round/>
                      <a:headEnd type="none" w="med" len="med"/>
                      <a:tailEnd type="none" w="med" len="med"/>
                    </a:lnR>
                    <a:lnT w="6096" cap="flat" cmpd="sng" algn="ctr">
                      <a:solidFill>
                        <a:srgbClr val="D1D9E0"/>
                      </a:solidFill>
                      <a:prstDash val="solid"/>
                      <a:round/>
                      <a:headEnd type="none" w="med" len="med"/>
                      <a:tailEnd type="none" w="med" len="med"/>
                    </a:lnT>
                    <a:lnB w="6096" cap="flat" cmpd="sng" algn="ctr">
                      <a:solidFill>
                        <a:srgbClr val="D1D9E0"/>
                      </a:solidFill>
                      <a:prstDash val="solid"/>
                      <a:round/>
                      <a:headEnd type="none" w="med" len="med"/>
                      <a:tailEnd type="none" w="med" len="med"/>
                    </a:lnB>
                    <a:solidFill>
                      <a:srgbClr val="FFFFFF"/>
                    </a:solidFill>
                  </a:tcPr>
                </a:tc>
                <a:tc>
                  <a:txBody>
                    <a:bodyPr/>
                    <a:lstStyle/>
                    <a:p>
                      <a:pPr algn="ctr"/>
                      <a:r>
                        <a:rPr lang="en-US" sz="1100" dirty="0">
                          <a:effectLst/>
                        </a:rPr>
                        <a:t>Week 1</a:t>
                      </a:r>
                    </a:p>
                  </a:txBody>
                  <a:tcPr marL="53165" marR="53165" marT="24538" marB="24538" anchor="ctr">
                    <a:lnL w="6096" cap="flat" cmpd="sng" algn="ctr">
                      <a:solidFill>
                        <a:srgbClr val="D1D9E0"/>
                      </a:solidFill>
                      <a:prstDash val="solid"/>
                      <a:round/>
                      <a:headEnd type="none" w="med" len="med"/>
                      <a:tailEnd type="none" w="med" len="med"/>
                    </a:lnL>
                    <a:lnR w="6096" cap="flat" cmpd="sng" algn="ctr">
                      <a:solidFill>
                        <a:srgbClr val="D1D9E0"/>
                      </a:solidFill>
                      <a:prstDash val="solid"/>
                      <a:round/>
                      <a:headEnd type="none" w="med" len="med"/>
                      <a:tailEnd type="none" w="med" len="med"/>
                    </a:lnR>
                    <a:lnT w="6096" cap="flat" cmpd="sng" algn="ctr">
                      <a:solidFill>
                        <a:srgbClr val="D1D9E0"/>
                      </a:solidFill>
                      <a:prstDash val="solid"/>
                      <a:round/>
                      <a:headEnd type="none" w="med" len="med"/>
                      <a:tailEnd type="none" w="med" len="med"/>
                    </a:lnT>
                    <a:lnB w="6096" cap="flat" cmpd="sng" algn="ctr">
                      <a:solidFill>
                        <a:srgbClr val="D1D9E0"/>
                      </a:solidFill>
                      <a:prstDash val="solid"/>
                      <a:round/>
                      <a:headEnd type="none" w="med" len="med"/>
                      <a:tailEnd type="none" w="med" len="med"/>
                    </a:lnB>
                    <a:solidFill>
                      <a:srgbClr val="FFFFFF"/>
                    </a:solidFill>
                  </a:tcPr>
                </a:tc>
                <a:tc>
                  <a:txBody>
                    <a:bodyPr/>
                    <a:lstStyle/>
                    <a:p>
                      <a:pPr algn="ctr"/>
                      <a:r>
                        <a:rPr lang="en-US" sz="1100">
                          <a:effectLst/>
                        </a:rPr>
                        <a:t>Raw dataset collected</a:t>
                      </a:r>
                    </a:p>
                  </a:txBody>
                  <a:tcPr marL="53165" marR="53165" marT="24538" marB="24538" anchor="ctr">
                    <a:lnL w="6096" cap="flat" cmpd="sng" algn="ctr">
                      <a:solidFill>
                        <a:srgbClr val="D1D9E0"/>
                      </a:solidFill>
                      <a:prstDash val="solid"/>
                      <a:round/>
                      <a:headEnd type="none" w="med" len="med"/>
                      <a:tailEnd type="none" w="med" len="med"/>
                    </a:lnL>
                    <a:lnR w="6096" cap="flat" cmpd="sng" algn="ctr">
                      <a:solidFill>
                        <a:srgbClr val="D1D9E0"/>
                      </a:solidFill>
                      <a:prstDash val="solid"/>
                      <a:round/>
                      <a:headEnd type="none" w="med" len="med"/>
                      <a:tailEnd type="none" w="med" len="med"/>
                    </a:lnR>
                    <a:lnT w="6096" cap="flat" cmpd="sng" algn="ctr">
                      <a:solidFill>
                        <a:srgbClr val="D1D9E0"/>
                      </a:solidFill>
                      <a:prstDash val="solid"/>
                      <a:round/>
                      <a:headEnd type="none" w="med" len="med"/>
                      <a:tailEnd type="none" w="med" len="med"/>
                    </a:lnT>
                    <a:lnB w="6096"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535196313"/>
                  </a:ext>
                </a:extLst>
              </a:tr>
              <a:tr h="915231">
                <a:tc>
                  <a:txBody>
                    <a:bodyPr/>
                    <a:lstStyle/>
                    <a:p>
                      <a:pPr algn="l"/>
                      <a:r>
                        <a:rPr lang="en-US" sz="1100" b="1" dirty="0">
                          <a:effectLst/>
                        </a:rPr>
                        <a:t>2 – Data Cleaning &amp; Transformation</a:t>
                      </a:r>
                      <a:endParaRPr lang="en-US" sz="1100" dirty="0">
                        <a:effectLst/>
                      </a:endParaRPr>
                    </a:p>
                  </a:txBody>
                  <a:tcPr marL="53165" marR="53165" marT="24538" marB="24538" anchor="ctr">
                    <a:lnL w="6096" cap="flat" cmpd="sng" algn="ctr">
                      <a:solidFill>
                        <a:srgbClr val="D1D9E0"/>
                      </a:solidFill>
                      <a:prstDash val="solid"/>
                      <a:round/>
                      <a:headEnd type="none" w="med" len="med"/>
                      <a:tailEnd type="none" w="med" len="med"/>
                    </a:lnL>
                    <a:lnR w="6096" cap="flat" cmpd="sng" algn="ctr">
                      <a:solidFill>
                        <a:srgbClr val="D1D9E0"/>
                      </a:solidFill>
                      <a:prstDash val="solid"/>
                      <a:round/>
                      <a:headEnd type="none" w="med" len="med"/>
                      <a:tailEnd type="none" w="med" len="med"/>
                    </a:lnR>
                    <a:lnT w="6096" cap="flat" cmpd="sng" algn="ctr">
                      <a:solidFill>
                        <a:srgbClr val="D1D9E0"/>
                      </a:solidFill>
                      <a:prstDash val="solid"/>
                      <a:round/>
                      <a:headEnd type="none" w="med" len="med"/>
                      <a:tailEnd type="none" w="med" len="med"/>
                    </a:lnT>
                    <a:lnB w="6096" cap="flat" cmpd="sng" algn="ctr">
                      <a:solidFill>
                        <a:srgbClr val="D1D9E0"/>
                      </a:solidFill>
                      <a:prstDash val="solid"/>
                      <a:round/>
                      <a:headEnd type="none" w="med" len="med"/>
                      <a:tailEnd type="none" w="med" len="med"/>
                    </a:lnB>
                    <a:solidFill>
                      <a:srgbClr val="F6F8FA"/>
                    </a:solidFill>
                  </a:tcPr>
                </a:tc>
                <a:tc>
                  <a:txBody>
                    <a:bodyPr/>
                    <a:lstStyle/>
                    <a:p>
                      <a:pPr algn="ctr"/>
                      <a:r>
                        <a:rPr lang="en-US" sz="1100" dirty="0">
                          <a:effectLst/>
                        </a:rPr>
                        <a:t>Handle missing timestamps, remove duplicates, standardize downtime reasons, format date/time, merge with dimension tables (machine, shift, operator)</a:t>
                      </a:r>
                    </a:p>
                  </a:txBody>
                  <a:tcPr marL="53165" marR="53165" marT="24538" marB="24538" anchor="ctr">
                    <a:lnL w="6096" cap="flat" cmpd="sng" algn="ctr">
                      <a:solidFill>
                        <a:srgbClr val="D1D9E0"/>
                      </a:solidFill>
                      <a:prstDash val="solid"/>
                      <a:round/>
                      <a:headEnd type="none" w="med" len="med"/>
                      <a:tailEnd type="none" w="med" len="med"/>
                    </a:lnL>
                    <a:lnR w="6096" cap="flat" cmpd="sng" algn="ctr">
                      <a:solidFill>
                        <a:srgbClr val="D1D9E0"/>
                      </a:solidFill>
                      <a:prstDash val="solid"/>
                      <a:round/>
                      <a:headEnd type="none" w="med" len="med"/>
                      <a:tailEnd type="none" w="med" len="med"/>
                    </a:lnR>
                    <a:lnT w="6096" cap="flat" cmpd="sng" algn="ctr">
                      <a:solidFill>
                        <a:srgbClr val="D1D9E0"/>
                      </a:solidFill>
                      <a:prstDash val="solid"/>
                      <a:round/>
                      <a:headEnd type="none" w="med" len="med"/>
                      <a:tailEnd type="none" w="med" len="med"/>
                    </a:lnT>
                    <a:lnB w="6096" cap="flat" cmpd="sng" algn="ctr">
                      <a:solidFill>
                        <a:srgbClr val="D1D9E0"/>
                      </a:solidFill>
                      <a:prstDash val="solid"/>
                      <a:round/>
                      <a:headEnd type="none" w="med" len="med"/>
                      <a:tailEnd type="none" w="med" len="med"/>
                    </a:lnB>
                    <a:solidFill>
                      <a:srgbClr val="F6F8FA"/>
                    </a:solidFill>
                  </a:tcPr>
                </a:tc>
                <a:tc>
                  <a:txBody>
                    <a:bodyPr/>
                    <a:lstStyle/>
                    <a:p>
                      <a:pPr algn="ctr"/>
                      <a:r>
                        <a:rPr lang="en-US" sz="1100" dirty="0">
                          <a:effectLst/>
                        </a:rPr>
                        <a:t>Week 2</a:t>
                      </a:r>
                    </a:p>
                  </a:txBody>
                  <a:tcPr marL="53165" marR="53165" marT="24538" marB="24538" anchor="ctr">
                    <a:lnL w="6096" cap="flat" cmpd="sng" algn="ctr">
                      <a:solidFill>
                        <a:srgbClr val="D1D9E0"/>
                      </a:solidFill>
                      <a:prstDash val="solid"/>
                      <a:round/>
                      <a:headEnd type="none" w="med" len="med"/>
                      <a:tailEnd type="none" w="med" len="med"/>
                    </a:lnL>
                    <a:lnR w="6096" cap="flat" cmpd="sng" algn="ctr">
                      <a:solidFill>
                        <a:srgbClr val="D1D9E0"/>
                      </a:solidFill>
                      <a:prstDash val="solid"/>
                      <a:round/>
                      <a:headEnd type="none" w="med" len="med"/>
                      <a:tailEnd type="none" w="med" len="med"/>
                    </a:lnR>
                    <a:lnT w="6096" cap="flat" cmpd="sng" algn="ctr">
                      <a:solidFill>
                        <a:srgbClr val="D1D9E0"/>
                      </a:solidFill>
                      <a:prstDash val="solid"/>
                      <a:round/>
                      <a:headEnd type="none" w="med" len="med"/>
                      <a:tailEnd type="none" w="med" len="med"/>
                    </a:lnT>
                    <a:lnB w="6096" cap="flat" cmpd="sng" algn="ctr">
                      <a:solidFill>
                        <a:srgbClr val="D1D9E0"/>
                      </a:solidFill>
                      <a:prstDash val="solid"/>
                      <a:round/>
                      <a:headEnd type="none" w="med" len="med"/>
                      <a:tailEnd type="none" w="med" len="med"/>
                    </a:lnB>
                    <a:solidFill>
                      <a:srgbClr val="F6F8FA"/>
                    </a:solidFill>
                  </a:tcPr>
                </a:tc>
                <a:tc>
                  <a:txBody>
                    <a:bodyPr/>
                    <a:lstStyle/>
                    <a:p>
                      <a:pPr algn="ctr"/>
                      <a:r>
                        <a:rPr lang="en-US" sz="1100">
                          <a:effectLst/>
                        </a:rPr>
                        <a:t>Cleaned and transformed dataset ready</a:t>
                      </a:r>
                    </a:p>
                  </a:txBody>
                  <a:tcPr marL="53165" marR="53165" marT="24538" marB="24538" anchor="ctr">
                    <a:lnL w="6096" cap="flat" cmpd="sng" algn="ctr">
                      <a:solidFill>
                        <a:srgbClr val="D1D9E0"/>
                      </a:solidFill>
                      <a:prstDash val="solid"/>
                      <a:round/>
                      <a:headEnd type="none" w="med" len="med"/>
                      <a:tailEnd type="none" w="med" len="med"/>
                    </a:lnL>
                    <a:lnR w="6096" cap="flat" cmpd="sng" algn="ctr">
                      <a:solidFill>
                        <a:srgbClr val="D1D9E0"/>
                      </a:solidFill>
                      <a:prstDash val="solid"/>
                      <a:round/>
                      <a:headEnd type="none" w="med" len="med"/>
                      <a:tailEnd type="none" w="med" len="med"/>
                    </a:lnR>
                    <a:lnT w="6096" cap="flat" cmpd="sng" algn="ctr">
                      <a:solidFill>
                        <a:srgbClr val="D1D9E0"/>
                      </a:solidFill>
                      <a:prstDash val="solid"/>
                      <a:round/>
                      <a:headEnd type="none" w="med" len="med"/>
                      <a:tailEnd type="none" w="med" len="med"/>
                    </a:lnT>
                    <a:lnB w="6096"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2686654711"/>
                  </a:ext>
                </a:extLst>
              </a:tr>
              <a:tr h="1093927">
                <a:tc>
                  <a:txBody>
                    <a:bodyPr/>
                    <a:lstStyle/>
                    <a:p>
                      <a:pPr algn="l"/>
                      <a:r>
                        <a:rPr lang="en-US" sz="1100" b="1" dirty="0">
                          <a:effectLst/>
                        </a:rPr>
                        <a:t>3 – Data Modeling</a:t>
                      </a:r>
                      <a:endParaRPr lang="en-US" sz="1100" dirty="0">
                        <a:effectLst/>
                      </a:endParaRPr>
                    </a:p>
                  </a:txBody>
                  <a:tcPr marL="53165" marR="53165" marT="24538" marB="24538" anchor="ctr">
                    <a:lnL w="6096" cap="flat" cmpd="sng" algn="ctr">
                      <a:solidFill>
                        <a:srgbClr val="D1D9E0"/>
                      </a:solidFill>
                      <a:prstDash val="solid"/>
                      <a:round/>
                      <a:headEnd type="none" w="med" len="med"/>
                      <a:tailEnd type="none" w="med" len="med"/>
                    </a:lnL>
                    <a:lnR w="6096" cap="flat" cmpd="sng" algn="ctr">
                      <a:solidFill>
                        <a:srgbClr val="D1D9E0"/>
                      </a:solidFill>
                      <a:prstDash val="solid"/>
                      <a:round/>
                      <a:headEnd type="none" w="med" len="med"/>
                      <a:tailEnd type="none" w="med" len="med"/>
                    </a:lnR>
                    <a:lnT w="6096" cap="flat" cmpd="sng" algn="ctr">
                      <a:solidFill>
                        <a:srgbClr val="D1D9E0"/>
                      </a:solidFill>
                      <a:prstDash val="solid"/>
                      <a:round/>
                      <a:headEnd type="none" w="med" len="med"/>
                      <a:tailEnd type="none" w="med" len="med"/>
                    </a:lnT>
                    <a:lnB w="6096" cap="flat" cmpd="sng" algn="ctr">
                      <a:solidFill>
                        <a:srgbClr val="D1D9E0"/>
                      </a:solidFill>
                      <a:prstDash val="solid"/>
                      <a:round/>
                      <a:headEnd type="none" w="med" len="med"/>
                      <a:tailEnd type="none" w="med" len="med"/>
                    </a:lnB>
                    <a:solidFill>
                      <a:srgbClr val="FFFFFF"/>
                    </a:solidFill>
                  </a:tcPr>
                </a:tc>
                <a:tc>
                  <a:txBody>
                    <a:bodyPr/>
                    <a:lstStyle/>
                    <a:p>
                      <a:pPr algn="ctr"/>
                      <a:r>
                        <a:rPr lang="en-US" sz="1100" dirty="0">
                          <a:effectLst/>
                        </a:rPr>
                        <a:t>Build relationships between Fact</a:t>
                      </a:r>
                      <a:r>
                        <a:rPr lang="ar-EG" sz="1100" dirty="0">
                          <a:effectLst/>
                        </a:rPr>
                        <a:t> </a:t>
                      </a:r>
                      <a:r>
                        <a:rPr lang="en-US" sz="1100" dirty="0">
                          <a:effectLst/>
                        </a:rPr>
                        <a:t>Downtime, Dim</a:t>
                      </a:r>
                      <a:r>
                        <a:rPr lang="ar-EG" sz="1100" dirty="0">
                          <a:effectLst/>
                        </a:rPr>
                        <a:t> </a:t>
                      </a:r>
                      <a:r>
                        <a:rPr lang="en-US" sz="1100" dirty="0">
                          <a:effectLst/>
                        </a:rPr>
                        <a:t>Machine, Dim</a:t>
                      </a:r>
                      <a:r>
                        <a:rPr lang="ar-EG" sz="1100" dirty="0">
                          <a:effectLst/>
                        </a:rPr>
                        <a:t> </a:t>
                      </a:r>
                      <a:r>
                        <a:rPr lang="en-US" sz="1100" dirty="0">
                          <a:effectLst/>
                        </a:rPr>
                        <a:t>Shift, Dim</a:t>
                      </a:r>
                      <a:r>
                        <a:rPr lang="ar-EG" sz="1100" dirty="0">
                          <a:effectLst/>
                        </a:rPr>
                        <a:t> </a:t>
                      </a:r>
                      <a:r>
                        <a:rPr lang="en-US" sz="1100" dirty="0">
                          <a:effectLst/>
                        </a:rPr>
                        <a:t>Operator, and Dim</a:t>
                      </a:r>
                      <a:r>
                        <a:rPr lang="ar-EG" sz="1100" dirty="0">
                          <a:effectLst/>
                        </a:rPr>
                        <a:t> </a:t>
                      </a:r>
                      <a:r>
                        <a:rPr lang="en-US" sz="1100" dirty="0">
                          <a:effectLst/>
                        </a:rPr>
                        <a:t>Line tables; create calculated columns and DAX measures (e.g., Total Downtime, Avg Downtime, OEE)</a:t>
                      </a:r>
                    </a:p>
                  </a:txBody>
                  <a:tcPr marL="53165" marR="53165" marT="24538" marB="24538" anchor="ctr">
                    <a:lnL w="6096" cap="flat" cmpd="sng" algn="ctr">
                      <a:solidFill>
                        <a:srgbClr val="D1D9E0"/>
                      </a:solidFill>
                      <a:prstDash val="solid"/>
                      <a:round/>
                      <a:headEnd type="none" w="med" len="med"/>
                      <a:tailEnd type="none" w="med" len="med"/>
                    </a:lnL>
                    <a:lnR w="6096" cap="flat" cmpd="sng" algn="ctr">
                      <a:solidFill>
                        <a:srgbClr val="D1D9E0"/>
                      </a:solidFill>
                      <a:prstDash val="solid"/>
                      <a:round/>
                      <a:headEnd type="none" w="med" len="med"/>
                      <a:tailEnd type="none" w="med" len="med"/>
                    </a:lnR>
                    <a:lnT w="6096" cap="flat" cmpd="sng" algn="ctr">
                      <a:solidFill>
                        <a:srgbClr val="D1D9E0"/>
                      </a:solidFill>
                      <a:prstDash val="solid"/>
                      <a:round/>
                      <a:headEnd type="none" w="med" len="med"/>
                      <a:tailEnd type="none" w="med" len="med"/>
                    </a:lnT>
                    <a:lnB w="6096" cap="flat" cmpd="sng" algn="ctr">
                      <a:solidFill>
                        <a:srgbClr val="D1D9E0"/>
                      </a:solidFill>
                      <a:prstDash val="solid"/>
                      <a:round/>
                      <a:headEnd type="none" w="med" len="med"/>
                      <a:tailEnd type="none" w="med" len="med"/>
                    </a:lnB>
                    <a:solidFill>
                      <a:srgbClr val="FFFFFF"/>
                    </a:solidFill>
                  </a:tcPr>
                </a:tc>
                <a:tc>
                  <a:txBody>
                    <a:bodyPr/>
                    <a:lstStyle/>
                    <a:p>
                      <a:pPr algn="ctr"/>
                      <a:r>
                        <a:rPr lang="en-US" sz="1100" dirty="0">
                          <a:effectLst/>
                        </a:rPr>
                        <a:t>Week 3</a:t>
                      </a:r>
                    </a:p>
                  </a:txBody>
                  <a:tcPr marL="53165" marR="53165" marT="24538" marB="24538" anchor="ctr">
                    <a:lnL w="6096" cap="flat" cmpd="sng" algn="ctr">
                      <a:solidFill>
                        <a:srgbClr val="D1D9E0"/>
                      </a:solidFill>
                      <a:prstDash val="solid"/>
                      <a:round/>
                      <a:headEnd type="none" w="med" len="med"/>
                      <a:tailEnd type="none" w="med" len="med"/>
                    </a:lnL>
                    <a:lnR w="6096" cap="flat" cmpd="sng" algn="ctr">
                      <a:solidFill>
                        <a:srgbClr val="D1D9E0"/>
                      </a:solidFill>
                      <a:prstDash val="solid"/>
                      <a:round/>
                      <a:headEnd type="none" w="med" len="med"/>
                      <a:tailEnd type="none" w="med" len="med"/>
                    </a:lnR>
                    <a:lnT w="6096" cap="flat" cmpd="sng" algn="ctr">
                      <a:solidFill>
                        <a:srgbClr val="D1D9E0"/>
                      </a:solidFill>
                      <a:prstDash val="solid"/>
                      <a:round/>
                      <a:headEnd type="none" w="med" len="med"/>
                      <a:tailEnd type="none" w="med" len="med"/>
                    </a:lnT>
                    <a:lnB w="6096" cap="flat" cmpd="sng" algn="ctr">
                      <a:solidFill>
                        <a:srgbClr val="D1D9E0"/>
                      </a:solidFill>
                      <a:prstDash val="solid"/>
                      <a:round/>
                      <a:headEnd type="none" w="med" len="med"/>
                      <a:tailEnd type="none" w="med" len="med"/>
                    </a:lnB>
                    <a:solidFill>
                      <a:srgbClr val="FFFFFF"/>
                    </a:solidFill>
                  </a:tcPr>
                </a:tc>
                <a:tc>
                  <a:txBody>
                    <a:bodyPr/>
                    <a:lstStyle/>
                    <a:p>
                      <a:pPr algn="ctr"/>
                      <a:r>
                        <a:rPr lang="en-US" sz="1100">
                          <a:effectLst/>
                        </a:rPr>
                        <a:t>Data model and key metrics established</a:t>
                      </a:r>
                    </a:p>
                  </a:txBody>
                  <a:tcPr marL="53165" marR="53165" marT="24538" marB="24538" anchor="ctr">
                    <a:lnL w="6096" cap="flat" cmpd="sng" algn="ctr">
                      <a:solidFill>
                        <a:srgbClr val="D1D9E0"/>
                      </a:solidFill>
                      <a:prstDash val="solid"/>
                      <a:round/>
                      <a:headEnd type="none" w="med" len="med"/>
                      <a:tailEnd type="none" w="med" len="med"/>
                    </a:lnL>
                    <a:lnR w="6096" cap="flat" cmpd="sng" algn="ctr">
                      <a:solidFill>
                        <a:srgbClr val="D1D9E0"/>
                      </a:solidFill>
                      <a:prstDash val="solid"/>
                      <a:round/>
                      <a:headEnd type="none" w="med" len="med"/>
                      <a:tailEnd type="none" w="med" len="med"/>
                    </a:lnR>
                    <a:lnT w="6096" cap="flat" cmpd="sng" algn="ctr">
                      <a:solidFill>
                        <a:srgbClr val="D1D9E0"/>
                      </a:solidFill>
                      <a:prstDash val="solid"/>
                      <a:round/>
                      <a:headEnd type="none" w="med" len="med"/>
                      <a:tailEnd type="none" w="med" len="med"/>
                    </a:lnT>
                    <a:lnB w="6096"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3640229907"/>
                  </a:ext>
                </a:extLst>
              </a:tr>
              <a:tr h="574776">
                <a:tc>
                  <a:txBody>
                    <a:bodyPr/>
                    <a:lstStyle/>
                    <a:p>
                      <a:pPr algn="l"/>
                      <a:r>
                        <a:rPr lang="en-US" sz="1100" b="1">
                          <a:effectLst/>
                        </a:rPr>
                        <a:t>4 – Dashboard Development</a:t>
                      </a:r>
                      <a:endParaRPr lang="en-US" sz="1100">
                        <a:effectLst/>
                      </a:endParaRPr>
                    </a:p>
                  </a:txBody>
                  <a:tcPr marL="53165" marR="53165" marT="24538" marB="24538" anchor="ctr">
                    <a:lnL w="6096" cap="flat" cmpd="sng" algn="ctr">
                      <a:solidFill>
                        <a:srgbClr val="D1D9E0"/>
                      </a:solidFill>
                      <a:prstDash val="solid"/>
                      <a:round/>
                      <a:headEnd type="none" w="med" len="med"/>
                      <a:tailEnd type="none" w="med" len="med"/>
                    </a:lnL>
                    <a:lnR w="6096" cap="flat" cmpd="sng" algn="ctr">
                      <a:solidFill>
                        <a:srgbClr val="D1D9E0"/>
                      </a:solidFill>
                      <a:prstDash val="solid"/>
                      <a:round/>
                      <a:headEnd type="none" w="med" len="med"/>
                      <a:tailEnd type="none" w="med" len="med"/>
                    </a:lnR>
                    <a:lnT w="6096" cap="flat" cmpd="sng" algn="ctr">
                      <a:solidFill>
                        <a:srgbClr val="D1D9E0"/>
                      </a:solidFill>
                      <a:prstDash val="solid"/>
                      <a:round/>
                      <a:headEnd type="none" w="med" len="med"/>
                      <a:tailEnd type="none" w="med" len="med"/>
                    </a:lnT>
                    <a:lnB w="6096" cap="flat" cmpd="sng" algn="ctr">
                      <a:solidFill>
                        <a:srgbClr val="D1D9E0"/>
                      </a:solidFill>
                      <a:prstDash val="solid"/>
                      <a:round/>
                      <a:headEnd type="none" w="med" len="med"/>
                      <a:tailEnd type="none" w="med" len="med"/>
                    </a:lnB>
                    <a:solidFill>
                      <a:srgbClr val="F6F8FA"/>
                    </a:solidFill>
                  </a:tcPr>
                </a:tc>
                <a:tc>
                  <a:txBody>
                    <a:bodyPr/>
                    <a:lstStyle/>
                    <a:p>
                      <a:pPr algn="ctr"/>
                      <a:r>
                        <a:rPr lang="en-US" sz="1100">
                          <a:effectLst/>
                        </a:rPr>
                        <a:t>Design Power BI dashboards showing downtime by machine, line, shift, reason, and operator; integrate KPIs</a:t>
                      </a:r>
                    </a:p>
                  </a:txBody>
                  <a:tcPr marL="53165" marR="53165" marT="24538" marB="24538" anchor="ctr">
                    <a:lnL w="6096" cap="flat" cmpd="sng" algn="ctr">
                      <a:solidFill>
                        <a:srgbClr val="D1D9E0"/>
                      </a:solidFill>
                      <a:prstDash val="solid"/>
                      <a:round/>
                      <a:headEnd type="none" w="med" len="med"/>
                      <a:tailEnd type="none" w="med" len="med"/>
                    </a:lnL>
                    <a:lnR w="6096" cap="flat" cmpd="sng" algn="ctr">
                      <a:solidFill>
                        <a:srgbClr val="D1D9E0"/>
                      </a:solidFill>
                      <a:prstDash val="solid"/>
                      <a:round/>
                      <a:headEnd type="none" w="med" len="med"/>
                      <a:tailEnd type="none" w="med" len="med"/>
                    </a:lnR>
                    <a:lnT w="6096" cap="flat" cmpd="sng" algn="ctr">
                      <a:solidFill>
                        <a:srgbClr val="D1D9E0"/>
                      </a:solidFill>
                      <a:prstDash val="solid"/>
                      <a:round/>
                      <a:headEnd type="none" w="med" len="med"/>
                      <a:tailEnd type="none" w="med" len="med"/>
                    </a:lnT>
                    <a:lnB w="6096" cap="flat" cmpd="sng" algn="ctr">
                      <a:solidFill>
                        <a:srgbClr val="D1D9E0"/>
                      </a:solidFill>
                      <a:prstDash val="solid"/>
                      <a:round/>
                      <a:headEnd type="none" w="med" len="med"/>
                      <a:tailEnd type="none" w="med" len="med"/>
                    </a:lnB>
                    <a:solidFill>
                      <a:srgbClr val="F6F8FA"/>
                    </a:solidFill>
                  </a:tcPr>
                </a:tc>
                <a:tc>
                  <a:txBody>
                    <a:bodyPr/>
                    <a:lstStyle/>
                    <a:p>
                      <a:pPr algn="ctr"/>
                      <a:r>
                        <a:rPr lang="en-US" sz="1100" dirty="0">
                          <a:effectLst/>
                        </a:rPr>
                        <a:t>Week 4</a:t>
                      </a:r>
                    </a:p>
                  </a:txBody>
                  <a:tcPr marL="53165" marR="53165" marT="24538" marB="24538" anchor="ctr">
                    <a:lnL w="6096" cap="flat" cmpd="sng" algn="ctr">
                      <a:solidFill>
                        <a:srgbClr val="D1D9E0"/>
                      </a:solidFill>
                      <a:prstDash val="solid"/>
                      <a:round/>
                      <a:headEnd type="none" w="med" len="med"/>
                      <a:tailEnd type="none" w="med" len="med"/>
                    </a:lnL>
                    <a:lnR w="6096" cap="flat" cmpd="sng" algn="ctr">
                      <a:solidFill>
                        <a:srgbClr val="D1D9E0"/>
                      </a:solidFill>
                      <a:prstDash val="solid"/>
                      <a:round/>
                      <a:headEnd type="none" w="med" len="med"/>
                      <a:tailEnd type="none" w="med" len="med"/>
                    </a:lnR>
                    <a:lnT w="6096" cap="flat" cmpd="sng" algn="ctr">
                      <a:solidFill>
                        <a:srgbClr val="D1D9E0"/>
                      </a:solidFill>
                      <a:prstDash val="solid"/>
                      <a:round/>
                      <a:headEnd type="none" w="med" len="med"/>
                      <a:tailEnd type="none" w="med" len="med"/>
                    </a:lnT>
                    <a:lnB w="6096" cap="flat" cmpd="sng" algn="ctr">
                      <a:solidFill>
                        <a:srgbClr val="D1D9E0"/>
                      </a:solidFill>
                      <a:prstDash val="solid"/>
                      <a:round/>
                      <a:headEnd type="none" w="med" len="med"/>
                      <a:tailEnd type="none" w="med" len="med"/>
                    </a:lnB>
                    <a:solidFill>
                      <a:srgbClr val="F6F8FA"/>
                    </a:solidFill>
                  </a:tcPr>
                </a:tc>
                <a:tc>
                  <a:txBody>
                    <a:bodyPr/>
                    <a:lstStyle/>
                    <a:p>
                      <a:pPr algn="ctr"/>
                      <a:r>
                        <a:rPr lang="en-US" sz="1100" dirty="0">
                          <a:effectLst/>
                        </a:rPr>
                        <a:t>First version of Power BI dashboard ready</a:t>
                      </a:r>
                    </a:p>
                  </a:txBody>
                  <a:tcPr marL="53165" marR="53165" marT="24538" marB="24538" anchor="ctr">
                    <a:lnL w="6096" cap="flat" cmpd="sng" algn="ctr">
                      <a:solidFill>
                        <a:srgbClr val="D1D9E0"/>
                      </a:solidFill>
                      <a:prstDash val="solid"/>
                      <a:round/>
                      <a:headEnd type="none" w="med" len="med"/>
                      <a:tailEnd type="none" w="med" len="med"/>
                    </a:lnL>
                    <a:lnR w="6096" cap="flat" cmpd="sng" algn="ctr">
                      <a:solidFill>
                        <a:srgbClr val="D1D9E0"/>
                      </a:solidFill>
                      <a:prstDash val="solid"/>
                      <a:round/>
                      <a:headEnd type="none" w="med" len="med"/>
                      <a:tailEnd type="none" w="med" len="med"/>
                    </a:lnR>
                    <a:lnT w="6096" cap="flat" cmpd="sng" algn="ctr">
                      <a:solidFill>
                        <a:srgbClr val="D1D9E0"/>
                      </a:solidFill>
                      <a:prstDash val="solid"/>
                      <a:round/>
                      <a:headEnd type="none" w="med" len="med"/>
                      <a:tailEnd type="none" w="med" len="med"/>
                    </a:lnT>
                    <a:lnB w="6096"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3514910339"/>
                  </a:ext>
                </a:extLst>
              </a:tr>
              <a:tr h="834351">
                <a:tc>
                  <a:txBody>
                    <a:bodyPr/>
                    <a:lstStyle/>
                    <a:p>
                      <a:pPr algn="l"/>
                      <a:r>
                        <a:rPr lang="en-US" sz="1100" b="1">
                          <a:effectLst/>
                        </a:rPr>
                        <a:t>5 – Review &amp; Refinement</a:t>
                      </a:r>
                      <a:endParaRPr lang="en-US" sz="1100">
                        <a:effectLst/>
                      </a:endParaRPr>
                    </a:p>
                  </a:txBody>
                  <a:tcPr marL="53165" marR="53165" marT="24538" marB="24538" anchor="ctr">
                    <a:lnL w="6096" cap="flat" cmpd="sng" algn="ctr">
                      <a:solidFill>
                        <a:srgbClr val="D1D9E0"/>
                      </a:solidFill>
                      <a:prstDash val="solid"/>
                      <a:round/>
                      <a:headEnd type="none" w="med" len="med"/>
                      <a:tailEnd type="none" w="med" len="med"/>
                    </a:lnL>
                    <a:lnR w="6096" cap="flat" cmpd="sng" algn="ctr">
                      <a:solidFill>
                        <a:srgbClr val="D1D9E0"/>
                      </a:solidFill>
                      <a:prstDash val="solid"/>
                      <a:round/>
                      <a:headEnd type="none" w="med" len="med"/>
                      <a:tailEnd type="none" w="med" len="med"/>
                    </a:lnR>
                    <a:lnT w="6096" cap="flat" cmpd="sng" algn="ctr">
                      <a:solidFill>
                        <a:srgbClr val="D1D9E0"/>
                      </a:solidFill>
                      <a:prstDash val="solid"/>
                      <a:round/>
                      <a:headEnd type="none" w="med" len="med"/>
                      <a:tailEnd type="none" w="med" len="med"/>
                    </a:lnT>
                    <a:lnB w="6096" cap="flat" cmpd="sng" algn="ctr">
                      <a:solidFill>
                        <a:srgbClr val="D1D9E0"/>
                      </a:solidFill>
                      <a:prstDash val="solid"/>
                      <a:round/>
                      <a:headEnd type="none" w="med" len="med"/>
                      <a:tailEnd type="none" w="med" len="med"/>
                    </a:lnB>
                    <a:solidFill>
                      <a:srgbClr val="FFFFFF"/>
                    </a:solidFill>
                  </a:tcPr>
                </a:tc>
                <a:tc>
                  <a:txBody>
                    <a:bodyPr/>
                    <a:lstStyle/>
                    <a:p>
                      <a:pPr algn="ctr"/>
                      <a:r>
                        <a:rPr lang="en-US" sz="1100" dirty="0">
                          <a:effectLst/>
                        </a:rPr>
                        <a:t>Validate data accuracy, enhance visuals, optimize DAX measures, apply consistent color themes, and add interactivity (filters, drill-throughs)</a:t>
                      </a:r>
                    </a:p>
                  </a:txBody>
                  <a:tcPr marL="53165" marR="53165" marT="24538" marB="24538" anchor="ctr">
                    <a:lnL w="6096" cap="flat" cmpd="sng" algn="ctr">
                      <a:solidFill>
                        <a:srgbClr val="D1D9E0"/>
                      </a:solidFill>
                      <a:prstDash val="solid"/>
                      <a:round/>
                      <a:headEnd type="none" w="med" len="med"/>
                      <a:tailEnd type="none" w="med" len="med"/>
                    </a:lnL>
                    <a:lnR w="6096" cap="flat" cmpd="sng" algn="ctr">
                      <a:solidFill>
                        <a:srgbClr val="D1D9E0"/>
                      </a:solidFill>
                      <a:prstDash val="solid"/>
                      <a:round/>
                      <a:headEnd type="none" w="med" len="med"/>
                      <a:tailEnd type="none" w="med" len="med"/>
                    </a:lnR>
                    <a:lnT w="6096" cap="flat" cmpd="sng" algn="ctr">
                      <a:solidFill>
                        <a:srgbClr val="D1D9E0"/>
                      </a:solidFill>
                      <a:prstDash val="solid"/>
                      <a:round/>
                      <a:headEnd type="none" w="med" len="med"/>
                      <a:tailEnd type="none" w="med" len="med"/>
                    </a:lnT>
                    <a:lnB w="6096" cap="flat" cmpd="sng" algn="ctr">
                      <a:solidFill>
                        <a:srgbClr val="D1D9E0"/>
                      </a:solidFill>
                      <a:prstDash val="solid"/>
                      <a:round/>
                      <a:headEnd type="none" w="med" len="med"/>
                      <a:tailEnd type="none" w="med" len="med"/>
                    </a:lnB>
                    <a:solidFill>
                      <a:srgbClr val="FFFFFF"/>
                    </a:solidFill>
                  </a:tcPr>
                </a:tc>
                <a:tc>
                  <a:txBody>
                    <a:bodyPr/>
                    <a:lstStyle/>
                    <a:p>
                      <a:pPr algn="ctr"/>
                      <a:r>
                        <a:rPr lang="en-US" sz="1100">
                          <a:effectLst/>
                        </a:rPr>
                        <a:t>Week 5</a:t>
                      </a:r>
                    </a:p>
                  </a:txBody>
                  <a:tcPr marL="53165" marR="53165" marT="24538" marB="24538" anchor="ctr">
                    <a:lnL w="6096" cap="flat" cmpd="sng" algn="ctr">
                      <a:solidFill>
                        <a:srgbClr val="D1D9E0"/>
                      </a:solidFill>
                      <a:prstDash val="solid"/>
                      <a:round/>
                      <a:headEnd type="none" w="med" len="med"/>
                      <a:tailEnd type="none" w="med" len="med"/>
                    </a:lnL>
                    <a:lnR w="6096" cap="flat" cmpd="sng" algn="ctr">
                      <a:solidFill>
                        <a:srgbClr val="D1D9E0"/>
                      </a:solidFill>
                      <a:prstDash val="solid"/>
                      <a:round/>
                      <a:headEnd type="none" w="med" len="med"/>
                      <a:tailEnd type="none" w="med" len="med"/>
                    </a:lnR>
                    <a:lnT w="6096" cap="flat" cmpd="sng" algn="ctr">
                      <a:solidFill>
                        <a:srgbClr val="D1D9E0"/>
                      </a:solidFill>
                      <a:prstDash val="solid"/>
                      <a:round/>
                      <a:headEnd type="none" w="med" len="med"/>
                      <a:tailEnd type="none" w="med" len="med"/>
                    </a:lnT>
                    <a:lnB w="6096" cap="flat" cmpd="sng" algn="ctr">
                      <a:solidFill>
                        <a:srgbClr val="D1D9E0"/>
                      </a:solidFill>
                      <a:prstDash val="solid"/>
                      <a:round/>
                      <a:headEnd type="none" w="med" len="med"/>
                      <a:tailEnd type="none" w="med" len="med"/>
                    </a:lnB>
                    <a:solidFill>
                      <a:srgbClr val="FFFFFF"/>
                    </a:solidFill>
                  </a:tcPr>
                </a:tc>
                <a:tc>
                  <a:txBody>
                    <a:bodyPr/>
                    <a:lstStyle/>
                    <a:p>
                      <a:pPr algn="ctr"/>
                      <a:r>
                        <a:rPr lang="en-US" sz="1100" dirty="0">
                          <a:effectLst/>
                        </a:rPr>
                        <a:t>Final, polished dashboard completed</a:t>
                      </a:r>
                    </a:p>
                  </a:txBody>
                  <a:tcPr marL="53165" marR="53165" marT="24538" marB="24538" anchor="ctr">
                    <a:lnL w="6096" cap="flat" cmpd="sng" algn="ctr">
                      <a:solidFill>
                        <a:srgbClr val="D1D9E0"/>
                      </a:solidFill>
                      <a:prstDash val="solid"/>
                      <a:round/>
                      <a:headEnd type="none" w="med" len="med"/>
                      <a:tailEnd type="none" w="med" len="med"/>
                    </a:lnL>
                    <a:lnR w="6096" cap="flat" cmpd="sng" algn="ctr">
                      <a:solidFill>
                        <a:srgbClr val="D1D9E0"/>
                      </a:solidFill>
                      <a:prstDash val="solid"/>
                      <a:round/>
                      <a:headEnd type="none" w="med" len="med"/>
                      <a:tailEnd type="none" w="med" len="med"/>
                    </a:lnR>
                    <a:lnT w="6096" cap="flat" cmpd="sng" algn="ctr">
                      <a:solidFill>
                        <a:srgbClr val="D1D9E0"/>
                      </a:solidFill>
                      <a:prstDash val="solid"/>
                      <a:round/>
                      <a:headEnd type="none" w="med" len="med"/>
                      <a:tailEnd type="none" w="med" len="med"/>
                    </a:lnT>
                    <a:lnB w="6096"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744266193"/>
                  </a:ext>
                </a:extLst>
              </a:tr>
              <a:tr h="915231">
                <a:tc>
                  <a:txBody>
                    <a:bodyPr/>
                    <a:lstStyle/>
                    <a:p>
                      <a:pPr algn="l"/>
                      <a:r>
                        <a:rPr lang="en-US" sz="1100" b="1" dirty="0">
                          <a:effectLst/>
                        </a:rPr>
                        <a:t>6 – Presentation &amp; Documentation</a:t>
                      </a:r>
                      <a:endParaRPr lang="en-US" sz="1100" dirty="0">
                        <a:effectLst/>
                      </a:endParaRPr>
                    </a:p>
                  </a:txBody>
                  <a:tcPr marL="53165" marR="53165" marT="24538" marB="24538" anchor="ctr">
                    <a:lnL w="6096" cap="flat" cmpd="sng" algn="ctr">
                      <a:solidFill>
                        <a:srgbClr val="D1D9E0"/>
                      </a:solidFill>
                      <a:prstDash val="solid"/>
                      <a:round/>
                      <a:headEnd type="none" w="med" len="med"/>
                      <a:tailEnd type="none" w="med" len="med"/>
                    </a:lnL>
                    <a:lnR w="6096" cap="flat" cmpd="sng" algn="ctr">
                      <a:solidFill>
                        <a:srgbClr val="D1D9E0"/>
                      </a:solidFill>
                      <a:prstDash val="solid"/>
                      <a:round/>
                      <a:headEnd type="none" w="med" len="med"/>
                      <a:tailEnd type="none" w="med" len="med"/>
                    </a:lnR>
                    <a:lnT w="6096" cap="flat" cmpd="sng" algn="ctr">
                      <a:solidFill>
                        <a:srgbClr val="D1D9E0"/>
                      </a:solidFill>
                      <a:prstDash val="solid"/>
                      <a:round/>
                      <a:headEnd type="none" w="med" len="med"/>
                      <a:tailEnd type="none" w="med" len="med"/>
                    </a:lnT>
                    <a:lnB w="6096" cap="flat" cmpd="sng" algn="ctr">
                      <a:solidFill>
                        <a:srgbClr val="D1D9E0"/>
                      </a:solidFill>
                      <a:prstDash val="solid"/>
                      <a:round/>
                      <a:headEnd type="none" w="med" len="med"/>
                      <a:tailEnd type="none" w="med" len="med"/>
                    </a:lnB>
                    <a:solidFill>
                      <a:srgbClr val="F6F8FA"/>
                    </a:solidFill>
                  </a:tcPr>
                </a:tc>
                <a:tc>
                  <a:txBody>
                    <a:bodyPr/>
                    <a:lstStyle/>
                    <a:p>
                      <a:pPr algn="ctr"/>
                      <a:r>
                        <a:rPr lang="en-US" sz="1100" dirty="0">
                          <a:effectLst/>
                        </a:rPr>
                        <a:t>Create project documentation (methodology, insights, recommendations), prepare presentation slides, and present findings to stakeholders</a:t>
                      </a:r>
                    </a:p>
                  </a:txBody>
                  <a:tcPr marL="53165" marR="53165" marT="24538" marB="24538" anchor="ctr">
                    <a:lnL w="6096" cap="flat" cmpd="sng" algn="ctr">
                      <a:solidFill>
                        <a:srgbClr val="D1D9E0"/>
                      </a:solidFill>
                      <a:prstDash val="solid"/>
                      <a:round/>
                      <a:headEnd type="none" w="med" len="med"/>
                      <a:tailEnd type="none" w="med" len="med"/>
                    </a:lnL>
                    <a:lnR w="6096" cap="flat" cmpd="sng" algn="ctr">
                      <a:solidFill>
                        <a:srgbClr val="D1D9E0"/>
                      </a:solidFill>
                      <a:prstDash val="solid"/>
                      <a:round/>
                      <a:headEnd type="none" w="med" len="med"/>
                      <a:tailEnd type="none" w="med" len="med"/>
                    </a:lnR>
                    <a:lnT w="6096" cap="flat" cmpd="sng" algn="ctr">
                      <a:solidFill>
                        <a:srgbClr val="D1D9E0"/>
                      </a:solidFill>
                      <a:prstDash val="solid"/>
                      <a:round/>
                      <a:headEnd type="none" w="med" len="med"/>
                      <a:tailEnd type="none" w="med" len="med"/>
                    </a:lnT>
                    <a:lnB w="6096" cap="flat" cmpd="sng" algn="ctr">
                      <a:solidFill>
                        <a:srgbClr val="D1D9E0"/>
                      </a:solidFill>
                      <a:prstDash val="solid"/>
                      <a:round/>
                      <a:headEnd type="none" w="med" len="med"/>
                      <a:tailEnd type="none" w="med" len="med"/>
                    </a:lnB>
                    <a:solidFill>
                      <a:srgbClr val="F6F8FA"/>
                    </a:solidFill>
                  </a:tcPr>
                </a:tc>
                <a:tc>
                  <a:txBody>
                    <a:bodyPr/>
                    <a:lstStyle/>
                    <a:p>
                      <a:pPr algn="ctr"/>
                      <a:r>
                        <a:rPr lang="en-US" sz="1100">
                          <a:effectLst/>
                        </a:rPr>
                        <a:t>Week 6</a:t>
                      </a:r>
                    </a:p>
                  </a:txBody>
                  <a:tcPr marL="53165" marR="53165" marT="24538" marB="24538" anchor="ctr">
                    <a:lnL w="6096" cap="flat" cmpd="sng" algn="ctr">
                      <a:solidFill>
                        <a:srgbClr val="D1D9E0"/>
                      </a:solidFill>
                      <a:prstDash val="solid"/>
                      <a:round/>
                      <a:headEnd type="none" w="med" len="med"/>
                      <a:tailEnd type="none" w="med" len="med"/>
                    </a:lnL>
                    <a:lnR w="6096" cap="flat" cmpd="sng" algn="ctr">
                      <a:solidFill>
                        <a:srgbClr val="D1D9E0"/>
                      </a:solidFill>
                      <a:prstDash val="solid"/>
                      <a:round/>
                      <a:headEnd type="none" w="med" len="med"/>
                      <a:tailEnd type="none" w="med" len="med"/>
                    </a:lnR>
                    <a:lnT w="6096" cap="flat" cmpd="sng" algn="ctr">
                      <a:solidFill>
                        <a:srgbClr val="D1D9E0"/>
                      </a:solidFill>
                      <a:prstDash val="solid"/>
                      <a:round/>
                      <a:headEnd type="none" w="med" len="med"/>
                      <a:tailEnd type="none" w="med" len="med"/>
                    </a:lnT>
                    <a:lnB w="6096" cap="flat" cmpd="sng" algn="ctr">
                      <a:solidFill>
                        <a:srgbClr val="D1D9E0"/>
                      </a:solidFill>
                      <a:prstDash val="solid"/>
                      <a:round/>
                      <a:headEnd type="none" w="med" len="med"/>
                      <a:tailEnd type="none" w="med" len="med"/>
                    </a:lnB>
                    <a:solidFill>
                      <a:srgbClr val="F6F8FA"/>
                    </a:solidFill>
                  </a:tcPr>
                </a:tc>
                <a:tc>
                  <a:txBody>
                    <a:bodyPr/>
                    <a:lstStyle/>
                    <a:p>
                      <a:pPr algn="ctr"/>
                      <a:r>
                        <a:rPr lang="en-US" sz="1100" dirty="0">
                          <a:effectLst/>
                        </a:rPr>
                        <a:t>Project completed and presented</a:t>
                      </a:r>
                    </a:p>
                  </a:txBody>
                  <a:tcPr marL="53165" marR="53165" marT="24538" marB="24538" anchor="ctr">
                    <a:lnL w="6096" cap="flat" cmpd="sng" algn="ctr">
                      <a:solidFill>
                        <a:srgbClr val="D1D9E0"/>
                      </a:solidFill>
                      <a:prstDash val="solid"/>
                      <a:round/>
                      <a:headEnd type="none" w="med" len="med"/>
                      <a:tailEnd type="none" w="med" len="med"/>
                    </a:lnL>
                    <a:lnR w="6096" cap="flat" cmpd="sng" algn="ctr">
                      <a:solidFill>
                        <a:srgbClr val="D1D9E0"/>
                      </a:solidFill>
                      <a:prstDash val="solid"/>
                      <a:round/>
                      <a:headEnd type="none" w="med" len="med"/>
                      <a:tailEnd type="none" w="med" len="med"/>
                    </a:lnR>
                    <a:lnT w="6096" cap="flat" cmpd="sng" algn="ctr">
                      <a:solidFill>
                        <a:srgbClr val="D1D9E0"/>
                      </a:solidFill>
                      <a:prstDash val="solid"/>
                      <a:round/>
                      <a:headEnd type="none" w="med" len="med"/>
                      <a:tailEnd type="none" w="med" len="med"/>
                    </a:lnT>
                    <a:lnB w="6096"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3952224088"/>
                  </a:ext>
                </a:extLst>
              </a:tr>
            </a:tbl>
          </a:graphicData>
        </a:graphic>
      </p:graphicFrame>
    </p:spTree>
    <p:extLst>
      <p:ext uri="{BB962C8B-B14F-4D97-AF65-F5344CB8AC3E}">
        <p14:creationId xmlns:p14="http://schemas.microsoft.com/office/powerpoint/2010/main" val="282313513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8">
          <a:extLst>
            <a:ext uri="{FF2B5EF4-FFF2-40B4-BE49-F238E27FC236}">
              <a16:creationId xmlns:a16="http://schemas.microsoft.com/office/drawing/2014/main" id="{4A4B9926-9C16-E7C9-308C-8FC8BBD3328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BADF4508-8D5C-4F70-B542-419646926C05}"/>
              </a:ext>
            </a:extLst>
          </p:cNvPr>
          <p:cNvSpPr>
            <a:spLocks noGrp="1"/>
          </p:cNvSpPr>
          <p:nvPr>
            <p:ph type="title"/>
          </p:nvPr>
        </p:nvSpPr>
        <p:spPr>
          <a:xfrm>
            <a:off x="3936741" y="961810"/>
            <a:ext cx="9347718" cy="429598"/>
          </a:xfrm>
        </p:spPr>
        <p:txBody>
          <a:bodyPr>
            <a:normAutofit fontScale="90000"/>
          </a:bodyPr>
          <a:lstStyle/>
          <a:p>
            <a:r>
              <a:rPr lang="en-US" sz="2700" b="1" dirty="0">
                <a:solidFill>
                  <a:schemeClr val="accent6">
                    <a:lumMod val="50000"/>
                  </a:schemeClr>
                </a:solidFill>
              </a:rPr>
              <a:t>Database Design</a:t>
            </a:r>
            <a:br>
              <a:rPr lang="en-US" sz="4400" b="1" dirty="0">
                <a:solidFill>
                  <a:schemeClr val="accent6">
                    <a:lumMod val="50000"/>
                  </a:schemeClr>
                </a:solidFill>
              </a:rPr>
            </a:br>
            <a:endParaRPr lang="en-US" dirty="0"/>
          </a:p>
        </p:txBody>
      </p:sp>
      <p:sp>
        <p:nvSpPr>
          <p:cNvPr id="9" name="Text Placeholder 8">
            <a:extLst>
              <a:ext uri="{FF2B5EF4-FFF2-40B4-BE49-F238E27FC236}">
                <a16:creationId xmlns:a16="http://schemas.microsoft.com/office/drawing/2014/main" id="{625D53B4-069C-4258-8A26-B4DBA3748ED6}"/>
              </a:ext>
            </a:extLst>
          </p:cNvPr>
          <p:cNvSpPr>
            <a:spLocks noGrp="1"/>
          </p:cNvSpPr>
          <p:nvPr>
            <p:ph type="body" idx="1"/>
          </p:nvPr>
        </p:nvSpPr>
        <p:spPr>
          <a:xfrm>
            <a:off x="838200" y="1391408"/>
            <a:ext cx="5181600" cy="4876227"/>
          </a:xfrm>
        </p:spPr>
        <p:txBody>
          <a:bodyPr>
            <a:noAutofit/>
          </a:bodyPr>
          <a:lstStyle/>
          <a:p>
            <a:r>
              <a:rPr lang="en-US" sz="1400" b="1" dirty="0">
                <a:latin typeface="+mn-lt"/>
              </a:rPr>
              <a:t>Fact Table: Fact</a:t>
            </a:r>
            <a:r>
              <a:rPr lang="ar-EG" sz="1400" b="1" dirty="0">
                <a:latin typeface="+mn-lt"/>
              </a:rPr>
              <a:t> </a:t>
            </a:r>
            <a:r>
              <a:rPr lang="en-US" sz="1400" b="1" dirty="0">
                <a:latin typeface="+mn-lt"/>
              </a:rPr>
              <a:t>Line</a:t>
            </a:r>
            <a:r>
              <a:rPr lang="ar-EG" sz="1400" b="1" dirty="0">
                <a:latin typeface="+mn-lt"/>
              </a:rPr>
              <a:t> </a:t>
            </a:r>
            <a:r>
              <a:rPr lang="en-US" sz="1400" b="1" dirty="0">
                <a:latin typeface="+mn-lt"/>
              </a:rPr>
              <a:t>Downtime</a:t>
            </a:r>
          </a:p>
          <a:p>
            <a:r>
              <a:rPr lang="en-US" sz="1400" b="1" dirty="0">
                <a:latin typeface="+mn-lt"/>
              </a:rPr>
              <a:t>(includes downtime duration, units lost, factor keys, etc.)</a:t>
            </a:r>
          </a:p>
          <a:p>
            <a:r>
              <a:rPr lang="en-US" sz="1400" b="1" dirty="0">
                <a:latin typeface="+mn-lt"/>
              </a:rPr>
              <a:t>Dimension Tables:</a:t>
            </a:r>
          </a:p>
          <a:p>
            <a:endParaRPr lang="en-US" sz="1400" b="1" dirty="0">
              <a:latin typeface="+mn-lt"/>
            </a:endParaRPr>
          </a:p>
          <a:p>
            <a:r>
              <a:rPr lang="en-US" sz="1400" b="1" dirty="0">
                <a:latin typeface="+mn-lt"/>
              </a:rPr>
              <a:t>Dim</a:t>
            </a:r>
            <a:r>
              <a:rPr lang="ar-EG" sz="1400" b="1" dirty="0">
                <a:latin typeface="+mn-lt"/>
              </a:rPr>
              <a:t> </a:t>
            </a:r>
            <a:r>
              <a:rPr lang="en-US" sz="1400" b="1" dirty="0">
                <a:latin typeface="+mn-lt"/>
              </a:rPr>
              <a:t>Line — Line details</a:t>
            </a:r>
          </a:p>
          <a:p>
            <a:r>
              <a:rPr lang="en-US" sz="1400" b="1" dirty="0">
                <a:latin typeface="+mn-lt"/>
              </a:rPr>
              <a:t>Dim</a:t>
            </a:r>
            <a:r>
              <a:rPr lang="ar-EG" sz="1400" b="1" dirty="0">
                <a:latin typeface="+mn-lt"/>
              </a:rPr>
              <a:t> </a:t>
            </a:r>
            <a:r>
              <a:rPr lang="en-US" sz="1400" b="1" dirty="0">
                <a:latin typeface="+mn-lt"/>
              </a:rPr>
              <a:t>Product — Product information</a:t>
            </a:r>
          </a:p>
          <a:p>
            <a:r>
              <a:rPr lang="en-US" sz="1400" b="1" dirty="0">
                <a:latin typeface="+mn-lt"/>
              </a:rPr>
              <a:t>Dim</a:t>
            </a:r>
            <a:r>
              <a:rPr lang="ar-EG" sz="1400" b="1" dirty="0">
                <a:latin typeface="+mn-lt"/>
              </a:rPr>
              <a:t> </a:t>
            </a:r>
            <a:r>
              <a:rPr lang="en-US" sz="1400" b="1" dirty="0">
                <a:latin typeface="+mn-lt"/>
              </a:rPr>
              <a:t>Operator — Operator details</a:t>
            </a:r>
          </a:p>
          <a:p>
            <a:r>
              <a:rPr lang="en-US" sz="1400" b="1" dirty="0">
                <a:latin typeface="+mn-lt"/>
              </a:rPr>
              <a:t>Dim</a:t>
            </a:r>
            <a:r>
              <a:rPr lang="ar-EG" sz="1400" b="1" dirty="0">
                <a:latin typeface="+mn-lt"/>
              </a:rPr>
              <a:t> </a:t>
            </a:r>
            <a:r>
              <a:rPr lang="en-US" sz="1400" b="1" dirty="0">
                <a:latin typeface="+mn-lt"/>
              </a:rPr>
              <a:t>Date — Date/time attributes</a:t>
            </a:r>
          </a:p>
          <a:p>
            <a:r>
              <a:rPr lang="en-US" sz="1400" b="1" dirty="0">
                <a:latin typeface="+mn-lt"/>
              </a:rPr>
              <a:t>Dim</a:t>
            </a:r>
            <a:r>
              <a:rPr lang="ar-EG" sz="1400" b="1" dirty="0">
                <a:latin typeface="+mn-lt"/>
              </a:rPr>
              <a:t> </a:t>
            </a:r>
            <a:r>
              <a:rPr lang="en-US" sz="1400" b="1" dirty="0">
                <a:latin typeface="+mn-lt"/>
              </a:rPr>
              <a:t>Downtime</a:t>
            </a:r>
            <a:r>
              <a:rPr lang="ar-EG" sz="1400" b="1" dirty="0">
                <a:latin typeface="+mn-lt"/>
              </a:rPr>
              <a:t> </a:t>
            </a:r>
            <a:r>
              <a:rPr lang="en-US" sz="1400" b="1" dirty="0">
                <a:latin typeface="+mn-lt"/>
              </a:rPr>
              <a:t>Factor — Cause or category of downtime</a:t>
            </a:r>
          </a:p>
          <a:p>
            <a:r>
              <a:rPr lang="en-US" sz="1400" b="1" dirty="0">
                <a:latin typeface="+mn-lt"/>
              </a:rPr>
              <a:t> Schema</a:t>
            </a:r>
          </a:p>
          <a:p>
            <a:r>
              <a:rPr lang="en-US" sz="1400" b="1" dirty="0">
                <a:latin typeface="+mn-lt"/>
              </a:rPr>
              <a:t>Relationships follow a Star Schema,</a:t>
            </a:r>
          </a:p>
          <a:p>
            <a:r>
              <a:rPr lang="en-US" sz="1400" b="1" dirty="0">
                <a:latin typeface="+mn-lt"/>
              </a:rPr>
              <a:t>where Fact</a:t>
            </a:r>
            <a:r>
              <a:rPr lang="ar-EG" sz="1400" b="1" dirty="0">
                <a:latin typeface="+mn-lt"/>
              </a:rPr>
              <a:t> </a:t>
            </a:r>
            <a:r>
              <a:rPr lang="en-US" sz="1400" b="1" dirty="0">
                <a:latin typeface="+mn-lt"/>
              </a:rPr>
              <a:t>Line</a:t>
            </a:r>
            <a:r>
              <a:rPr lang="ar-EG" sz="1400" b="1" dirty="0">
                <a:latin typeface="+mn-lt"/>
              </a:rPr>
              <a:t> </a:t>
            </a:r>
            <a:r>
              <a:rPr lang="en-US" sz="1400" b="1" dirty="0">
                <a:latin typeface="+mn-lt"/>
              </a:rPr>
              <a:t>Downtime connects to all dimension tables through their keys.</a:t>
            </a:r>
          </a:p>
        </p:txBody>
      </p:sp>
      <p:sp>
        <p:nvSpPr>
          <p:cNvPr id="10" name="Text Placeholder 9">
            <a:extLst>
              <a:ext uri="{FF2B5EF4-FFF2-40B4-BE49-F238E27FC236}">
                <a16:creationId xmlns:a16="http://schemas.microsoft.com/office/drawing/2014/main" id="{CE2D6C55-098D-41D8-B244-1459E8A09B19}"/>
              </a:ext>
            </a:extLst>
          </p:cNvPr>
          <p:cNvSpPr>
            <a:spLocks noGrp="1"/>
          </p:cNvSpPr>
          <p:nvPr>
            <p:ph type="body" idx="2"/>
          </p:nvPr>
        </p:nvSpPr>
        <p:spPr/>
        <p:txBody>
          <a:bodyPr/>
          <a:lstStyle/>
          <a:p>
            <a:endParaRPr lang="en-US" dirty="0"/>
          </a:p>
        </p:txBody>
      </p:sp>
      <p:sp>
        <p:nvSpPr>
          <p:cNvPr id="191" name="Google Shape;191;p6">
            <a:extLst>
              <a:ext uri="{FF2B5EF4-FFF2-40B4-BE49-F238E27FC236}">
                <a16:creationId xmlns:a16="http://schemas.microsoft.com/office/drawing/2014/main" id="{7D59A889-0F4D-5680-0665-2D0547A8843E}"/>
              </a:ext>
            </a:extLst>
          </p:cNvPr>
          <p:cNvSpPr txBox="1">
            <a:spLocks noGrp="1"/>
          </p:cNvSpPr>
          <p:nvPr>
            <p:ph type="dt" idx="10"/>
          </p:nvPr>
        </p:nvSpPr>
        <p:spPr>
          <a:prstGeom prst="rect">
            <a:avLst/>
          </a:prstGeom>
          <a:noFill/>
          <a:ln>
            <a:noFill/>
          </a:ln>
        </p:spPr>
        <p:txBody>
          <a:bodyPr spcFirstLastPara="1" wrap="square" lIns="91425" tIns="45700" rIns="91425" bIns="45700" anchor="ctr" anchorCtr="0">
            <a:noAutofit/>
          </a:bodyPr>
          <a:lstStyle/>
          <a:p>
            <a:endParaRPr lang="en-US" dirty="0">
              <a:solidFill>
                <a:schemeClr val="bg1"/>
              </a:solidFill>
              <a:latin typeface="Constantia" panose="02030602050306030303" pitchFamily="18" charset="0"/>
            </a:endParaRPr>
          </a:p>
        </p:txBody>
      </p:sp>
      <p:sp>
        <p:nvSpPr>
          <p:cNvPr id="193" name="Google Shape;193;p6">
            <a:extLst>
              <a:ext uri="{FF2B5EF4-FFF2-40B4-BE49-F238E27FC236}">
                <a16:creationId xmlns:a16="http://schemas.microsoft.com/office/drawing/2014/main" id="{263981AA-2C04-6D9A-E5B3-2CCA236FE627}"/>
              </a:ext>
            </a:extLst>
          </p:cNvPr>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8</a:t>
            </a:fld>
            <a:endParaRPr/>
          </a:p>
        </p:txBody>
      </p:sp>
      <p:pic>
        <p:nvPicPr>
          <p:cNvPr id="4" name="Picture 3">
            <a:extLst>
              <a:ext uri="{FF2B5EF4-FFF2-40B4-BE49-F238E27FC236}">
                <a16:creationId xmlns:a16="http://schemas.microsoft.com/office/drawing/2014/main" id="{542D9750-19CE-4EF8-8322-266EF405FE70}"/>
              </a:ext>
            </a:extLst>
          </p:cNvPr>
          <p:cNvPicPr>
            <a:picLocks noChangeAspect="1"/>
          </p:cNvPicPr>
          <p:nvPr/>
        </p:nvPicPr>
        <p:blipFill rotWithShape="1">
          <a:blip r:embed="rId3"/>
          <a:srcRect l="4563" r="3254"/>
          <a:stretch/>
        </p:blipFill>
        <p:spPr>
          <a:xfrm>
            <a:off x="6172200" y="1865179"/>
            <a:ext cx="5181600" cy="3741576"/>
          </a:xfrm>
          <a:prstGeom prst="rect">
            <a:avLst/>
          </a:prstGeom>
        </p:spPr>
      </p:pic>
    </p:spTree>
    <p:extLst>
      <p:ext uri="{BB962C8B-B14F-4D97-AF65-F5344CB8AC3E}">
        <p14:creationId xmlns:p14="http://schemas.microsoft.com/office/powerpoint/2010/main" val="1740111942"/>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91" name="Google Shape;191;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endParaRPr lang="en-US" dirty="0">
              <a:solidFill>
                <a:schemeClr val="bg1"/>
              </a:solidFill>
              <a:latin typeface="Constantia" panose="02030602050306030303" pitchFamily="18" charset="0"/>
            </a:endParaRPr>
          </a:p>
        </p:txBody>
      </p:sp>
      <p:sp>
        <p:nvSpPr>
          <p:cNvPr id="193" name="Google Shape;193;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9</a:t>
            </a:fld>
            <a:endParaRPr/>
          </a:p>
        </p:txBody>
      </p:sp>
      <p:sp>
        <p:nvSpPr>
          <p:cNvPr id="4" name="TextBox 3">
            <a:extLst>
              <a:ext uri="{FF2B5EF4-FFF2-40B4-BE49-F238E27FC236}">
                <a16:creationId xmlns:a16="http://schemas.microsoft.com/office/drawing/2014/main" id="{CE591361-0E72-49AE-BC28-7823759A9D2C}"/>
              </a:ext>
            </a:extLst>
          </p:cNvPr>
          <p:cNvSpPr txBox="1"/>
          <p:nvPr/>
        </p:nvSpPr>
        <p:spPr>
          <a:xfrm>
            <a:off x="437444" y="1378392"/>
            <a:ext cx="5238427" cy="4401205"/>
          </a:xfrm>
          <a:prstGeom prst="rect">
            <a:avLst/>
          </a:prstGeom>
          <a:noFill/>
        </p:spPr>
        <p:txBody>
          <a:bodyPr wrap="square" lIns="91440" tIns="45720" rIns="91440" bIns="45720" rtlCol="0" anchor="t">
            <a:spAutoFit/>
          </a:bodyPr>
          <a:lstStyle/>
          <a:p>
            <a:r>
              <a:rPr lang="en-US" sz="2000" dirty="0">
                <a:solidFill>
                  <a:schemeClr val="tx1"/>
                </a:solidFill>
              </a:rPr>
              <a:t>Different units in size column are detected</a:t>
            </a:r>
          </a:p>
          <a:p>
            <a:endParaRPr lang="en-US" sz="2400" b="1" dirty="0">
              <a:solidFill>
                <a:schemeClr val="accent6">
                  <a:lumMod val="50000"/>
                </a:schemeClr>
              </a:solidFill>
            </a:endParaRPr>
          </a:p>
          <a:p>
            <a:r>
              <a:rPr lang="en-US" sz="2000" b="1" dirty="0">
                <a:solidFill>
                  <a:srgbClr val="047954"/>
                </a:solidFill>
              </a:rPr>
              <a:t>Process:</a:t>
            </a:r>
          </a:p>
          <a:p>
            <a:r>
              <a:rPr lang="ar-EG" sz="1800" dirty="0">
                <a:solidFill>
                  <a:schemeClr val="tx1"/>
                </a:solidFill>
              </a:rPr>
              <a:t>-  </a:t>
            </a:r>
            <a:r>
              <a:rPr lang="en-US" sz="1800" dirty="0">
                <a:solidFill>
                  <a:schemeClr val="tx1"/>
                </a:solidFill>
              </a:rPr>
              <a:t>Data cleaning to unite all units using python , we used the code ,</a:t>
            </a:r>
            <a:r>
              <a:rPr lang="en-US" sz="1800" b="1" dirty="0">
                <a:solidFill>
                  <a:schemeClr val="tx1"/>
                </a:solidFill>
              </a:rPr>
              <a:t>"Def </a:t>
            </a:r>
            <a:r>
              <a:rPr lang="en-US" sz="1800" b="1" dirty="0" err="1">
                <a:solidFill>
                  <a:schemeClr val="tx1"/>
                </a:solidFill>
              </a:rPr>
              <a:t>ml_to_liter</a:t>
            </a:r>
            <a:r>
              <a:rPr lang="en-US" sz="1800" b="1" dirty="0">
                <a:solidFill>
                  <a:schemeClr val="tx1"/>
                </a:solidFill>
              </a:rPr>
              <a:t> (ml):</a:t>
            </a:r>
            <a:endParaRPr lang="en-US" b="1" dirty="0">
              <a:solidFill>
                <a:schemeClr val="tx1"/>
              </a:solidFill>
            </a:endParaRPr>
          </a:p>
          <a:p>
            <a:r>
              <a:rPr lang="en-US" sz="1800" b="1" dirty="0">
                <a:solidFill>
                  <a:schemeClr val="tx1"/>
                </a:solidFill>
              </a:rPr>
              <a:t>Print(ml/1000)" </a:t>
            </a:r>
            <a:r>
              <a:rPr lang="en-US" sz="1800" dirty="0">
                <a:solidFill>
                  <a:schemeClr val="tx1"/>
                </a:solidFill>
              </a:rPr>
              <a:t>To convert any ml and L</a:t>
            </a:r>
            <a:endParaRPr lang="ar-EG" sz="1800" dirty="0">
              <a:solidFill>
                <a:schemeClr val="tx1"/>
              </a:solidFill>
            </a:endParaRPr>
          </a:p>
          <a:p>
            <a:r>
              <a:rPr lang="en-US" sz="1800" dirty="0">
                <a:solidFill>
                  <a:schemeClr val="tx1"/>
                </a:solidFill>
              </a:rPr>
              <a:t> - remove nulls </a:t>
            </a:r>
          </a:p>
          <a:p>
            <a:r>
              <a:rPr lang="en-US" sz="1800" dirty="0">
                <a:solidFill>
                  <a:schemeClr val="tx1"/>
                </a:solidFill>
              </a:rPr>
              <a:t>Df</a:t>
            </a:r>
            <a:r>
              <a:rPr lang="ar-EG" sz="1800" dirty="0">
                <a:solidFill>
                  <a:schemeClr val="tx1"/>
                </a:solidFill>
              </a:rPr>
              <a:t> </a:t>
            </a:r>
            <a:r>
              <a:rPr lang="en-US" sz="1800" dirty="0">
                <a:solidFill>
                  <a:schemeClr val="tx1"/>
                </a:solidFill>
              </a:rPr>
              <a:t>= </a:t>
            </a:r>
            <a:r>
              <a:rPr lang="en-US" sz="1800" dirty="0" err="1">
                <a:solidFill>
                  <a:schemeClr val="tx1"/>
                </a:solidFill>
              </a:rPr>
              <a:t>df.dropna</a:t>
            </a:r>
            <a:r>
              <a:rPr lang="en-US" sz="1800" dirty="0">
                <a:solidFill>
                  <a:schemeClr val="tx1"/>
                </a:solidFill>
              </a:rPr>
              <a:t>()</a:t>
            </a:r>
            <a:r>
              <a:rPr lang="ar-EG" sz="1800" dirty="0">
                <a:solidFill>
                  <a:schemeClr val="tx1"/>
                </a:solidFill>
              </a:rPr>
              <a:t>  </a:t>
            </a:r>
          </a:p>
          <a:p>
            <a:endParaRPr lang="en-US" sz="1800" dirty="0">
              <a:solidFill>
                <a:schemeClr val="tx1"/>
              </a:solidFill>
            </a:endParaRPr>
          </a:p>
          <a:p>
            <a:endParaRPr lang="en-US" sz="2000" dirty="0"/>
          </a:p>
          <a:p>
            <a:r>
              <a:rPr lang="en-US" sz="2000" b="1" dirty="0">
                <a:solidFill>
                  <a:srgbClr val="047954"/>
                </a:solidFill>
              </a:rPr>
              <a:t>Output:</a:t>
            </a:r>
          </a:p>
          <a:p>
            <a:r>
              <a:rPr lang="en-US" sz="2000" dirty="0">
                <a:solidFill>
                  <a:schemeClr val="tx1"/>
                </a:solidFill>
              </a:rPr>
              <a:t>Structured , cleaned data with united units giving clear , accurate insights</a:t>
            </a:r>
          </a:p>
          <a:p>
            <a:endParaRPr lang="en-US" dirty="0"/>
          </a:p>
          <a:p>
            <a:endParaRPr lang="en-US" dirty="0"/>
          </a:p>
        </p:txBody>
      </p:sp>
      <p:pic>
        <p:nvPicPr>
          <p:cNvPr id="9" name="Picture 8">
            <a:extLst>
              <a:ext uri="{FF2B5EF4-FFF2-40B4-BE49-F238E27FC236}">
                <a16:creationId xmlns:a16="http://schemas.microsoft.com/office/drawing/2014/main" id="{94F6B7B3-37BA-453E-A6AE-B16D930FC62F}"/>
              </a:ext>
            </a:extLst>
          </p:cNvPr>
          <p:cNvPicPr>
            <a:picLocks noChangeAspect="1"/>
          </p:cNvPicPr>
          <p:nvPr/>
        </p:nvPicPr>
        <p:blipFill>
          <a:blip r:embed="rId3"/>
          <a:srcRect r="25000" b="-800"/>
          <a:stretch/>
        </p:blipFill>
        <p:spPr>
          <a:xfrm>
            <a:off x="5958584" y="782423"/>
            <a:ext cx="4821662" cy="2123296"/>
          </a:xfrm>
          <a:prstGeom prst="rect">
            <a:avLst/>
          </a:prstGeom>
        </p:spPr>
      </p:pic>
      <p:pic>
        <p:nvPicPr>
          <p:cNvPr id="10" name="Picture 9" descr="A white table with black text&#10;&#10;AI-generated content may be incorrect.">
            <a:extLst>
              <a:ext uri="{FF2B5EF4-FFF2-40B4-BE49-F238E27FC236}">
                <a16:creationId xmlns:a16="http://schemas.microsoft.com/office/drawing/2014/main" id="{716058DB-FE2D-4501-98B2-B8B126294CFB}"/>
              </a:ext>
            </a:extLst>
          </p:cNvPr>
          <p:cNvPicPr>
            <a:picLocks noChangeAspect="1"/>
          </p:cNvPicPr>
          <p:nvPr/>
        </p:nvPicPr>
        <p:blipFill>
          <a:blip r:embed="rId4"/>
          <a:srcRect t="-3101" r="26613" b="794"/>
          <a:stretch/>
        </p:blipFill>
        <p:spPr>
          <a:xfrm>
            <a:off x="5954794" y="3724323"/>
            <a:ext cx="4825452" cy="2476645"/>
          </a:xfrm>
          <a:prstGeom prst="rect">
            <a:avLst/>
          </a:prstGeom>
        </p:spPr>
      </p:pic>
      <p:pic>
        <p:nvPicPr>
          <p:cNvPr id="11" name="Picture 10" descr="A screenshot of a computer program&#10;&#10;AI-generated content may be incorrect.">
            <a:extLst>
              <a:ext uri="{FF2B5EF4-FFF2-40B4-BE49-F238E27FC236}">
                <a16:creationId xmlns:a16="http://schemas.microsoft.com/office/drawing/2014/main" id="{EBE9601E-8B13-468C-8CE9-0CFFD0BDEBC1}"/>
              </a:ext>
            </a:extLst>
          </p:cNvPr>
          <p:cNvPicPr>
            <a:picLocks noChangeAspect="1"/>
          </p:cNvPicPr>
          <p:nvPr/>
        </p:nvPicPr>
        <p:blipFill>
          <a:blip r:embed="rId5"/>
          <a:srcRect t="82609" r="48864" b="4449"/>
          <a:stretch/>
        </p:blipFill>
        <p:spPr>
          <a:xfrm>
            <a:off x="5954794" y="3029225"/>
            <a:ext cx="4821662" cy="588437"/>
          </a:xfrm>
          <a:prstGeom prst="rect">
            <a:avLst/>
          </a:prstGeom>
        </p:spPr>
      </p:pic>
      <p:sp>
        <p:nvSpPr>
          <p:cNvPr id="2" name="TextBox 1">
            <a:extLst>
              <a:ext uri="{FF2B5EF4-FFF2-40B4-BE49-F238E27FC236}">
                <a16:creationId xmlns:a16="http://schemas.microsoft.com/office/drawing/2014/main" id="{FFC1A16F-0327-409D-A1CF-CE427CBCD5F5}"/>
              </a:ext>
            </a:extLst>
          </p:cNvPr>
          <p:cNvSpPr txBox="1"/>
          <p:nvPr/>
        </p:nvSpPr>
        <p:spPr>
          <a:xfrm>
            <a:off x="4836539" y="320758"/>
            <a:ext cx="2236510" cy="461665"/>
          </a:xfrm>
          <a:prstGeom prst="rect">
            <a:avLst/>
          </a:prstGeom>
          <a:noFill/>
        </p:spPr>
        <p:txBody>
          <a:bodyPr wrap="none" rtlCol="0">
            <a:spAutoFit/>
          </a:bodyPr>
          <a:lstStyle/>
          <a:p>
            <a:r>
              <a:rPr lang="en-US" sz="2400" b="1">
                <a:solidFill>
                  <a:schemeClr val="accent6">
                    <a:lumMod val="50000"/>
                  </a:schemeClr>
                </a:solidFill>
              </a:rPr>
              <a:t>Data Cleaning</a:t>
            </a:r>
          </a:p>
        </p:txBody>
      </p:sp>
    </p:spTree>
    <p:extLst>
      <p:ext uri="{BB962C8B-B14F-4D97-AF65-F5344CB8AC3E}">
        <p14:creationId xmlns:p14="http://schemas.microsoft.com/office/powerpoint/2010/main" val="362098044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Effect transition="in" filter="fade">
                                      <p:cBhvr>
                                        <p:cTn id="14" dur="1000"/>
                                        <p:tgtEl>
                                          <p:spTgt spid="4">
                                            <p:txEl>
                                              <p:pRg st="0" end="0"/>
                                            </p:txEl>
                                          </p:spTgt>
                                        </p:tgtEl>
                                      </p:cBhvr>
                                    </p:animEffect>
                                    <p:anim calcmode="lin" valueType="num">
                                      <p:cBhvr>
                                        <p:cTn id="15"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barn(inVertical)">
                                      <p:cBhvr>
                                        <p:cTn id="21" dur="500"/>
                                        <p:tgtEl>
                                          <p:spTgt spid="11"/>
                                        </p:tgtEl>
                                      </p:cBhvr>
                                    </p:animEffect>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barn(inVertical)">
                                      <p:cBhvr>
                                        <p:cTn id="26" dur="500"/>
                                        <p:tgtEl>
                                          <p:spTgt spid="9"/>
                                        </p:tgtEl>
                                      </p:cBhvr>
                                    </p:animEffect>
                                  </p:childTnLst>
                                </p:cTn>
                              </p:par>
                            </p:childTnLst>
                          </p:cTn>
                        </p:par>
                      </p:childTnLst>
                    </p:cTn>
                  </p:par>
                  <p:par>
                    <p:cTn id="27" fill="hold">
                      <p:stCondLst>
                        <p:cond delay="indefinite"/>
                      </p:stCondLst>
                      <p:childTnLst>
                        <p:par>
                          <p:cTn id="28" fill="hold">
                            <p:stCondLst>
                              <p:cond delay="0"/>
                            </p:stCondLst>
                            <p:childTnLst>
                              <p:par>
                                <p:cTn id="29" presetID="16" presetClass="entr" presetSubtype="21"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barn(inVertical)">
                                      <p:cBhvr>
                                        <p:cTn id="31" dur="500"/>
                                        <p:tgtEl>
                                          <p:spTgt spid="10"/>
                                        </p:tgtEl>
                                      </p:cBhvr>
                                    </p:animEffect>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4">
                                            <p:txEl>
                                              <p:pRg st="2" end="2"/>
                                            </p:txEl>
                                          </p:spTgt>
                                        </p:tgtEl>
                                        <p:attrNameLst>
                                          <p:attrName>style.visibility</p:attrName>
                                        </p:attrNameLst>
                                      </p:cBhvr>
                                      <p:to>
                                        <p:strVal val="visible"/>
                                      </p:to>
                                    </p:set>
                                    <p:animEffect transition="in" filter="fade">
                                      <p:cBhvr>
                                        <p:cTn id="36" dur="1000"/>
                                        <p:tgtEl>
                                          <p:spTgt spid="4">
                                            <p:txEl>
                                              <p:pRg st="2" end="2"/>
                                            </p:txEl>
                                          </p:spTgt>
                                        </p:tgtEl>
                                      </p:cBhvr>
                                    </p:animEffect>
                                    <p:anim calcmode="lin" valueType="num">
                                      <p:cBhvr>
                                        <p:cTn id="37"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38" dur="1000" fill="hold"/>
                                        <p:tgtEl>
                                          <p:spTgt spid="4">
                                            <p:txEl>
                                              <p:pRg st="2" end="2"/>
                                            </p:txEl>
                                          </p:spTgt>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4">
                                            <p:txEl>
                                              <p:pRg st="3" end="3"/>
                                            </p:txEl>
                                          </p:spTgt>
                                        </p:tgtEl>
                                        <p:attrNameLst>
                                          <p:attrName>style.visibility</p:attrName>
                                        </p:attrNameLst>
                                      </p:cBhvr>
                                      <p:to>
                                        <p:strVal val="visible"/>
                                      </p:to>
                                    </p:set>
                                    <p:animEffect transition="in" filter="fade">
                                      <p:cBhvr>
                                        <p:cTn id="41" dur="1000"/>
                                        <p:tgtEl>
                                          <p:spTgt spid="4">
                                            <p:txEl>
                                              <p:pRg st="3" end="3"/>
                                            </p:txEl>
                                          </p:spTgt>
                                        </p:tgtEl>
                                      </p:cBhvr>
                                    </p:animEffect>
                                    <p:anim calcmode="lin" valueType="num">
                                      <p:cBhvr>
                                        <p:cTn id="42"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43" dur="1000" fill="hold"/>
                                        <p:tgtEl>
                                          <p:spTgt spid="4">
                                            <p:txEl>
                                              <p:pRg st="3" end="3"/>
                                            </p:txEl>
                                          </p:spTgt>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0"/>
                                  </p:stCondLst>
                                  <p:childTnLst>
                                    <p:set>
                                      <p:cBhvr>
                                        <p:cTn id="45" dur="1" fill="hold">
                                          <p:stCondLst>
                                            <p:cond delay="0"/>
                                          </p:stCondLst>
                                        </p:cTn>
                                        <p:tgtEl>
                                          <p:spTgt spid="4">
                                            <p:txEl>
                                              <p:pRg st="4" end="4"/>
                                            </p:txEl>
                                          </p:spTgt>
                                        </p:tgtEl>
                                        <p:attrNameLst>
                                          <p:attrName>style.visibility</p:attrName>
                                        </p:attrNameLst>
                                      </p:cBhvr>
                                      <p:to>
                                        <p:strVal val="visible"/>
                                      </p:to>
                                    </p:set>
                                    <p:animEffect transition="in" filter="fade">
                                      <p:cBhvr>
                                        <p:cTn id="46" dur="1000"/>
                                        <p:tgtEl>
                                          <p:spTgt spid="4">
                                            <p:txEl>
                                              <p:pRg st="4" end="4"/>
                                            </p:txEl>
                                          </p:spTgt>
                                        </p:tgtEl>
                                      </p:cBhvr>
                                    </p:animEffect>
                                    <p:anim calcmode="lin" valueType="num">
                                      <p:cBhvr>
                                        <p:cTn id="47"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48" dur="1000" fill="hold"/>
                                        <p:tgtEl>
                                          <p:spTgt spid="4">
                                            <p:txEl>
                                              <p:pRg st="4" end="4"/>
                                            </p:txEl>
                                          </p:spTgt>
                                        </p:tgtEl>
                                        <p:attrNameLst>
                                          <p:attrName>ppt_y</p:attrName>
                                        </p:attrNameLst>
                                      </p:cBhvr>
                                      <p:tavLst>
                                        <p:tav tm="0">
                                          <p:val>
                                            <p:strVal val="#ppt_y+.1"/>
                                          </p:val>
                                        </p:tav>
                                        <p:tav tm="100000">
                                          <p:val>
                                            <p:strVal val="#ppt_y"/>
                                          </p:val>
                                        </p:tav>
                                      </p:tavLst>
                                    </p:anim>
                                  </p:childTnLst>
                                </p:cTn>
                              </p:par>
                              <p:par>
                                <p:cTn id="49" presetID="42" presetClass="entr" presetSubtype="0" fill="hold" nodeType="withEffect">
                                  <p:stCondLst>
                                    <p:cond delay="0"/>
                                  </p:stCondLst>
                                  <p:childTnLst>
                                    <p:set>
                                      <p:cBhvr>
                                        <p:cTn id="50" dur="1" fill="hold">
                                          <p:stCondLst>
                                            <p:cond delay="0"/>
                                          </p:stCondLst>
                                        </p:cTn>
                                        <p:tgtEl>
                                          <p:spTgt spid="4">
                                            <p:txEl>
                                              <p:pRg st="5" end="5"/>
                                            </p:txEl>
                                          </p:spTgt>
                                        </p:tgtEl>
                                        <p:attrNameLst>
                                          <p:attrName>style.visibility</p:attrName>
                                        </p:attrNameLst>
                                      </p:cBhvr>
                                      <p:to>
                                        <p:strVal val="visible"/>
                                      </p:to>
                                    </p:set>
                                    <p:animEffect transition="in" filter="fade">
                                      <p:cBhvr>
                                        <p:cTn id="51" dur="1000"/>
                                        <p:tgtEl>
                                          <p:spTgt spid="4">
                                            <p:txEl>
                                              <p:pRg st="5" end="5"/>
                                            </p:txEl>
                                          </p:spTgt>
                                        </p:tgtEl>
                                      </p:cBhvr>
                                    </p:animEffect>
                                    <p:anim calcmode="lin" valueType="num">
                                      <p:cBhvr>
                                        <p:cTn id="52"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53" dur="1000" fill="hold"/>
                                        <p:tgtEl>
                                          <p:spTgt spid="4">
                                            <p:txEl>
                                              <p:pRg st="5" end="5"/>
                                            </p:txEl>
                                          </p:spTgt>
                                        </p:tgtEl>
                                        <p:attrNameLst>
                                          <p:attrName>ppt_y</p:attrName>
                                        </p:attrNameLst>
                                      </p:cBhvr>
                                      <p:tavLst>
                                        <p:tav tm="0">
                                          <p:val>
                                            <p:strVal val="#ppt_y+.1"/>
                                          </p:val>
                                        </p:tav>
                                        <p:tav tm="100000">
                                          <p:val>
                                            <p:strVal val="#ppt_y"/>
                                          </p:val>
                                        </p:tav>
                                      </p:tavLst>
                                    </p:anim>
                                  </p:childTnLst>
                                </p:cTn>
                              </p:par>
                              <p:par>
                                <p:cTn id="54" presetID="42" presetClass="entr" presetSubtype="0" fill="hold" nodeType="withEffect">
                                  <p:stCondLst>
                                    <p:cond delay="0"/>
                                  </p:stCondLst>
                                  <p:childTnLst>
                                    <p:set>
                                      <p:cBhvr>
                                        <p:cTn id="55" dur="1" fill="hold">
                                          <p:stCondLst>
                                            <p:cond delay="0"/>
                                          </p:stCondLst>
                                        </p:cTn>
                                        <p:tgtEl>
                                          <p:spTgt spid="4">
                                            <p:txEl>
                                              <p:pRg st="6" end="6"/>
                                            </p:txEl>
                                          </p:spTgt>
                                        </p:tgtEl>
                                        <p:attrNameLst>
                                          <p:attrName>style.visibility</p:attrName>
                                        </p:attrNameLst>
                                      </p:cBhvr>
                                      <p:to>
                                        <p:strVal val="visible"/>
                                      </p:to>
                                    </p:set>
                                    <p:animEffect transition="in" filter="fade">
                                      <p:cBhvr>
                                        <p:cTn id="56" dur="1000"/>
                                        <p:tgtEl>
                                          <p:spTgt spid="4">
                                            <p:txEl>
                                              <p:pRg st="6" end="6"/>
                                            </p:txEl>
                                          </p:spTgt>
                                        </p:tgtEl>
                                      </p:cBhvr>
                                    </p:animEffect>
                                    <p:anim calcmode="lin" valueType="num">
                                      <p:cBhvr>
                                        <p:cTn id="57"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4">
                                            <p:txEl>
                                              <p:pRg st="6" end="6"/>
                                            </p:txEl>
                                          </p:spTgt>
                                        </p:tgtEl>
                                        <p:attrNameLst>
                                          <p:attrName>ppt_y</p:attrName>
                                        </p:attrNameLst>
                                      </p:cBhvr>
                                      <p:tavLst>
                                        <p:tav tm="0">
                                          <p:val>
                                            <p:strVal val="#ppt_y+.1"/>
                                          </p:val>
                                        </p:tav>
                                        <p:tav tm="100000">
                                          <p:val>
                                            <p:strVal val="#ppt_y"/>
                                          </p:val>
                                        </p:tav>
                                      </p:tavLst>
                                    </p:anim>
                                  </p:childTnLst>
                                </p:cTn>
                              </p:par>
                              <p:par>
                                <p:cTn id="59" presetID="42" presetClass="entr" presetSubtype="0" fill="hold" nodeType="withEffect">
                                  <p:stCondLst>
                                    <p:cond delay="0"/>
                                  </p:stCondLst>
                                  <p:childTnLst>
                                    <p:set>
                                      <p:cBhvr>
                                        <p:cTn id="60" dur="1" fill="hold">
                                          <p:stCondLst>
                                            <p:cond delay="0"/>
                                          </p:stCondLst>
                                        </p:cTn>
                                        <p:tgtEl>
                                          <p:spTgt spid="4">
                                            <p:txEl>
                                              <p:pRg st="9" end="9"/>
                                            </p:txEl>
                                          </p:spTgt>
                                        </p:tgtEl>
                                        <p:attrNameLst>
                                          <p:attrName>style.visibility</p:attrName>
                                        </p:attrNameLst>
                                      </p:cBhvr>
                                      <p:to>
                                        <p:strVal val="visible"/>
                                      </p:to>
                                    </p:set>
                                    <p:animEffect transition="in" filter="fade">
                                      <p:cBhvr>
                                        <p:cTn id="61" dur="1000"/>
                                        <p:tgtEl>
                                          <p:spTgt spid="4">
                                            <p:txEl>
                                              <p:pRg st="9" end="9"/>
                                            </p:txEl>
                                          </p:spTgt>
                                        </p:tgtEl>
                                      </p:cBhvr>
                                    </p:animEffect>
                                    <p:anim calcmode="lin" valueType="num">
                                      <p:cBhvr>
                                        <p:cTn id="62" dur="1000" fill="hold"/>
                                        <p:tgtEl>
                                          <p:spTgt spid="4">
                                            <p:txEl>
                                              <p:pRg st="9" end="9"/>
                                            </p:txEl>
                                          </p:spTgt>
                                        </p:tgtEl>
                                        <p:attrNameLst>
                                          <p:attrName>ppt_x</p:attrName>
                                        </p:attrNameLst>
                                      </p:cBhvr>
                                      <p:tavLst>
                                        <p:tav tm="0">
                                          <p:val>
                                            <p:strVal val="#ppt_x"/>
                                          </p:val>
                                        </p:tav>
                                        <p:tav tm="100000">
                                          <p:val>
                                            <p:strVal val="#ppt_x"/>
                                          </p:val>
                                        </p:tav>
                                      </p:tavLst>
                                    </p:anim>
                                    <p:anim calcmode="lin" valueType="num">
                                      <p:cBhvr>
                                        <p:cTn id="63" dur="1000" fill="hold"/>
                                        <p:tgtEl>
                                          <p:spTgt spid="4">
                                            <p:txEl>
                                              <p:pRg st="9" end="9"/>
                                            </p:txEl>
                                          </p:spTgt>
                                        </p:tgtEl>
                                        <p:attrNameLst>
                                          <p:attrName>ppt_y</p:attrName>
                                        </p:attrNameLst>
                                      </p:cBhvr>
                                      <p:tavLst>
                                        <p:tav tm="0">
                                          <p:val>
                                            <p:strVal val="#ppt_y+.1"/>
                                          </p:val>
                                        </p:tav>
                                        <p:tav tm="100000">
                                          <p:val>
                                            <p:strVal val="#ppt_y"/>
                                          </p:val>
                                        </p:tav>
                                      </p:tavLst>
                                    </p:anim>
                                  </p:childTnLst>
                                </p:cTn>
                              </p:par>
                              <p:par>
                                <p:cTn id="64" presetID="42" presetClass="entr" presetSubtype="0" fill="hold" nodeType="withEffect">
                                  <p:stCondLst>
                                    <p:cond delay="0"/>
                                  </p:stCondLst>
                                  <p:childTnLst>
                                    <p:set>
                                      <p:cBhvr>
                                        <p:cTn id="65" dur="1" fill="hold">
                                          <p:stCondLst>
                                            <p:cond delay="0"/>
                                          </p:stCondLst>
                                        </p:cTn>
                                        <p:tgtEl>
                                          <p:spTgt spid="4">
                                            <p:txEl>
                                              <p:pRg st="10" end="10"/>
                                            </p:txEl>
                                          </p:spTgt>
                                        </p:tgtEl>
                                        <p:attrNameLst>
                                          <p:attrName>style.visibility</p:attrName>
                                        </p:attrNameLst>
                                      </p:cBhvr>
                                      <p:to>
                                        <p:strVal val="visible"/>
                                      </p:to>
                                    </p:set>
                                    <p:animEffect transition="in" filter="fade">
                                      <p:cBhvr>
                                        <p:cTn id="66" dur="1000"/>
                                        <p:tgtEl>
                                          <p:spTgt spid="4">
                                            <p:txEl>
                                              <p:pRg st="10" end="10"/>
                                            </p:txEl>
                                          </p:spTgt>
                                        </p:tgtEl>
                                      </p:cBhvr>
                                    </p:animEffect>
                                    <p:anim calcmode="lin" valueType="num">
                                      <p:cBhvr>
                                        <p:cTn id="67" dur="1000" fill="hold"/>
                                        <p:tgtEl>
                                          <p:spTgt spid="4">
                                            <p:txEl>
                                              <p:pRg st="10" end="10"/>
                                            </p:txEl>
                                          </p:spTgt>
                                        </p:tgtEl>
                                        <p:attrNameLst>
                                          <p:attrName>ppt_x</p:attrName>
                                        </p:attrNameLst>
                                      </p:cBhvr>
                                      <p:tavLst>
                                        <p:tav tm="0">
                                          <p:val>
                                            <p:strVal val="#ppt_x"/>
                                          </p:val>
                                        </p:tav>
                                        <p:tav tm="100000">
                                          <p:val>
                                            <p:strVal val="#ppt_x"/>
                                          </p:val>
                                        </p:tav>
                                      </p:tavLst>
                                    </p:anim>
                                    <p:anim calcmode="lin" valueType="num">
                                      <p:cBhvr>
                                        <p:cTn id="68" dur="1000" fill="hold"/>
                                        <p:tgtEl>
                                          <p:spTgt spid="4">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92632A-1921-4380-B0DD-B62C74D1563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pic>
        <p:nvPicPr>
          <p:cNvPr id="6" name="Picture 5">
            <a:extLst>
              <a:ext uri="{FF2B5EF4-FFF2-40B4-BE49-F238E27FC236}">
                <a16:creationId xmlns:a16="http://schemas.microsoft.com/office/drawing/2014/main" id="{B94EBE06-AC17-475C-8C8A-E92F846511A0}"/>
              </a:ext>
            </a:extLst>
          </p:cNvPr>
          <p:cNvPicPr>
            <a:picLocks noChangeAspect="1"/>
          </p:cNvPicPr>
          <p:nvPr/>
        </p:nvPicPr>
        <p:blipFill>
          <a:blip r:embed="rId2"/>
          <a:stretch>
            <a:fillRect/>
          </a:stretch>
        </p:blipFill>
        <p:spPr>
          <a:xfrm>
            <a:off x="0" y="265009"/>
            <a:ext cx="12192000" cy="6592991"/>
          </a:xfrm>
          <a:prstGeom prst="rect">
            <a:avLst/>
          </a:prstGeom>
        </p:spPr>
      </p:pic>
      <p:pic>
        <p:nvPicPr>
          <p:cNvPr id="7" name="Picture 6">
            <a:extLst>
              <a:ext uri="{FF2B5EF4-FFF2-40B4-BE49-F238E27FC236}">
                <a16:creationId xmlns:a16="http://schemas.microsoft.com/office/drawing/2014/main" id="{F23D57E1-AB3B-487C-91C7-A7DC0E2BD899}"/>
              </a:ext>
            </a:extLst>
          </p:cNvPr>
          <p:cNvPicPr>
            <a:picLocks noChangeAspect="1"/>
          </p:cNvPicPr>
          <p:nvPr/>
        </p:nvPicPr>
        <p:blipFill>
          <a:blip r:embed="rId3"/>
          <a:stretch>
            <a:fillRect/>
          </a:stretch>
        </p:blipFill>
        <p:spPr>
          <a:xfrm>
            <a:off x="0" y="265008"/>
            <a:ext cx="12192000" cy="6592991"/>
          </a:xfrm>
          <a:prstGeom prst="rect">
            <a:avLst/>
          </a:prstGeom>
        </p:spPr>
      </p:pic>
    </p:spTree>
    <p:extLst>
      <p:ext uri="{BB962C8B-B14F-4D97-AF65-F5344CB8AC3E}">
        <p14:creationId xmlns:p14="http://schemas.microsoft.com/office/powerpoint/2010/main" val="16400994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2ADE4CA-0C71-459F-B388-F0092A9E069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a:p>
        </p:txBody>
      </p:sp>
      <p:pic>
        <p:nvPicPr>
          <p:cNvPr id="8" name="Picture 7">
            <a:extLst>
              <a:ext uri="{FF2B5EF4-FFF2-40B4-BE49-F238E27FC236}">
                <a16:creationId xmlns:a16="http://schemas.microsoft.com/office/drawing/2014/main" id="{369A5E6E-6B3D-44D4-81C5-D9695FBB2BB7}"/>
              </a:ext>
            </a:extLst>
          </p:cNvPr>
          <p:cNvPicPr>
            <a:picLocks noChangeAspect="1"/>
          </p:cNvPicPr>
          <p:nvPr/>
        </p:nvPicPr>
        <p:blipFill>
          <a:blip r:embed="rId2"/>
          <a:stretch>
            <a:fillRect/>
          </a:stretch>
        </p:blipFill>
        <p:spPr>
          <a:xfrm>
            <a:off x="0" y="136525"/>
            <a:ext cx="12192000" cy="6721475"/>
          </a:xfrm>
          <a:prstGeom prst="rect">
            <a:avLst/>
          </a:prstGeom>
        </p:spPr>
      </p:pic>
      <p:pic>
        <p:nvPicPr>
          <p:cNvPr id="9" name="Picture 8">
            <a:extLst>
              <a:ext uri="{FF2B5EF4-FFF2-40B4-BE49-F238E27FC236}">
                <a16:creationId xmlns:a16="http://schemas.microsoft.com/office/drawing/2014/main" id="{182266EC-DABC-4F27-A7AC-8550A8408332}"/>
              </a:ext>
            </a:extLst>
          </p:cNvPr>
          <p:cNvPicPr>
            <a:picLocks noChangeAspect="1"/>
          </p:cNvPicPr>
          <p:nvPr/>
        </p:nvPicPr>
        <p:blipFill>
          <a:blip r:embed="rId3"/>
          <a:stretch>
            <a:fillRect/>
          </a:stretch>
        </p:blipFill>
        <p:spPr>
          <a:xfrm>
            <a:off x="0" y="136525"/>
            <a:ext cx="12192000" cy="6721474"/>
          </a:xfrm>
          <a:prstGeom prst="rect">
            <a:avLst/>
          </a:prstGeom>
        </p:spPr>
      </p:pic>
    </p:spTree>
    <p:extLst>
      <p:ext uri="{BB962C8B-B14F-4D97-AF65-F5344CB8AC3E}">
        <p14:creationId xmlns:p14="http://schemas.microsoft.com/office/powerpoint/2010/main" val="18306491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6CB7770-DB0E-4C50-9CFE-3D97AFBC577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12</a:t>
            </a:fld>
            <a:endParaRPr lang="en-US"/>
          </a:p>
        </p:txBody>
      </p:sp>
      <p:pic>
        <p:nvPicPr>
          <p:cNvPr id="4" name="Picture 3">
            <a:extLst>
              <a:ext uri="{FF2B5EF4-FFF2-40B4-BE49-F238E27FC236}">
                <a16:creationId xmlns:a16="http://schemas.microsoft.com/office/drawing/2014/main" id="{CA5D41C2-6DC2-4D46-895B-455A37E7C9D1}"/>
              </a:ext>
            </a:extLst>
          </p:cNvPr>
          <p:cNvPicPr>
            <a:picLocks noChangeAspect="1"/>
          </p:cNvPicPr>
          <p:nvPr/>
        </p:nvPicPr>
        <p:blipFill>
          <a:blip r:embed="rId2"/>
          <a:stretch>
            <a:fillRect/>
          </a:stretch>
        </p:blipFill>
        <p:spPr>
          <a:xfrm>
            <a:off x="0" y="221941"/>
            <a:ext cx="12192000" cy="6636059"/>
          </a:xfrm>
          <a:prstGeom prst="rect">
            <a:avLst/>
          </a:prstGeom>
        </p:spPr>
      </p:pic>
    </p:spTree>
    <p:extLst>
      <p:ext uri="{BB962C8B-B14F-4D97-AF65-F5344CB8AC3E}">
        <p14:creationId xmlns:p14="http://schemas.microsoft.com/office/powerpoint/2010/main" val="31768873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840F81-F69E-80DF-5ADA-C0DC234BBDD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1F99960-7392-8C5F-C2CE-F24CD506CA9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13</a:t>
            </a:fld>
            <a:endParaRPr lang="en-US"/>
          </a:p>
        </p:txBody>
      </p:sp>
      <p:pic>
        <p:nvPicPr>
          <p:cNvPr id="5" name="Picture 4">
            <a:extLst>
              <a:ext uri="{FF2B5EF4-FFF2-40B4-BE49-F238E27FC236}">
                <a16:creationId xmlns:a16="http://schemas.microsoft.com/office/drawing/2014/main" id="{80D71E70-F967-D2B6-20B0-398AA024DE8C}"/>
              </a:ext>
            </a:extLst>
          </p:cNvPr>
          <p:cNvPicPr>
            <a:picLocks noChangeAspect="1"/>
          </p:cNvPicPr>
          <p:nvPr/>
        </p:nvPicPr>
        <p:blipFill>
          <a:blip r:embed="rId2"/>
          <a:stretch>
            <a:fillRect/>
          </a:stretch>
        </p:blipFill>
        <p:spPr>
          <a:xfrm>
            <a:off x="28014" y="0"/>
            <a:ext cx="12135971" cy="6858000"/>
          </a:xfrm>
          <a:prstGeom prst="rect">
            <a:avLst/>
          </a:prstGeom>
        </p:spPr>
      </p:pic>
    </p:spTree>
    <p:extLst>
      <p:ext uri="{BB962C8B-B14F-4D97-AF65-F5344CB8AC3E}">
        <p14:creationId xmlns:p14="http://schemas.microsoft.com/office/powerpoint/2010/main" val="24965570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6176E2-1245-00AA-A725-0530AFE34CC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B370B5F-9BBA-E564-5582-3653D10AA43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14</a:t>
            </a:fld>
            <a:endParaRPr lang="en-US"/>
          </a:p>
        </p:txBody>
      </p:sp>
      <p:pic>
        <p:nvPicPr>
          <p:cNvPr id="5" name="Picture 4">
            <a:extLst>
              <a:ext uri="{FF2B5EF4-FFF2-40B4-BE49-F238E27FC236}">
                <a16:creationId xmlns:a16="http://schemas.microsoft.com/office/drawing/2014/main" id="{E518AD96-9B49-FB77-C1EC-90F40574B699}"/>
              </a:ext>
            </a:extLst>
          </p:cNvPr>
          <p:cNvPicPr>
            <a:picLocks noChangeAspect="1"/>
          </p:cNvPicPr>
          <p:nvPr/>
        </p:nvPicPr>
        <p:blipFill>
          <a:blip r:embed="rId2"/>
          <a:stretch>
            <a:fillRect/>
          </a:stretch>
        </p:blipFill>
        <p:spPr>
          <a:xfrm>
            <a:off x="47042" y="0"/>
            <a:ext cx="12097915" cy="6858000"/>
          </a:xfrm>
          <a:prstGeom prst="rect">
            <a:avLst/>
          </a:prstGeom>
        </p:spPr>
      </p:pic>
    </p:spTree>
    <p:extLst>
      <p:ext uri="{BB962C8B-B14F-4D97-AF65-F5344CB8AC3E}">
        <p14:creationId xmlns:p14="http://schemas.microsoft.com/office/powerpoint/2010/main" val="7899483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1526055-7623-4D7B-9AEE-B51E0668133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15</a:t>
            </a:fld>
            <a:endParaRPr lang="en-US"/>
          </a:p>
        </p:txBody>
      </p:sp>
      <p:sp>
        <p:nvSpPr>
          <p:cNvPr id="5" name="TextBox 4">
            <a:extLst>
              <a:ext uri="{FF2B5EF4-FFF2-40B4-BE49-F238E27FC236}">
                <a16:creationId xmlns:a16="http://schemas.microsoft.com/office/drawing/2014/main" id="{39723CDB-4E0F-498F-9E3A-B6832345CC64}"/>
              </a:ext>
            </a:extLst>
          </p:cNvPr>
          <p:cNvSpPr txBox="1"/>
          <p:nvPr/>
        </p:nvSpPr>
        <p:spPr>
          <a:xfrm>
            <a:off x="1367161" y="1271092"/>
            <a:ext cx="8723211" cy="615553"/>
          </a:xfrm>
          <a:prstGeom prst="rect">
            <a:avLst/>
          </a:prstGeom>
          <a:noFill/>
        </p:spPr>
        <p:txBody>
          <a:bodyPr wrap="square" lIns="91440" tIns="45720" rIns="91440" bIns="45720" rtlCol="0" anchor="t">
            <a:spAutoFit/>
          </a:bodyPr>
          <a:lstStyle/>
          <a:p>
            <a:r>
              <a:rPr lang="en-US" sz="2000" b="1" dirty="0">
                <a:solidFill>
                  <a:srgbClr val="047954"/>
                </a:solidFill>
              </a:rPr>
              <a:t>Deliverables</a:t>
            </a:r>
          </a:p>
          <a:p>
            <a:endParaRPr lang="en-US" dirty="0"/>
          </a:p>
        </p:txBody>
      </p:sp>
      <p:sp>
        <p:nvSpPr>
          <p:cNvPr id="6" name="TextBox 5">
            <a:extLst>
              <a:ext uri="{FF2B5EF4-FFF2-40B4-BE49-F238E27FC236}">
                <a16:creationId xmlns:a16="http://schemas.microsoft.com/office/drawing/2014/main" id="{3D887789-89BD-4A35-B5EE-05FA9722FEBC}"/>
              </a:ext>
            </a:extLst>
          </p:cNvPr>
          <p:cNvSpPr txBox="1"/>
          <p:nvPr/>
        </p:nvSpPr>
        <p:spPr>
          <a:xfrm>
            <a:off x="1314220" y="1886645"/>
            <a:ext cx="8829091" cy="1077218"/>
          </a:xfrm>
          <a:prstGeom prst="rect">
            <a:avLst/>
          </a:prstGeom>
          <a:noFill/>
        </p:spPr>
        <p:txBody>
          <a:bodyPr wrap="square">
            <a:spAutoFit/>
          </a:bodyPr>
          <a:lstStyle/>
          <a:p>
            <a:pPr marL="285750" indent="-285750">
              <a:buFont typeface="Arial" panose="020B0604020202020204" pitchFamily="34" charset="0"/>
              <a:buChar char="•"/>
            </a:pPr>
            <a:r>
              <a:rPr lang="en-US" sz="1600" b="0" i="0" dirty="0">
                <a:solidFill>
                  <a:srgbClr val="1F2328"/>
                </a:solidFill>
                <a:effectLst/>
                <a:latin typeface="Abadi" panose="020B0604020202020204" pitchFamily="34" charset="0"/>
              </a:rPr>
              <a:t>Clean and validated downtime dataset</a:t>
            </a:r>
          </a:p>
          <a:p>
            <a:pPr marL="285750" indent="-285750">
              <a:buFont typeface="Arial" panose="020B0604020202020204" pitchFamily="34" charset="0"/>
              <a:buChar char="•"/>
            </a:pPr>
            <a:r>
              <a:rPr lang="en-US" sz="1600" b="0" i="0" dirty="0">
                <a:solidFill>
                  <a:srgbClr val="1F2328"/>
                </a:solidFill>
                <a:effectLst/>
                <a:latin typeface="Abadi" panose="020B0604020202020204" pitchFamily="34" charset="0"/>
              </a:rPr>
              <a:t>Star schema data model in Power BI</a:t>
            </a:r>
          </a:p>
          <a:p>
            <a:pPr marL="285750" indent="-285750">
              <a:buFont typeface="Arial" panose="020B0604020202020204" pitchFamily="34" charset="0"/>
              <a:buChar char="•"/>
            </a:pPr>
            <a:r>
              <a:rPr lang="en-US" sz="1600" b="0" i="0" dirty="0">
                <a:solidFill>
                  <a:srgbClr val="1F2328"/>
                </a:solidFill>
                <a:effectLst/>
                <a:latin typeface="Abadi" panose="020B0604020202020204" pitchFamily="34" charset="0"/>
              </a:rPr>
              <a:t>Interactive dashboard with KPIs and filters</a:t>
            </a:r>
          </a:p>
          <a:p>
            <a:pPr marL="285750" indent="-285750">
              <a:buFont typeface="Arial" panose="020B0604020202020204" pitchFamily="34" charset="0"/>
              <a:buChar char="•"/>
            </a:pPr>
            <a:r>
              <a:rPr lang="en-US" sz="1600" b="0" i="0" dirty="0">
                <a:solidFill>
                  <a:srgbClr val="1F2328"/>
                </a:solidFill>
                <a:effectLst/>
                <a:latin typeface="Abadi" panose="020B0604020202020204" pitchFamily="34" charset="0"/>
              </a:rPr>
              <a:t>Documentation and presentation slides for stakeholders</a:t>
            </a:r>
          </a:p>
        </p:txBody>
      </p:sp>
      <p:sp>
        <p:nvSpPr>
          <p:cNvPr id="9" name="TextBox 8">
            <a:extLst>
              <a:ext uri="{FF2B5EF4-FFF2-40B4-BE49-F238E27FC236}">
                <a16:creationId xmlns:a16="http://schemas.microsoft.com/office/drawing/2014/main" id="{BD191E57-E405-4E6D-A5CA-3936A1254FE9}"/>
              </a:ext>
            </a:extLst>
          </p:cNvPr>
          <p:cNvSpPr txBox="1"/>
          <p:nvPr/>
        </p:nvSpPr>
        <p:spPr>
          <a:xfrm>
            <a:off x="1367161" y="2844225"/>
            <a:ext cx="7395099" cy="1538883"/>
          </a:xfrm>
          <a:prstGeom prst="rect">
            <a:avLst/>
          </a:prstGeom>
          <a:noFill/>
        </p:spPr>
        <p:txBody>
          <a:bodyPr wrap="square">
            <a:spAutoFit/>
          </a:bodyPr>
          <a:lstStyle/>
          <a:p>
            <a:endParaRPr lang="ar-EG" sz="1600" dirty="0"/>
          </a:p>
          <a:p>
            <a:r>
              <a:rPr lang="en-US" sz="1600" dirty="0"/>
              <a:t>Final Outcome</a:t>
            </a:r>
          </a:p>
          <a:p>
            <a:r>
              <a:rPr lang="en-US" sz="1600" dirty="0"/>
              <a:t>A comprehensive Power BI dashboard providing management with data-driven insights into downtime performance, root cause identification, and actionable strategies for </a:t>
            </a:r>
            <a:r>
              <a:rPr lang="en-US" sz="1600"/>
              <a:t>operational efficiency</a:t>
            </a:r>
            <a:endParaRPr lang="en-US" sz="1600" dirty="0"/>
          </a:p>
          <a:p>
            <a:endParaRPr lang="en-US" dirty="0"/>
          </a:p>
        </p:txBody>
      </p:sp>
    </p:spTree>
    <p:extLst>
      <p:ext uri="{BB962C8B-B14F-4D97-AF65-F5344CB8AC3E}">
        <p14:creationId xmlns:p14="http://schemas.microsoft.com/office/powerpoint/2010/main" val="35372300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F6F61A0-4362-42D2-84BE-F3AA20C2CAA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16</a:t>
            </a:fld>
            <a:endParaRPr lang="en-US"/>
          </a:p>
        </p:txBody>
      </p:sp>
      <p:sp>
        <p:nvSpPr>
          <p:cNvPr id="8" name="TextBox 7">
            <a:extLst>
              <a:ext uri="{FF2B5EF4-FFF2-40B4-BE49-F238E27FC236}">
                <a16:creationId xmlns:a16="http://schemas.microsoft.com/office/drawing/2014/main" id="{A3B61886-C0EF-4ADE-8B12-0EBE71792A07}"/>
              </a:ext>
            </a:extLst>
          </p:cNvPr>
          <p:cNvSpPr txBox="1"/>
          <p:nvPr/>
        </p:nvSpPr>
        <p:spPr>
          <a:xfrm>
            <a:off x="4994576" y="500394"/>
            <a:ext cx="2202847" cy="461665"/>
          </a:xfrm>
          <a:prstGeom prst="rect">
            <a:avLst/>
          </a:prstGeom>
          <a:noFill/>
        </p:spPr>
        <p:txBody>
          <a:bodyPr wrap="none" rtlCol="0">
            <a:spAutoFit/>
          </a:bodyPr>
          <a:lstStyle/>
          <a:p>
            <a:pPr algn="ctr"/>
            <a:r>
              <a:rPr lang="en-US" sz="2400" b="1">
                <a:solidFill>
                  <a:srgbClr val="047954"/>
                </a:solidFill>
              </a:rPr>
              <a:t>Project Team </a:t>
            </a:r>
            <a:endParaRPr lang="en-US" sz="2400"/>
          </a:p>
        </p:txBody>
      </p:sp>
      <p:graphicFrame>
        <p:nvGraphicFramePr>
          <p:cNvPr id="10" name="Table 9">
            <a:extLst>
              <a:ext uri="{FF2B5EF4-FFF2-40B4-BE49-F238E27FC236}">
                <a16:creationId xmlns:a16="http://schemas.microsoft.com/office/drawing/2014/main" id="{3AA79992-7A1B-C63D-18E5-EEE0988B93C9}"/>
              </a:ext>
            </a:extLst>
          </p:cNvPr>
          <p:cNvGraphicFramePr>
            <a:graphicFrameLocks noGrp="1"/>
          </p:cNvGraphicFramePr>
          <p:nvPr>
            <p:extLst>
              <p:ext uri="{D42A27DB-BD31-4B8C-83A1-F6EECF244321}">
                <p14:modId xmlns:p14="http://schemas.microsoft.com/office/powerpoint/2010/main" val="1589671529"/>
              </p:ext>
            </p:extLst>
          </p:nvPr>
        </p:nvGraphicFramePr>
        <p:xfrm>
          <a:off x="497940" y="1584357"/>
          <a:ext cx="10774378" cy="3440318"/>
        </p:xfrm>
        <a:graphic>
          <a:graphicData uri="http://schemas.openxmlformats.org/drawingml/2006/table">
            <a:tbl>
              <a:tblPr>
                <a:tableStyleId>{08FB837D-C827-4EFA-A057-4D05807E0F7C}</a:tableStyleId>
              </a:tblPr>
              <a:tblGrid>
                <a:gridCol w="5387189">
                  <a:extLst>
                    <a:ext uri="{9D8B030D-6E8A-4147-A177-3AD203B41FA5}">
                      <a16:colId xmlns:a16="http://schemas.microsoft.com/office/drawing/2014/main" val="1660784591"/>
                    </a:ext>
                  </a:extLst>
                </a:gridCol>
                <a:gridCol w="5387189">
                  <a:extLst>
                    <a:ext uri="{9D8B030D-6E8A-4147-A177-3AD203B41FA5}">
                      <a16:colId xmlns:a16="http://schemas.microsoft.com/office/drawing/2014/main" val="406054132"/>
                    </a:ext>
                  </a:extLst>
                </a:gridCol>
              </a:tblGrid>
              <a:tr h="491474">
                <a:tc>
                  <a:txBody>
                    <a:bodyPr/>
                    <a:lstStyle/>
                    <a:p>
                      <a:pPr>
                        <a:buNone/>
                      </a:pPr>
                      <a:r>
                        <a:rPr lang="en-US" b="1">
                          <a:effectLst/>
                        </a:rPr>
                        <a:t>Name</a:t>
                      </a:r>
                    </a:p>
                  </a:txBody>
                  <a:tcPr marL="123825" marR="123825" marT="57150" marB="57150" anchor="ctr"/>
                </a:tc>
                <a:tc>
                  <a:txBody>
                    <a:bodyPr/>
                    <a:lstStyle/>
                    <a:p>
                      <a:pPr>
                        <a:buNone/>
                      </a:pPr>
                      <a:r>
                        <a:rPr lang="en-US" b="1">
                          <a:effectLst/>
                        </a:rPr>
                        <a:t>Role</a:t>
                      </a:r>
                    </a:p>
                  </a:txBody>
                  <a:tcPr marL="123825" marR="123825" marT="57150" marB="57150" anchor="ctr"/>
                </a:tc>
                <a:extLst>
                  <a:ext uri="{0D108BD9-81ED-4DB2-BD59-A6C34878D82A}">
                    <a16:rowId xmlns:a16="http://schemas.microsoft.com/office/drawing/2014/main" val="1659749675"/>
                  </a:ext>
                </a:extLst>
              </a:tr>
              <a:tr h="491474">
                <a:tc>
                  <a:txBody>
                    <a:bodyPr/>
                    <a:lstStyle/>
                    <a:p>
                      <a:pPr>
                        <a:buNone/>
                      </a:pPr>
                      <a:r>
                        <a:rPr lang="en-US" b="1">
                          <a:effectLst/>
                        </a:rPr>
                        <a:t>Malek Mohammed Hamed</a:t>
                      </a:r>
                      <a:endParaRPr lang="en-US">
                        <a:effectLst/>
                      </a:endParaRPr>
                    </a:p>
                  </a:txBody>
                  <a:tcPr marL="123825" marR="123825" marT="57150" marB="57150" anchor="ctr"/>
                </a:tc>
                <a:tc>
                  <a:txBody>
                    <a:bodyPr/>
                    <a:lstStyle/>
                    <a:p>
                      <a:pPr>
                        <a:buNone/>
                      </a:pPr>
                      <a:r>
                        <a:rPr lang="en-US">
                          <a:effectLst/>
                        </a:rPr>
                        <a:t>Team Leader</a:t>
                      </a:r>
                    </a:p>
                  </a:txBody>
                  <a:tcPr marL="123825" marR="123825" marT="57150" marB="57150" anchor="ctr"/>
                </a:tc>
                <a:extLst>
                  <a:ext uri="{0D108BD9-81ED-4DB2-BD59-A6C34878D82A}">
                    <a16:rowId xmlns:a16="http://schemas.microsoft.com/office/drawing/2014/main" val="183062914"/>
                  </a:ext>
                </a:extLst>
              </a:tr>
              <a:tr h="491474">
                <a:tc>
                  <a:txBody>
                    <a:bodyPr/>
                    <a:lstStyle/>
                    <a:p>
                      <a:pPr>
                        <a:buNone/>
                      </a:pPr>
                      <a:r>
                        <a:rPr lang="en-US" b="1">
                          <a:effectLst/>
                        </a:rPr>
                        <a:t>Azza Amen Mohamed Amen</a:t>
                      </a:r>
                      <a:endParaRPr lang="en-US">
                        <a:effectLst/>
                      </a:endParaRPr>
                    </a:p>
                  </a:txBody>
                  <a:tcPr marL="123825" marR="123825" marT="57150" marB="57150" anchor="ctr"/>
                </a:tc>
                <a:tc>
                  <a:txBody>
                    <a:bodyPr/>
                    <a:lstStyle/>
                    <a:p>
                      <a:pPr>
                        <a:buNone/>
                      </a:pPr>
                      <a:r>
                        <a:rPr lang="en-US">
                          <a:effectLst/>
                        </a:rPr>
                        <a:t>Data Engineering &amp; Visualization</a:t>
                      </a:r>
                    </a:p>
                  </a:txBody>
                  <a:tcPr marL="123825" marR="123825" marT="57150" marB="57150" anchor="ctr"/>
                </a:tc>
                <a:extLst>
                  <a:ext uri="{0D108BD9-81ED-4DB2-BD59-A6C34878D82A}">
                    <a16:rowId xmlns:a16="http://schemas.microsoft.com/office/drawing/2014/main" val="429785905"/>
                  </a:ext>
                </a:extLst>
              </a:tr>
              <a:tr h="491474">
                <a:tc>
                  <a:txBody>
                    <a:bodyPr/>
                    <a:lstStyle/>
                    <a:p>
                      <a:pPr>
                        <a:buNone/>
                      </a:pPr>
                      <a:r>
                        <a:rPr lang="en-US" b="1">
                          <a:effectLst/>
                        </a:rPr>
                        <a:t>Rana Wagih Hussein</a:t>
                      </a:r>
                      <a:endParaRPr lang="en-US">
                        <a:effectLst/>
                      </a:endParaRPr>
                    </a:p>
                  </a:txBody>
                  <a:tcPr marL="123825" marR="123825" marT="57150" marB="57150" anchor="ctr"/>
                </a:tc>
                <a:tc>
                  <a:txBody>
                    <a:bodyPr/>
                    <a:lstStyle/>
                    <a:p>
                      <a:pPr>
                        <a:buNone/>
                      </a:pPr>
                      <a:r>
                        <a:rPr lang="en-US">
                          <a:effectLst/>
                        </a:rPr>
                        <a:t>Data Analysis</a:t>
                      </a:r>
                    </a:p>
                  </a:txBody>
                  <a:tcPr marL="123825" marR="123825" marT="57150" marB="57150" anchor="ctr"/>
                </a:tc>
                <a:extLst>
                  <a:ext uri="{0D108BD9-81ED-4DB2-BD59-A6C34878D82A}">
                    <a16:rowId xmlns:a16="http://schemas.microsoft.com/office/drawing/2014/main" val="1361430080"/>
                  </a:ext>
                </a:extLst>
              </a:tr>
              <a:tr h="491474">
                <a:tc>
                  <a:txBody>
                    <a:bodyPr/>
                    <a:lstStyle/>
                    <a:p>
                      <a:pPr>
                        <a:buNone/>
                      </a:pPr>
                      <a:r>
                        <a:rPr lang="en-US" b="1">
                          <a:effectLst/>
                        </a:rPr>
                        <a:t>Islam Mohamed Yassein</a:t>
                      </a:r>
                      <a:endParaRPr lang="en-US">
                        <a:effectLst/>
                      </a:endParaRPr>
                    </a:p>
                  </a:txBody>
                  <a:tcPr marL="123825" marR="123825" marT="57150" marB="57150" anchor="ctr"/>
                </a:tc>
                <a:tc>
                  <a:txBody>
                    <a:bodyPr/>
                    <a:lstStyle/>
                    <a:p>
                      <a:pPr>
                        <a:buNone/>
                      </a:pPr>
                      <a:r>
                        <a:rPr lang="en-US">
                          <a:effectLst/>
                        </a:rPr>
                        <a:t>Business Insights &amp; Visualization</a:t>
                      </a:r>
                    </a:p>
                  </a:txBody>
                  <a:tcPr marL="123825" marR="123825" marT="57150" marB="57150" anchor="ctr"/>
                </a:tc>
                <a:extLst>
                  <a:ext uri="{0D108BD9-81ED-4DB2-BD59-A6C34878D82A}">
                    <a16:rowId xmlns:a16="http://schemas.microsoft.com/office/drawing/2014/main" val="2973147249"/>
                  </a:ext>
                </a:extLst>
              </a:tr>
              <a:tr h="491474">
                <a:tc>
                  <a:txBody>
                    <a:bodyPr/>
                    <a:lstStyle/>
                    <a:p>
                      <a:pPr>
                        <a:buNone/>
                      </a:pPr>
                      <a:r>
                        <a:rPr lang="en-US" b="1">
                          <a:effectLst/>
                        </a:rPr>
                        <a:t>Mahmoud Elaraby Mohamed</a:t>
                      </a:r>
                      <a:endParaRPr lang="en-US">
                        <a:effectLst/>
                      </a:endParaRPr>
                    </a:p>
                  </a:txBody>
                  <a:tcPr marL="123825" marR="123825" marT="57150" marB="57150" anchor="ctr"/>
                </a:tc>
                <a:tc>
                  <a:txBody>
                    <a:bodyPr/>
                    <a:lstStyle/>
                    <a:p>
                      <a:pPr>
                        <a:buNone/>
                      </a:pPr>
                      <a:r>
                        <a:rPr lang="en-US">
                          <a:effectLst/>
                        </a:rPr>
                        <a:t>Data Engineering &amp; Project Support</a:t>
                      </a:r>
                    </a:p>
                  </a:txBody>
                  <a:tcPr marL="123825" marR="123825" marT="57150" marB="57150" anchor="ctr"/>
                </a:tc>
                <a:extLst>
                  <a:ext uri="{0D108BD9-81ED-4DB2-BD59-A6C34878D82A}">
                    <a16:rowId xmlns:a16="http://schemas.microsoft.com/office/drawing/2014/main" val="1831990487"/>
                  </a:ext>
                </a:extLst>
              </a:tr>
              <a:tr h="491474">
                <a:tc>
                  <a:txBody>
                    <a:bodyPr/>
                    <a:lstStyle/>
                    <a:p>
                      <a:pPr>
                        <a:buNone/>
                      </a:pPr>
                      <a:r>
                        <a:rPr lang="en-US" b="1">
                          <a:effectLst/>
                        </a:rPr>
                        <a:t>Nada Abdullah Abdullah</a:t>
                      </a:r>
                      <a:endParaRPr lang="en-US">
                        <a:effectLst/>
                      </a:endParaRPr>
                    </a:p>
                  </a:txBody>
                  <a:tcPr marL="123825" marR="123825" marT="57150" marB="57150" anchor="ctr"/>
                </a:tc>
                <a:tc>
                  <a:txBody>
                    <a:bodyPr/>
                    <a:lstStyle/>
                    <a:p>
                      <a:pPr>
                        <a:buNone/>
                      </a:pPr>
                      <a:r>
                        <a:rPr lang="en-US" dirty="0">
                          <a:effectLst/>
                        </a:rPr>
                        <a:t>Visualization Support</a:t>
                      </a:r>
                    </a:p>
                  </a:txBody>
                  <a:tcPr marL="123825" marR="123825" marT="57150" marB="57150" anchor="ctr"/>
                </a:tc>
                <a:extLst>
                  <a:ext uri="{0D108BD9-81ED-4DB2-BD59-A6C34878D82A}">
                    <a16:rowId xmlns:a16="http://schemas.microsoft.com/office/drawing/2014/main" val="2623115940"/>
                  </a:ext>
                </a:extLst>
              </a:tr>
            </a:tbl>
          </a:graphicData>
        </a:graphic>
      </p:graphicFrame>
      <p:sp>
        <p:nvSpPr>
          <p:cNvPr id="15" name="TextBox 14">
            <a:extLst>
              <a:ext uri="{FF2B5EF4-FFF2-40B4-BE49-F238E27FC236}">
                <a16:creationId xmlns:a16="http://schemas.microsoft.com/office/drawing/2014/main" id="{479BE05C-14DD-2368-8316-3E3700A4540D}"/>
              </a:ext>
            </a:extLst>
          </p:cNvPr>
          <p:cNvSpPr txBox="1"/>
          <p:nvPr/>
        </p:nvSpPr>
        <p:spPr>
          <a:xfrm>
            <a:off x="568106" y="5273643"/>
            <a:ext cx="1577565" cy="677108"/>
          </a:xfrm>
          <a:prstGeom prst="rect">
            <a:avLst/>
          </a:prstGeom>
          <a:noFill/>
        </p:spPr>
        <p:txBody>
          <a:bodyPr wrap="square">
            <a:spAutoFit/>
          </a:bodyPr>
          <a:lstStyle/>
          <a:p>
            <a:pPr algn="l">
              <a:spcBef>
                <a:spcPts val="1800"/>
              </a:spcBef>
              <a:spcAft>
                <a:spcPts val="1200"/>
              </a:spcAft>
              <a:buNone/>
            </a:pPr>
            <a:r>
              <a:rPr lang="en-US" b="1" i="0" dirty="0">
                <a:solidFill>
                  <a:schemeClr val="tx1"/>
                </a:solidFill>
                <a:effectLst/>
                <a:latin typeface="+mj-lt"/>
              </a:rPr>
              <a:t>Instructor</a:t>
            </a:r>
          </a:p>
          <a:p>
            <a:pPr algn="l">
              <a:spcAft>
                <a:spcPts val="1200"/>
              </a:spcAft>
              <a:buNone/>
            </a:pPr>
            <a:r>
              <a:rPr lang="en-US" b="1" i="0" dirty="0">
                <a:solidFill>
                  <a:schemeClr val="tx1"/>
                </a:solidFill>
                <a:effectLst/>
                <a:latin typeface="+mj-lt"/>
              </a:rPr>
              <a:t>Kareem Bakli</a:t>
            </a:r>
            <a:endParaRPr lang="en-US" b="0" i="0" dirty="0">
              <a:solidFill>
                <a:schemeClr val="tx1"/>
              </a:solidFill>
              <a:effectLst/>
              <a:latin typeface="+mj-lt"/>
            </a:endParaRPr>
          </a:p>
        </p:txBody>
      </p:sp>
    </p:spTree>
    <p:extLst>
      <p:ext uri="{BB962C8B-B14F-4D97-AF65-F5344CB8AC3E}">
        <p14:creationId xmlns:p14="http://schemas.microsoft.com/office/powerpoint/2010/main" val="171151251"/>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BBD465C-E5CE-4C48-AA52-1C3BF953C05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17</a:t>
            </a:fld>
            <a:endParaRPr lang="en-US"/>
          </a:p>
        </p:txBody>
      </p:sp>
      <p:sp>
        <p:nvSpPr>
          <p:cNvPr id="3" name="TextBox 2">
            <a:extLst>
              <a:ext uri="{FF2B5EF4-FFF2-40B4-BE49-F238E27FC236}">
                <a16:creationId xmlns:a16="http://schemas.microsoft.com/office/drawing/2014/main" id="{E973B28E-63E2-4103-9B51-A7EDEC6D5548}"/>
              </a:ext>
            </a:extLst>
          </p:cNvPr>
          <p:cNvSpPr txBox="1"/>
          <p:nvPr/>
        </p:nvSpPr>
        <p:spPr>
          <a:xfrm>
            <a:off x="3522065" y="3047157"/>
            <a:ext cx="4702445" cy="1569660"/>
          </a:xfrm>
          <a:prstGeom prst="rect">
            <a:avLst/>
          </a:prstGeom>
          <a:noFill/>
        </p:spPr>
        <p:txBody>
          <a:bodyPr wrap="square" rtlCol="0">
            <a:spAutoFit/>
          </a:bodyPr>
          <a:lstStyle/>
          <a:p>
            <a:pPr algn="ctr"/>
            <a:r>
              <a:rPr lang="en-US" sz="4800" dirty="0">
                <a:solidFill>
                  <a:srgbClr val="047954"/>
                </a:solidFill>
                <a:latin typeface="Arial Rounded MT Bold" panose="020F0704030504030204" pitchFamily="34" charset="0"/>
              </a:rPr>
              <a:t>Thank You for Your Attention</a:t>
            </a:r>
          </a:p>
        </p:txBody>
      </p:sp>
    </p:spTree>
    <p:extLst>
      <p:ext uri="{BB962C8B-B14F-4D97-AF65-F5344CB8AC3E}">
        <p14:creationId xmlns:p14="http://schemas.microsoft.com/office/powerpoint/2010/main" val="165850708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1917</TotalTime>
  <Words>1028</Words>
  <Application>Microsoft Office PowerPoint</Application>
  <PresentationFormat>Widescreen</PresentationFormat>
  <Paragraphs>141</Paragraphs>
  <Slides>17</Slides>
  <Notes>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Calibri</vt:lpstr>
      <vt:lpstr>Caveat SemiBold</vt:lpstr>
      <vt:lpstr>Arial</vt:lpstr>
      <vt:lpstr>Constantia</vt:lpstr>
      <vt:lpstr>Abadi</vt:lpstr>
      <vt:lpstr>Arial Rounded MT Bold</vt:lpstr>
      <vt:lpstr>Times New Roman</vt:lpstr>
      <vt:lpstr>Office Theme</vt:lpstr>
      <vt:lpstr>PowerPoint Presentation</vt:lpstr>
      <vt:lpstr>PowerPoint Presentation</vt:lpstr>
      <vt:lpstr>PowerPoint Presentation</vt:lpstr>
      <vt:lpstr>Proposed Solution: To address the recurring downtime issues identified in our analysis, we propose the following data-driven solution: Data Analysis and Monitoring: Conduct comprehensive data analysis to pinpoint the primary downtime causes, focusing on product lines, products, and specific operational processes. Leverage historical data to identify patterns and predict potential downtime events.</vt:lpstr>
      <vt:lpstr>PowerPoint Presentation</vt:lpstr>
      <vt:lpstr>PowerPoint Presentation</vt:lpstr>
      <vt:lpstr>PowerPoint Presentation</vt:lpstr>
      <vt:lpstr>Database Design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SAMA</dc:creator>
  <cp:lastModifiedBy>Malek hamed hafez hamed</cp:lastModifiedBy>
  <cp:revision>9</cp:revision>
  <dcterms:created xsi:type="dcterms:W3CDTF">2024-03-14T10:03:54Z</dcterms:created>
  <dcterms:modified xsi:type="dcterms:W3CDTF">2025-11-21T15:17:51Z</dcterms:modified>
</cp:coreProperties>
</file>