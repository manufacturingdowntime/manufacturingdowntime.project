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76" r:id="rId3"/>
    <p:sldId id="285" r:id="rId4"/>
    <p:sldId id="281" r:id="rId5"/>
    <p:sldId id="282" r:id="rId6"/>
    <p:sldId id="272" r:id="rId7"/>
    <p:sldId id="284" r:id="rId8"/>
    <p:sldId id="271" r:id="rId9"/>
    <p:sldId id="289" r:id="rId10"/>
    <p:sldId id="290" r:id="rId11"/>
    <p:sldId id="291" r:id="rId12"/>
    <p:sldId id="278" r:id="rId13"/>
    <p:sldId id="279" r:id="rId14"/>
    <p:sldId id="280" r:id="rId15"/>
    <p:sldId id="286" r:id="rId16"/>
    <p:sldId id="287" r:id="rId17"/>
    <p:sldId id="292" r:id="rId18"/>
    <p:sldId id="275" r:id="rId19"/>
    <p:sldId id="277" r:id="rId20"/>
  </p:sldIdLst>
  <p:sldSz cx="12192000" cy="6858000"/>
  <p:notesSz cx="6858000" cy="9144000"/>
  <p:embeddedFontLst>
    <p:embeddedFont>
      <p:font typeface="Abadi" panose="020B0604020104020204" pitchFamily="34" charset="0"/>
      <p:regular r:id="rId22"/>
    </p:embeddedFont>
    <p:embeddedFont>
      <p:font typeface="Arial Rounded MT Bold" panose="020F0704030504030204" pitchFamily="34" charset="0"/>
      <p:regular r:id="rId23"/>
    </p:embeddedFont>
    <p:embeddedFont>
      <p:font typeface="Caveat SemiBold" panose="020B0604020202020204" charset="0"/>
      <p:regular r:id="rId24"/>
      <p:bold r:id="rId25"/>
    </p:embeddedFont>
    <p:embeddedFont>
      <p:font typeface="Constantia" panose="02030602050306030303" pitchFamily="18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+pFHUbAQgkysDrKIyvjBG1gnm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7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256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df671e9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4df671e9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82AAAC7B-A08F-3780-02F9-2E84FAB9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>
            <a:extLst>
              <a:ext uri="{FF2B5EF4-FFF2-40B4-BE49-F238E27FC236}">
                <a16:creationId xmlns:a16="http://schemas.microsoft.com/office/drawing/2014/main" id="{3E5D5531-ED65-1D28-671E-BAB462873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>
            <a:extLst>
              <a:ext uri="{FF2B5EF4-FFF2-40B4-BE49-F238E27FC236}">
                <a16:creationId xmlns:a16="http://schemas.microsoft.com/office/drawing/2014/main" id="{DA951AB1-CCAD-20FD-09B1-4FAA487F6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4289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95E2C72-9C20-ACE8-61EF-97531022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>
            <a:extLst>
              <a:ext uri="{FF2B5EF4-FFF2-40B4-BE49-F238E27FC236}">
                <a16:creationId xmlns:a16="http://schemas.microsoft.com/office/drawing/2014/main" id="{0E602DCC-6103-55DB-2FD5-35F9FD3BB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>
            <a:extLst>
              <a:ext uri="{FF2B5EF4-FFF2-40B4-BE49-F238E27FC236}">
                <a16:creationId xmlns:a16="http://schemas.microsoft.com/office/drawing/2014/main" id="{CB70A7F8-78B6-7EB5-8306-42E8C185D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1153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193E18F-8204-7F61-0954-D01975F4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>
            <a:extLst>
              <a:ext uri="{FF2B5EF4-FFF2-40B4-BE49-F238E27FC236}">
                <a16:creationId xmlns:a16="http://schemas.microsoft.com/office/drawing/2014/main" id="{8704196A-51A2-46A2-3FE4-C3785245A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7" name="Google Shape;187;p6:notes">
            <a:extLst>
              <a:ext uri="{FF2B5EF4-FFF2-40B4-BE49-F238E27FC236}">
                <a16:creationId xmlns:a16="http://schemas.microsoft.com/office/drawing/2014/main" id="{407D27F3-D5D9-6C34-2968-E0807FF88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528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7563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75CE581-0905-B6D8-F3F0-877FE0AB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>
            <a:extLst>
              <a:ext uri="{FF2B5EF4-FFF2-40B4-BE49-F238E27FC236}">
                <a16:creationId xmlns:a16="http://schemas.microsoft.com/office/drawing/2014/main" id="{63784C48-EADA-3410-DBA3-E8611DCED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>
            <a:extLst>
              <a:ext uri="{FF2B5EF4-FFF2-40B4-BE49-F238E27FC236}">
                <a16:creationId xmlns:a16="http://schemas.microsoft.com/office/drawing/2014/main" id="{4F18C658-2AB7-170D-F6AE-2E7AAC1AB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750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df671e9f6_0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17" name="Google Shape;117;g34df671e9f6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18" name="Google Shape;118;g34df671e9f6_0_0"/>
          <p:cNvSpPr txBox="1"/>
          <p:nvPr/>
        </p:nvSpPr>
        <p:spPr>
          <a:xfrm>
            <a:off x="3725400" y="825731"/>
            <a:ext cx="4741200" cy="27637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accent6">
                <a:lumMod val="40000"/>
                <a:lumOff val="6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  <a:scene3d>
              <a:camera prst="orthographicFront"/>
              <a:lightRig rig="threePt" dir="t"/>
            </a:scene3d>
            <a:sp3d prstMaterial="clear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3800" b="1">
                <a:solidFill>
                  <a:srgbClr val="0D0D0D"/>
                </a:solidFill>
              </a:rPr>
              <a:t>                </a:t>
            </a:r>
            <a:r>
              <a:rPr lang="en-US" sz="4400" b="1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accent6">
                      <a:lumMod val="50000"/>
                      <a:alpha val="29000"/>
                    </a:schemeClr>
                  </a:glow>
                  <a:outerShdw blurRad="50800" dist="50800" dir="5400000" sx="1000" sy="1000" algn="ctr" rotWithShape="0">
                    <a:srgbClr val="000000">
                      <a:alpha val="98000"/>
                    </a:srgbClr>
                  </a:outerShdw>
                </a:effectLst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Manufacturing Downtime 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4400" b="1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accent6">
                      <a:lumMod val="50000"/>
                      <a:alpha val="29000"/>
                    </a:schemeClr>
                  </a:glow>
                  <a:outerShdw blurRad="50800" dist="50800" dir="5400000" sx="1000" sy="1000" algn="ctr" rotWithShape="0">
                    <a:srgbClr val="000000">
                      <a:alpha val="98000"/>
                    </a:srgbClr>
                  </a:outerShdw>
                </a:effectLst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Project</a:t>
            </a:r>
            <a:r>
              <a:rPr lang="en-US" sz="3300" b="1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accent6">
                      <a:lumMod val="50000"/>
                      <a:alpha val="29000"/>
                    </a:schemeClr>
                  </a:glow>
                  <a:outerShdw blurRad="50800" dist="50800" dir="5400000" sx="1000" sy="1000" algn="ctr" rotWithShape="0">
                    <a:srgbClr val="000000">
                      <a:alpha val="98000"/>
                    </a:srgbClr>
                  </a:outerShdw>
                </a:effectLst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                                       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effectLst>
                  <a:glow rad="101600">
                    <a:schemeClr val="accent6">
                      <a:lumMod val="50000"/>
                      <a:alpha val="29000"/>
                    </a:schemeClr>
                  </a:glow>
                  <a:outerShdw blurRad="50800" dist="50800" dir="5400000" sx="1000" sy="1000" algn="ctr" rotWithShape="0">
                    <a:srgbClr val="000000">
                      <a:alpha val="98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7B119"/>
                </a:solidFill>
                <a:effectLst>
                  <a:glow rad="101600">
                    <a:schemeClr val="accent6">
                      <a:lumMod val="50000"/>
                      <a:alpha val="29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endParaRPr sz="1400" b="0" i="0" u="none" strike="noStrike" cap="none">
              <a:solidFill>
                <a:srgbClr val="D7B119"/>
              </a:solidFill>
              <a:effectLst>
                <a:glow rad="101600">
                  <a:schemeClr val="accent6">
                    <a:lumMod val="50000"/>
                    <a:alpha val="29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 sz="2800" i="0" u="none" strike="noStrike" cap="none">
              <a:solidFill>
                <a:schemeClr val="dk1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21" name="Google Shape;121;g34df671e9f6_0_0"/>
          <p:cNvSpPr txBox="1"/>
          <p:nvPr/>
        </p:nvSpPr>
        <p:spPr>
          <a:xfrm>
            <a:off x="4830050" y="1668775"/>
            <a:ext cx="2743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0D0D0D"/>
              </a:solidFill>
              <a:effectLst>
                <a:glow rad="1066800">
                  <a:schemeClr val="accent4">
                    <a:satMod val="175000"/>
                    <a:alpha val="40000"/>
                  </a:schemeClr>
                </a:glow>
              </a:effectLs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34df671e9f6_0_0"/>
          <p:cNvSpPr txBox="1"/>
          <p:nvPr/>
        </p:nvSpPr>
        <p:spPr>
          <a:xfrm>
            <a:off x="5307200" y="2254013"/>
            <a:ext cx="1788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4df671e9f6_0_0"/>
          <p:cNvSpPr txBox="1"/>
          <p:nvPr/>
        </p:nvSpPr>
        <p:spPr>
          <a:xfrm>
            <a:off x="292062" y="2274026"/>
            <a:ext cx="253998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38761D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presented by</a:t>
            </a:r>
            <a:r>
              <a:rPr lang="en-US" sz="2800" dirty="0">
                <a:solidFill>
                  <a:srgbClr val="38761D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:</a:t>
            </a:r>
            <a:endParaRPr sz="2800" dirty="0">
              <a:solidFill>
                <a:srgbClr val="38761D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25" name="Google Shape;125;g34df671e9f6_0_0"/>
          <p:cNvSpPr txBox="1"/>
          <p:nvPr/>
        </p:nvSpPr>
        <p:spPr>
          <a:xfrm>
            <a:off x="89489" y="2889549"/>
            <a:ext cx="4629349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Malek Mohammed Hamed	</a:t>
            </a: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Azza Amen Mohamed Amen </a:t>
            </a: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Rana Wagih Hussein	</a:t>
            </a: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Islam Mohamed </a:t>
            </a:r>
            <a:r>
              <a:rPr lang="en-US" sz="2000" dirty="0" err="1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Yassein</a:t>
            </a: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	</a:t>
            </a: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Mahmoud Elaraby Mohamed	</a:t>
            </a: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Nada Abdullah </a:t>
            </a:r>
            <a:r>
              <a:rPr lang="en-US" sz="2000" dirty="0" err="1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Abdullah</a:t>
            </a:r>
            <a:endParaRPr sz="2000" dirty="0">
              <a:solidFill>
                <a:schemeClr val="dk1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71E615-C4C0-4067-810C-1ACD3A80A816}"/>
              </a:ext>
            </a:extLst>
          </p:cNvPr>
          <p:cNvSpPr/>
          <p:nvPr/>
        </p:nvSpPr>
        <p:spPr>
          <a:xfrm rot="2960464">
            <a:off x="6478036" y="2493109"/>
            <a:ext cx="1785415" cy="6884674"/>
          </a:xfrm>
          <a:prstGeom prst="roundRect">
            <a:avLst>
              <a:gd name="adj" fmla="val 50000"/>
            </a:avLst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22E121D-BC39-4F7B-BC64-97C617F6A596}"/>
              </a:ext>
            </a:extLst>
          </p:cNvPr>
          <p:cNvSpPr/>
          <p:nvPr/>
        </p:nvSpPr>
        <p:spPr>
          <a:xfrm rot="2996901">
            <a:off x="11406514" y="-1045262"/>
            <a:ext cx="1785415" cy="5626738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  <a:alpha val="78000"/>
            </a:schemeClr>
          </a:solidFill>
          <a:ln>
            <a:noFill/>
          </a:ln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151C12-AC6F-43C9-A3E9-10D63DADC56A}"/>
              </a:ext>
            </a:extLst>
          </p:cNvPr>
          <p:cNvSpPr/>
          <p:nvPr/>
        </p:nvSpPr>
        <p:spPr>
          <a:xfrm rot="2996901">
            <a:off x="11299292" y="1482450"/>
            <a:ext cx="1785415" cy="5626738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  <a:alpha val="78000"/>
            </a:schemeClr>
          </a:solidFill>
          <a:ln>
            <a:noFill/>
          </a:ln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6C866-F090-487E-90E5-62EFAEF7C0E0}"/>
              </a:ext>
            </a:extLst>
          </p:cNvPr>
          <p:cNvSpPr txBox="1"/>
          <p:nvPr/>
        </p:nvSpPr>
        <p:spPr>
          <a:xfrm>
            <a:off x="143918" y="4981339"/>
            <a:ext cx="452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Data Source:</a:t>
            </a:r>
            <a:br>
              <a:rPr lang="en-US" sz="200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800" dirty="0"/>
              <a:t>Real factory logs provided by DEPI  improved by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F61A0-4362-42D2-84BE-F3AA20C2CA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61886-C0EF-4ADE-8B12-0EBE71792A07}"/>
              </a:ext>
            </a:extLst>
          </p:cNvPr>
          <p:cNvSpPr txBox="1"/>
          <p:nvPr/>
        </p:nvSpPr>
        <p:spPr>
          <a:xfrm>
            <a:off x="4994576" y="500394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047954"/>
                </a:solidFill>
              </a:rPr>
              <a:t>Project Team </a:t>
            </a:r>
            <a:endParaRPr lang="en-US" sz="2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A79992-7A1B-C63D-18E5-EEE0988B9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22625"/>
              </p:ext>
            </p:extLst>
          </p:nvPr>
        </p:nvGraphicFramePr>
        <p:xfrm>
          <a:off x="497940" y="1584357"/>
          <a:ext cx="10774378" cy="344031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387189">
                  <a:extLst>
                    <a:ext uri="{9D8B030D-6E8A-4147-A177-3AD203B41FA5}">
                      <a16:colId xmlns:a16="http://schemas.microsoft.com/office/drawing/2014/main" val="1660784591"/>
                    </a:ext>
                  </a:extLst>
                </a:gridCol>
                <a:gridCol w="5387189">
                  <a:extLst>
                    <a:ext uri="{9D8B030D-6E8A-4147-A177-3AD203B41FA5}">
                      <a16:colId xmlns:a16="http://schemas.microsoft.com/office/drawing/2014/main" val="406054132"/>
                    </a:ext>
                  </a:extLst>
                </a:gridCol>
              </a:tblGrid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Role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59749675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Malek Mohammed Hamed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Team Leader ( data analysis &amp; visualization) 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3062914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Azza Amen Mohamed Amen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Data cleaning &amp; Visualization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9785905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Rana Wagih Hussein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Data modeling 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61430080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Islam Mohamed Yassein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Business Insights &amp; Visualization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73147249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Mahmoud Elaraby Mohamed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Data Engineering &amp; Project Support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31990487"/>
                  </a:ext>
                </a:extLst>
              </a:tr>
              <a:tr h="49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Nada Abdullah Abdullah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Visualization Support &amp; analysis 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2311594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79BE05C-14DD-2368-8316-3E3700A4540D}"/>
              </a:ext>
            </a:extLst>
          </p:cNvPr>
          <p:cNvSpPr txBox="1"/>
          <p:nvPr/>
        </p:nvSpPr>
        <p:spPr>
          <a:xfrm>
            <a:off x="568106" y="5273643"/>
            <a:ext cx="157756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j-lt"/>
              </a:rPr>
              <a:t>Instructor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j-lt"/>
              </a:rPr>
              <a:t>Kareem Bakli</a:t>
            </a:r>
            <a:endParaRPr lang="en-US" b="0" i="0" dirty="0"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15125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7EE81-9E80-443E-B91B-235ADFEF1495}"/>
              </a:ext>
            </a:extLst>
          </p:cNvPr>
          <p:cNvSpPr txBox="1"/>
          <p:nvPr/>
        </p:nvSpPr>
        <p:spPr>
          <a:xfrm>
            <a:off x="1735810" y="464949"/>
            <a:ext cx="3510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CC6FE-E0AB-49A9-BC0C-E4A492EB4062}"/>
              </a:ext>
            </a:extLst>
          </p:cNvPr>
          <p:cNvSpPr txBox="1"/>
          <p:nvPr/>
        </p:nvSpPr>
        <p:spPr>
          <a:xfrm>
            <a:off x="218267" y="1744566"/>
            <a:ext cx="860099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project focuses on analyzing downtime across manufacturing lines to identify performance bottlenecks, reveal key factors influencing interruptions, and enhance decision‑making through Power BI dashboards.</a:t>
            </a:r>
          </a:p>
          <a:p>
            <a:r>
              <a:rPr lang="en-US" sz="1800" b="1" dirty="0"/>
              <a:t>Objectives</a:t>
            </a:r>
          </a:p>
          <a:p>
            <a:r>
              <a:rPr lang="en-US" sz="1800" dirty="0"/>
              <a:t>Analyze downtime patterns across lines, operators, and products.</a:t>
            </a:r>
          </a:p>
          <a:p>
            <a:r>
              <a:rPr lang="en-US" sz="1800" dirty="0"/>
              <a:t>Identify top downtime causes and quantify their impact on production.</a:t>
            </a:r>
          </a:p>
          <a:p>
            <a:r>
              <a:rPr lang="en-US" sz="1800" dirty="0"/>
              <a:t>Develop interactive dashboards in Power BI for management insights.</a:t>
            </a:r>
          </a:p>
          <a:p>
            <a:r>
              <a:rPr lang="en-US" sz="1800" dirty="0"/>
              <a:t>Support process improvement through data‑driven visualization and KPIs.</a:t>
            </a:r>
          </a:p>
          <a:p>
            <a:r>
              <a:rPr lang="en-US" sz="1800" b="1" dirty="0"/>
              <a:t>Scope</a:t>
            </a:r>
          </a:p>
          <a:p>
            <a:r>
              <a:rPr lang="en-US" sz="1800" dirty="0"/>
              <a:t>Covers all recorded downtime events across lines, operators, products, and contributing factors, including temporal trends </a:t>
            </a:r>
          </a:p>
          <a:p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A85368A-91B0-A5F1-B089-EBD64C82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>
            <a:extLst>
              <a:ext uri="{FF2B5EF4-FFF2-40B4-BE49-F238E27FC236}">
                <a16:creationId xmlns:a16="http://schemas.microsoft.com/office/drawing/2014/main" id="{72A64F7B-43C5-F5F5-88A9-B38192912F2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>
            <a:extLst>
              <a:ext uri="{FF2B5EF4-FFF2-40B4-BE49-F238E27FC236}">
                <a16:creationId xmlns:a16="http://schemas.microsoft.com/office/drawing/2014/main" id="{EFB0F399-2E51-1A68-E17B-E04F59F544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84281-55B9-688F-E906-3D689328E052}"/>
              </a:ext>
            </a:extLst>
          </p:cNvPr>
          <p:cNvSpPr txBox="1"/>
          <p:nvPr/>
        </p:nvSpPr>
        <p:spPr>
          <a:xfrm>
            <a:off x="1735810" y="464949"/>
            <a:ext cx="3600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4F4A4-84A5-A14F-7647-C595C230C437}"/>
              </a:ext>
            </a:extLst>
          </p:cNvPr>
          <p:cNvSpPr txBox="1"/>
          <p:nvPr/>
        </p:nvSpPr>
        <p:spPr>
          <a:xfrm>
            <a:off x="218267" y="1744567"/>
            <a:ext cx="11379221" cy="4447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Downtime Analysis in Manufacturing Systems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/>
              <a:t>Downtime analysis is a cornerstone of productivity optimization in modern manufacturing. Research shows that </a:t>
            </a:r>
            <a:r>
              <a:rPr lang="en-US" sz="1600" b="1" dirty="0"/>
              <a:t>accurately recording, categorizing, and analyzing downtime events</a:t>
            </a:r>
            <a:r>
              <a:rPr lang="en-US" sz="1600" dirty="0"/>
              <a:t> enables organizations to identify inefficiencies and prioritize improvement actions. For example, studies highlight the importance of breaking downtime into dimensions such as </a:t>
            </a:r>
            <a:r>
              <a:rPr lang="en-US" sz="1600" b="1" dirty="0"/>
              <a:t>machine, line, shift, and operator</a:t>
            </a:r>
            <a:r>
              <a:rPr lang="en-US" sz="1600" dirty="0"/>
              <a:t> to isolate recurring patterns and understand operational bottlenecks.</a:t>
            </a:r>
            <a:br>
              <a:rPr lang="en-US" sz="1600" dirty="0"/>
            </a:br>
            <a:r>
              <a:rPr lang="en-US" sz="1600" dirty="0"/>
              <a:t>In relation to this project, the </a:t>
            </a:r>
            <a:r>
              <a:rPr lang="en-US" sz="1600" b="1" dirty="0"/>
              <a:t>dataset includes detailed downtime logs</a:t>
            </a:r>
            <a:r>
              <a:rPr lang="en-US" sz="1600" dirty="0"/>
              <a:t> (machine ID, line, shift, operator, and reason), providing a structured foundation to perform this type of multi-dimensional analysis. By aggregating downtime duration and frequency, and computing metrics, the project aligns with proven analytical frameworks used in industrial performance studies.</a:t>
            </a:r>
          </a:p>
        </p:txBody>
      </p:sp>
    </p:spTree>
    <p:extLst>
      <p:ext uri="{BB962C8B-B14F-4D97-AF65-F5344CB8AC3E}">
        <p14:creationId xmlns:p14="http://schemas.microsoft.com/office/powerpoint/2010/main" val="38702913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B3317E3A-03EF-E4C5-319A-233FAE35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>
            <a:extLst>
              <a:ext uri="{FF2B5EF4-FFF2-40B4-BE49-F238E27FC236}">
                <a16:creationId xmlns:a16="http://schemas.microsoft.com/office/drawing/2014/main" id="{DE3795AE-FB14-570B-B5CB-F4D2CAE1D8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>
            <a:extLst>
              <a:ext uri="{FF2B5EF4-FFF2-40B4-BE49-F238E27FC236}">
                <a16:creationId xmlns:a16="http://schemas.microsoft.com/office/drawing/2014/main" id="{AF137ADC-5D7B-ACAA-5506-FD013C2ECF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D1B3BF-9257-EC1E-B941-476983D7B1DA}"/>
              </a:ext>
            </a:extLst>
          </p:cNvPr>
          <p:cNvSpPr txBox="1"/>
          <p:nvPr/>
        </p:nvSpPr>
        <p:spPr>
          <a:xfrm>
            <a:off x="4836539" y="320758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Project Plan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3E28B5-63A7-48F2-9F20-F0079AF42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721100"/>
              </p:ext>
            </p:extLst>
          </p:nvPr>
        </p:nvGraphicFramePr>
        <p:xfrm>
          <a:off x="1045029" y="1074198"/>
          <a:ext cx="10234385" cy="5139988"/>
        </p:xfrm>
        <a:graphic>
          <a:graphicData uri="http://schemas.openxmlformats.org/drawingml/2006/table">
            <a:tbl>
              <a:tblPr/>
              <a:tblGrid>
                <a:gridCol w="2509805">
                  <a:extLst>
                    <a:ext uri="{9D8B030D-6E8A-4147-A177-3AD203B41FA5}">
                      <a16:colId xmlns:a16="http://schemas.microsoft.com/office/drawing/2014/main" val="3554802597"/>
                    </a:ext>
                  </a:extLst>
                </a:gridCol>
                <a:gridCol w="2574860">
                  <a:extLst>
                    <a:ext uri="{9D8B030D-6E8A-4147-A177-3AD203B41FA5}">
                      <a16:colId xmlns:a16="http://schemas.microsoft.com/office/drawing/2014/main" val="3717657177"/>
                    </a:ext>
                  </a:extLst>
                </a:gridCol>
                <a:gridCol w="2574860">
                  <a:extLst>
                    <a:ext uri="{9D8B030D-6E8A-4147-A177-3AD203B41FA5}">
                      <a16:colId xmlns:a16="http://schemas.microsoft.com/office/drawing/2014/main" val="3698586412"/>
                    </a:ext>
                  </a:extLst>
                </a:gridCol>
                <a:gridCol w="2574860">
                  <a:extLst>
                    <a:ext uri="{9D8B030D-6E8A-4147-A177-3AD203B41FA5}">
                      <a16:colId xmlns:a16="http://schemas.microsoft.com/office/drawing/2014/main" val="379587930"/>
                    </a:ext>
                  </a:extLst>
                </a:gridCol>
              </a:tblGrid>
              <a:tr h="2316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Phase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Tasks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Duration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</a:rPr>
                        <a:t>Milestone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40048"/>
                  </a:ext>
                </a:extLst>
              </a:tr>
              <a:tr h="5747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1 – Data Collection</a:t>
                      </a:r>
                      <a:endParaRPr lang="en-US" sz="1100" dirty="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Gather downtime logs, machine details, shift schedules, operator info, and maintenance records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Week 1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Raw dataset collected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196313"/>
                  </a:ext>
                </a:extLst>
              </a:tr>
              <a:tr h="915231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2 – Data Cleaning &amp; Transformation</a:t>
                      </a:r>
                      <a:endParaRPr lang="en-US" sz="1100" dirty="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Handle missing timestamps, remove duplicates, standardize downtime reasons, format date/time, merge with dimension tables (machine, shift, operator)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Week 2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Cleaned and transformed dataset ready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54711"/>
                  </a:ext>
                </a:extLst>
              </a:tr>
              <a:tr h="1093927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3 – Data Modeling</a:t>
                      </a:r>
                      <a:endParaRPr lang="en-US" sz="1100" dirty="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Build relationships between Fact</a:t>
                      </a:r>
                      <a:r>
                        <a:rPr lang="ar-EG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Downtime, Dim</a:t>
                      </a:r>
                      <a:r>
                        <a:rPr lang="ar-EG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Machine, Dim</a:t>
                      </a:r>
                      <a:r>
                        <a:rPr lang="ar-EG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Shift, Dim</a:t>
                      </a:r>
                      <a:r>
                        <a:rPr lang="ar-EG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Operator, and Dim</a:t>
                      </a:r>
                      <a:r>
                        <a:rPr lang="ar-EG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Line tables; create calculated columns and DAX measures (e.g., Total Downtime, Avg Downtime, OEE)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Week 3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Data model and key metrics established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229907"/>
                  </a:ext>
                </a:extLst>
              </a:tr>
              <a:tr h="574776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effectLst/>
                        </a:rPr>
                        <a:t>4 – Dashboard Development</a:t>
                      </a:r>
                      <a:endParaRPr lang="en-US" sz="110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Design Power BI dashboards showing downtime by machine, line, shift, reason, and operator; integrate KPIs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Week 4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First version of Power BI dashboard ready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10339"/>
                  </a:ext>
                </a:extLst>
              </a:tr>
              <a:tr h="834351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effectLst/>
                        </a:rPr>
                        <a:t>5 – Review &amp; Refinement</a:t>
                      </a:r>
                      <a:endParaRPr lang="en-US" sz="110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Validate data accuracy, enhance visuals, optimize DAX measures, apply consistent color themes, and add interactivity (filters, drill-throughs)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Week 5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Final, polished dashboard completed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66193"/>
                  </a:ext>
                </a:extLst>
              </a:tr>
              <a:tr h="915231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6 – Presentation &amp; Documentation</a:t>
                      </a:r>
                      <a:endParaRPr lang="en-US" sz="1100" dirty="0">
                        <a:effectLst/>
                      </a:endParaRP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Create project documentation (methodology, insights, recommendations), prepare presentation slides, and present findings to stakeholders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effectLst/>
                        </a:rPr>
                        <a:t>Week 6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Project completed and presented</a:t>
                      </a:r>
                    </a:p>
                  </a:txBody>
                  <a:tcPr marL="53165" marR="53165" marT="24538" marB="24538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2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1351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3160-5FE3-4C5C-B12B-6A53F7A98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407" y="1557197"/>
            <a:ext cx="4484190" cy="378136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/>
              <a:t>Dataset Overview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C840-A7C8-41FB-8EEE-13E082B6D2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9ECBD-2199-28F9-08D5-36CD35C0E305}"/>
              </a:ext>
            </a:extLst>
          </p:cNvPr>
          <p:cNvSpPr txBox="1"/>
          <p:nvPr/>
        </p:nvSpPr>
        <p:spPr>
          <a:xfrm>
            <a:off x="506027" y="1746265"/>
            <a:ext cx="25123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 file contains </a:t>
            </a:r>
            <a:r>
              <a:rPr lang="en-US" b="1" dirty="0"/>
              <a:t>6 tables: </a:t>
            </a:r>
            <a:endParaRPr lang="en-US" dirty="0"/>
          </a:p>
          <a:p>
            <a:r>
              <a:rPr lang="en-US" b="1" dirty="0"/>
              <a:t>Sheets </a:t>
            </a:r>
            <a:endParaRPr lang="en-US" dirty="0"/>
          </a:p>
          <a:p>
            <a:pPr lvl="0"/>
            <a:r>
              <a:rPr lang="en-US" b="1" dirty="0" err="1"/>
              <a:t>Fact_Line_Downtime</a:t>
            </a:r>
            <a:endParaRPr lang="en-US" dirty="0"/>
          </a:p>
          <a:p>
            <a:pPr lvl="0"/>
            <a:r>
              <a:rPr lang="en-US" b="1" dirty="0" err="1"/>
              <a:t>Dim_Product</a:t>
            </a:r>
            <a:endParaRPr lang="en-US" dirty="0"/>
          </a:p>
          <a:p>
            <a:pPr lvl="0"/>
            <a:r>
              <a:rPr lang="en-US" b="1" dirty="0" err="1"/>
              <a:t>Dim_Line</a:t>
            </a:r>
            <a:endParaRPr lang="en-US" dirty="0"/>
          </a:p>
          <a:p>
            <a:pPr lvl="0"/>
            <a:r>
              <a:rPr lang="en-US" b="1" dirty="0" err="1"/>
              <a:t>Dim_Operator</a:t>
            </a:r>
            <a:endParaRPr lang="en-US" dirty="0"/>
          </a:p>
          <a:p>
            <a:pPr lvl="0"/>
            <a:r>
              <a:rPr lang="en-US" b="1" dirty="0" err="1"/>
              <a:t>Dim_Downtime_Factor</a:t>
            </a:r>
            <a:endParaRPr lang="en-US" dirty="0"/>
          </a:p>
          <a:p>
            <a:pPr lvl="0"/>
            <a:r>
              <a:rPr lang="en-US" b="1" dirty="0" err="1"/>
              <a:t>Dim_Date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32CCE-9F6A-3EF4-A628-9A3C9DBB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50" y="251470"/>
            <a:ext cx="5708343" cy="63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744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A4B9926-9C16-E7C9-308C-8FC8BBD3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ADF4508-8D5C-4F70-B542-41964692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741" y="961810"/>
            <a:ext cx="9347718" cy="429598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accent6">
                    <a:lumMod val="50000"/>
                  </a:schemeClr>
                </a:solidFill>
              </a:rPr>
              <a:t>Database Design</a:t>
            </a:r>
            <a:br>
              <a:rPr lang="en-US" sz="4400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5D53B4-069C-4258-8A26-B4DBA3748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1408"/>
            <a:ext cx="5181600" cy="4876227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+mn-lt"/>
              </a:rPr>
              <a:t>Fact Table: Fact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Line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Downtime</a:t>
            </a:r>
          </a:p>
          <a:p>
            <a:r>
              <a:rPr lang="en-US" sz="1400" b="1" dirty="0">
                <a:latin typeface="+mn-lt"/>
              </a:rPr>
              <a:t>(includes downtime duration, units lost, factor keys, etc.)</a:t>
            </a:r>
          </a:p>
          <a:p>
            <a:r>
              <a:rPr lang="en-US" sz="1400" b="1" dirty="0">
                <a:latin typeface="+mn-lt"/>
              </a:rPr>
              <a:t>Dimension Tables:</a:t>
            </a:r>
          </a:p>
          <a:p>
            <a:endParaRPr lang="en-US" sz="1400" b="1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Dim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Line — Line details</a:t>
            </a:r>
          </a:p>
          <a:p>
            <a:r>
              <a:rPr lang="en-US" sz="1400" b="1" dirty="0">
                <a:latin typeface="+mn-lt"/>
              </a:rPr>
              <a:t>Dim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Product — Product information</a:t>
            </a:r>
          </a:p>
          <a:p>
            <a:r>
              <a:rPr lang="en-US" sz="1400" b="1" dirty="0">
                <a:latin typeface="+mn-lt"/>
              </a:rPr>
              <a:t>Dim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Operator — Operator details</a:t>
            </a:r>
          </a:p>
          <a:p>
            <a:r>
              <a:rPr lang="en-US" sz="1400" b="1" dirty="0">
                <a:latin typeface="+mn-lt"/>
              </a:rPr>
              <a:t>Dim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Date — Date/time attributes</a:t>
            </a:r>
          </a:p>
          <a:p>
            <a:r>
              <a:rPr lang="en-US" sz="1400" b="1" dirty="0">
                <a:latin typeface="+mn-lt"/>
              </a:rPr>
              <a:t>Dim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Downtime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Factor — Cause or category of downtime</a:t>
            </a:r>
          </a:p>
          <a:p>
            <a:r>
              <a:rPr lang="en-US" sz="1400" b="1" dirty="0">
                <a:latin typeface="+mn-lt"/>
              </a:rPr>
              <a:t> Schema</a:t>
            </a:r>
          </a:p>
          <a:p>
            <a:r>
              <a:rPr lang="en-US" sz="1400" b="1" dirty="0">
                <a:latin typeface="+mn-lt"/>
              </a:rPr>
              <a:t>Relationships follow a Star Schema,</a:t>
            </a:r>
          </a:p>
          <a:p>
            <a:r>
              <a:rPr lang="en-US" sz="1400" b="1" dirty="0">
                <a:latin typeface="+mn-lt"/>
              </a:rPr>
              <a:t>where Fact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Line</a:t>
            </a:r>
            <a:r>
              <a:rPr lang="ar-EG" sz="1400" b="1" dirty="0">
                <a:latin typeface="+mn-lt"/>
              </a:rPr>
              <a:t> </a:t>
            </a:r>
            <a:r>
              <a:rPr lang="en-US" sz="1400" b="1" dirty="0">
                <a:latin typeface="+mn-lt"/>
              </a:rPr>
              <a:t>Downtime connects to all dimension tables through their keys.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D6C55-098D-41D8-B244-1459E8A09B1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1" name="Google Shape;191;p6">
            <a:extLst>
              <a:ext uri="{FF2B5EF4-FFF2-40B4-BE49-F238E27FC236}">
                <a16:creationId xmlns:a16="http://schemas.microsoft.com/office/drawing/2014/main" id="{7D59A889-0F4D-5680-0665-2D0547A8843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>
            <a:extLst>
              <a:ext uri="{FF2B5EF4-FFF2-40B4-BE49-F238E27FC236}">
                <a16:creationId xmlns:a16="http://schemas.microsoft.com/office/drawing/2014/main" id="{263981AA-2C04-6D9A-E5B3-2CCA236FE6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D9750-19CE-4EF8-8322-266EF405FE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3" r="3254"/>
          <a:stretch/>
        </p:blipFill>
        <p:spPr>
          <a:xfrm>
            <a:off x="6172200" y="1865179"/>
            <a:ext cx="5181600" cy="37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1194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91361-0E72-49AE-BC28-7823759A9D2C}"/>
              </a:ext>
            </a:extLst>
          </p:cNvPr>
          <p:cNvSpPr txBox="1"/>
          <p:nvPr/>
        </p:nvSpPr>
        <p:spPr>
          <a:xfrm>
            <a:off x="437444" y="1378392"/>
            <a:ext cx="5238427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Different units in size column are detected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rgbClr val="047954"/>
                </a:solidFill>
              </a:rPr>
              <a:t>Process:</a:t>
            </a:r>
          </a:p>
          <a:p>
            <a:r>
              <a:rPr lang="ar-EG" sz="1800" dirty="0">
                <a:solidFill>
                  <a:schemeClr val="tx1"/>
                </a:solidFill>
              </a:rPr>
              <a:t>-  </a:t>
            </a:r>
            <a:r>
              <a:rPr lang="en-US" sz="1800" dirty="0">
                <a:solidFill>
                  <a:schemeClr val="tx1"/>
                </a:solidFill>
              </a:rPr>
              <a:t>Data cleaning to unite all units using python , we used the code ,</a:t>
            </a:r>
            <a:r>
              <a:rPr lang="en-US" sz="1800" b="1" dirty="0">
                <a:solidFill>
                  <a:schemeClr val="tx1"/>
                </a:solidFill>
              </a:rPr>
              <a:t>"Def </a:t>
            </a:r>
            <a:r>
              <a:rPr lang="en-US" sz="1800" b="1" dirty="0" err="1">
                <a:solidFill>
                  <a:schemeClr val="tx1"/>
                </a:solidFill>
              </a:rPr>
              <a:t>ml_to_liter</a:t>
            </a:r>
            <a:r>
              <a:rPr lang="en-US" sz="1800" b="1" dirty="0">
                <a:solidFill>
                  <a:schemeClr val="tx1"/>
                </a:solidFill>
              </a:rPr>
              <a:t> (ml):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Print(ml/1000)" </a:t>
            </a:r>
            <a:r>
              <a:rPr lang="en-US" sz="1800" dirty="0">
                <a:solidFill>
                  <a:schemeClr val="tx1"/>
                </a:solidFill>
              </a:rPr>
              <a:t>To convert any ml and L</a:t>
            </a:r>
            <a:endParaRPr lang="ar-EG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 - remove nulls </a:t>
            </a:r>
          </a:p>
          <a:p>
            <a:r>
              <a:rPr lang="en-US" sz="1800" dirty="0">
                <a:solidFill>
                  <a:schemeClr val="tx1"/>
                </a:solidFill>
              </a:rPr>
              <a:t>Df</a:t>
            </a:r>
            <a:r>
              <a:rPr lang="ar-EG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= </a:t>
            </a:r>
            <a:r>
              <a:rPr lang="en-US" sz="1800" dirty="0" err="1">
                <a:solidFill>
                  <a:schemeClr val="tx1"/>
                </a:solidFill>
              </a:rPr>
              <a:t>df.dropna</a:t>
            </a:r>
            <a:r>
              <a:rPr lang="en-US" sz="1800" dirty="0">
                <a:solidFill>
                  <a:schemeClr val="tx1"/>
                </a:solidFill>
              </a:rPr>
              <a:t>()</a:t>
            </a:r>
            <a:r>
              <a:rPr lang="ar-EG" sz="1800" dirty="0">
                <a:solidFill>
                  <a:schemeClr val="tx1"/>
                </a:solidFill>
              </a:rPr>
              <a:t> 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2000" dirty="0"/>
          </a:p>
          <a:p>
            <a:r>
              <a:rPr lang="en-US" sz="2000" b="1" dirty="0">
                <a:solidFill>
                  <a:srgbClr val="047954"/>
                </a:solidFill>
              </a:rPr>
              <a:t>Output:</a:t>
            </a:r>
          </a:p>
          <a:p>
            <a:r>
              <a:rPr lang="en-US" sz="2000" dirty="0">
                <a:solidFill>
                  <a:schemeClr val="tx1"/>
                </a:solidFill>
              </a:rPr>
              <a:t>Structured , cleaned data with united units giving clear , accurate insights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F6B7B3-37BA-453E-A6AE-B16D930FC6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00" b="-800"/>
          <a:stretch/>
        </p:blipFill>
        <p:spPr>
          <a:xfrm>
            <a:off x="5958584" y="782423"/>
            <a:ext cx="4821662" cy="2123296"/>
          </a:xfrm>
          <a:prstGeom prst="rect">
            <a:avLst/>
          </a:prstGeom>
        </p:spPr>
      </p:pic>
      <p:pic>
        <p:nvPicPr>
          <p:cNvPr id="10" name="Picture 9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716058DB-FE2D-4501-98B2-B8B126294C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01" r="26613" b="794"/>
          <a:stretch/>
        </p:blipFill>
        <p:spPr>
          <a:xfrm>
            <a:off x="5954794" y="3724323"/>
            <a:ext cx="4825452" cy="2476645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E9601E-8B13-468C-8CE9-0CFFD0BDEB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609" r="48864" b="4449"/>
          <a:stretch/>
        </p:blipFill>
        <p:spPr>
          <a:xfrm>
            <a:off x="5954794" y="3029225"/>
            <a:ext cx="4821662" cy="588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C1A16F-0327-409D-A1CF-CE427CBCD5F5}"/>
              </a:ext>
            </a:extLst>
          </p:cNvPr>
          <p:cNvSpPr txBox="1"/>
          <p:nvPr/>
        </p:nvSpPr>
        <p:spPr>
          <a:xfrm>
            <a:off x="4836539" y="320758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6">
                    <a:lumMod val="50000"/>
                  </a:schemeClr>
                </a:solidFill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36209804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255D420-4477-295E-806B-81BA0F73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>
            <a:extLst>
              <a:ext uri="{FF2B5EF4-FFF2-40B4-BE49-F238E27FC236}">
                <a16:creationId xmlns:a16="http://schemas.microsoft.com/office/drawing/2014/main" id="{DAF33436-4AD1-B948-0E78-8C30CB79435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93" name="Google Shape;193;p6">
            <a:extLst>
              <a:ext uri="{FF2B5EF4-FFF2-40B4-BE49-F238E27FC236}">
                <a16:creationId xmlns:a16="http://schemas.microsoft.com/office/drawing/2014/main" id="{68C9F2F1-0F13-9404-FFC9-DD4B83F188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59F48-13BE-EE99-19E4-3C7078E43B98}"/>
              </a:ext>
            </a:extLst>
          </p:cNvPr>
          <p:cNvSpPr txBox="1"/>
          <p:nvPr/>
        </p:nvSpPr>
        <p:spPr>
          <a:xfrm>
            <a:off x="445990" y="1310026"/>
            <a:ext cx="4390549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Transform Columns 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rgbClr val="047954"/>
                </a:solidFill>
              </a:rPr>
              <a:t>Process: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/>
                </a:solidFill>
              </a:rPr>
              <a:t>Data cleaning transform the numerical columns into a meaningful categorical values </a:t>
            </a:r>
            <a:endParaRPr lang="ar-EG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Using excel and power query 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47954"/>
                </a:solidFill>
              </a:rPr>
              <a:t>Output: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columns into a meaningful categorical values 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 fit the star schema and to fit into the visualization 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A8527-D576-460C-E37D-02D95F65DFEB}"/>
              </a:ext>
            </a:extLst>
          </p:cNvPr>
          <p:cNvSpPr txBox="1"/>
          <p:nvPr/>
        </p:nvSpPr>
        <p:spPr>
          <a:xfrm>
            <a:off x="4836539" y="320758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6">
                    <a:lumMod val="50000"/>
                  </a:schemeClr>
                </a:solidFill>
              </a:rPr>
              <a:t>Data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F8B14-F5C9-CFFE-7E15-DE3AF9CB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16"/>
          <a:stretch>
            <a:fillRect/>
          </a:stretch>
        </p:blipFill>
        <p:spPr>
          <a:xfrm>
            <a:off x="7733944" y="1122018"/>
            <a:ext cx="2454488" cy="2429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6E785-5B16-A174-B4EF-DFAD5D359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393" y="3874179"/>
            <a:ext cx="3134162" cy="23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5DEB84-740E-1B8F-C3CC-CA48A960D33F}"/>
              </a:ext>
            </a:extLst>
          </p:cNvPr>
          <p:cNvSpPr txBox="1"/>
          <p:nvPr/>
        </p:nvSpPr>
        <p:spPr>
          <a:xfrm>
            <a:off x="6592789" y="1140749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Before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17EE8-96A7-5352-CF02-F67598F2F070}"/>
              </a:ext>
            </a:extLst>
          </p:cNvPr>
          <p:cNvSpPr txBox="1"/>
          <p:nvPr/>
        </p:nvSpPr>
        <p:spPr>
          <a:xfrm>
            <a:off x="6282447" y="3942545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After :</a:t>
            </a:r>
          </a:p>
        </p:txBody>
      </p:sp>
    </p:spTree>
    <p:extLst>
      <p:ext uri="{BB962C8B-B14F-4D97-AF65-F5344CB8AC3E}">
        <p14:creationId xmlns:p14="http://schemas.microsoft.com/office/powerpoint/2010/main" val="39961773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E5C8-33CF-2730-1EC9-41D6CDEE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37EFA-847E-BC8B-D809-848481496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9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C7DD-F369-73D3-B5B6-E1FC1B0234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Dashboard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9B9DD-5132-3BC0-6DBA-05552F794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2632A-1921-4380-B0DD-B62C74D156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075A0-0AD5-0754-7CD8-B5AC627F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99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ADE4CA-0C71-459F-B388-F0092A9E06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B6802-E1A9-F52A-9505-6094D985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" y="0"/>
            <a:ext cx="12058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49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CB7770-DB0E-4C50-9CFE-3D97AFBC5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94334-B215-D8F2-AA50-1DD17B0C2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28100"/>
            <a:ext cx="12107965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8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0F81-F69E-80DF-5ADA-C0DC234B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99960-7392-8C5F-C2CE-F24CD506CA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198CB-A5BD-517D-DB23-B608642E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28100"/>
            <a:ext cx="12184175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5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176E2-1245-00AA-A725-0530AFE3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370B5F-9BBA-E564-5582-3653D10AA4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91DD3-705A-93EF-C864-958EA04A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88"/>
            <a:ext cx="12192000" cy="669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48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76D07-69AC-9370-7668-6CB8D4F8A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72171-1436-C39D-D292-28796F0D6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7ACA2-8E96-DF28-E091-00097EA6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6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26055-7623-4D7B-9AEE-B51E06681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23CDB-4E0F-498F-9E3A-B6832345CC64}"/>
              </a:ext>
            </a:extLst>
          </p:cNvPr>
          <p:cNvSpPr txBox="1"/>
          <p:nvPr/>
        </p:nvSpPr>
        <p:spPr>
          <a:xfrm>
            <a:off x="1367161" y="1271092"/>
            <a:ext cx="8723211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47954"/>
                </a:solidFill>
              </a:rPr>
              <a:t>Deliverables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87789-89BD-4A35-B5EE-05FA9722FEBC}"/>
              </a:ext>
            </a:extLst>
          </p:cNvPr>
          <p:cNvSpPr txBox="1"/>
          <p:nvPr/>
        </p:nvSpPr>
        <p:spPr>
          <a:xfrm>
            <a:off x="1314220" y="1886645"/>
            <a:ext cx="88290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2328"/>
                </a:solidFill>
                <a:effectLst/>
                <a:latin typeface="Abadi" panose="020B0604020202020204" pitchFamily="34" charset="0"/>
              </a:rPr>
              <a:t>Clean and validated downtime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2328"/>
                </a:solidFill>
                <a:effectLst/>
                <a:latin typeface="Abadi" panose="020B0604020202020204" pitchFamily="34" charset="0"/>
              </a:rPr>
              <a:t>Star schema data model in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328"/>
                </a:solidFill>
                <a:latin typeface="Abadi" panose="020B0604020202020204" pitchFamily="34" charset="0"/>
              </a:rPr>
              <a:t>Problem statement presentation </a:t>
            </a:r>
            <a:endParaRPr lang="en-US" sz="1600" b="0" i="0" dirty="0">
              <a:solidFill>
                <a:srgbClr val="1F2328"/>
              </a:solidFill>
              <a:effectLst/>
              <a:latin typeface="Abadi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2328"/>
                </a:solidFill>
                <a:effectLst/>
                <a:latin typeface="Abadi" panose="020B0604020202020204" pitchFamily="34" charset="0"/>
              </a:rPr>
              <a:t>Interactive dashboard with KPIs and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2328"/>
                </a:solidFill>
                <a:effectLst/>
                <a:latin typeface="Abadi" panose="020B0604020202020204" pitchFamily="34" charset="0"/>
              </a:rPr>
              <a:t>Documentation and presentation slides for stakeholders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91E57-E405-4E6D-A5CA-3936A1254FE9}"/>
              </a:ext>
            </a:extLst>
          </p:cNvPr>
          <p:cNvSpPr txBox="1"/>
          <p:nvPr/>
        </p:nvSpPr>
        <p:spPr>
          <a:xfrm>
            <a:off x="1367161" y="2844225"/>
            <a:ext cx="73950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  <a:p>
            <a:endParaRPr lang="ar-EG" sz="1600" dirty="0"/>
          </a:p>
          <a:p>
            <a:r>
              <a:rPr lang="en-US" sz="1800" b="1" dirty="0"/>
              <a:t>Final Outcome</a:t>
            </a:r>
          </a:p>
          <a:p>
            <a:r>
              <a:rPr lang="en-US" sz="1600" dirty="0"/>
              <a:t>A comprehensive Power BI dashboard providing management with data-driven insights into downtime performance, root cause identification, and actionable strategies for operational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30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BD465C-E5CE-4C48-AA52-1C3BF953C0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3B28E-63E2-4103-9B51-A7EDEC6D5548}"/>
              </a:ext>
            </a:extLst>
          </p:cNvPr>
          <p:cNvSpPr txBox="1"/>
          <p:nvPr/>
        </p:nvSpPr>
        <p:spPr>
          <a:xfrm>
            <a:off x="3522065" y="3047157"/>
            <a:ext cx="47024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47954"/>
                </a:solidFill>
                <a:latin typeface="Arial Rounded MT Bold" panose="020F0704030504030204" pitchFamily="34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6585070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4743</TotalTime>
  <Words>855</Words>
  <Application>Microsoft Office PowerPoint</Application>
  <PresentationFormat>Widescreen</PresentationFormat>
  <Paragraphs>149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Caveat SemiBold</vt:lpstr>
      <vt:lpstr>Arial</vt:lpstr>
      <vt:lpstr>Constantia</vt:lpstr>
      <vt:lpstr>Abadi</vt:lpstr>
      <vt:lpstr>Arial Rounded MT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Overview </vt:lpstr>
      <vt:lpstr>Database Design </vt:lpstr>
      <vt:lpstr>PowerPoint Presentation</vt:lpstr>
      <vt:lpstr>PowerPoint Presentation</vt:lpstr>
      <vt:lpstr>Problem Statement</vt:lpstr>
      <vt:lpstr>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Malek hamed hafez hamed</cp:lastModifiedBy>
  <cp:revision>12</cp:revision>
  <dcterms:created xsi:type="dcterms:W3CDTF">2024-03-14T10:03:54Z</dcterms:created>
  <dcterms:modified xsi:type="dcterms:W3CDTF">2025-12-08T16:29:13Z</dcterms:modified>
</cp:coreProperties>
</file>